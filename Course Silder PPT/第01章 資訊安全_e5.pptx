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8"/>
  </p:notesMasterIdLst>
  <p:sldIdLst>
    <p:sldId id="273" r:id="rId2"/>
    <p:sldId id="256" r:id="rId3"/>
    <p:sldId id="259" r:id="rId4"/>
    <p:sldId id="274" r:id="rId5"/>
    <p:sldId id="260" r:id="rId6"/>
    <p:sldId id="275" r:id="rId7"/>
    <p:sldId id="261" r:id="rId8"/>
    <p:sldId id="276" r:id="rId9"/>
    <p:sldId id="262" r:id="rId10"/>
    <p:sldId id="278" r:id="rId11"/>
    <p:sldId id="263" r:id="rId12"/>
    <p:sldId id="264" r:id="rId13"/>
    <p:sldId id="279" r:id="rId14"/>
    <p:sldId id="265" r:id="rId15"/>
    <p:sldId id="280" r:id="rId16"/>
    <p:sldId id="266" r:id="rId17"/>
    <p:sldId id="267" r:id="rId18"/>
    <p:sldId id="268" r:id="rId19"/>
    <p:sldId id="281" r:id="rId20"/>
    <p:sldId id="269" r:id="rId21"/>
    <p:sldId id="270" r:id="rId22"/>
    <p:sldId id="282" r:id="rId23"/>
    <p:sldId id="271" r:id="rId24"/>
    <p:sldId id="272" r:id="rId25"/>
    <p:sldId id="283" r:id="rId26"/>
    <p:sldId id="284" r:id="rId2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7C961-475B-49A2-8881-7F5448ABC274}" type="datetimeFigureOut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ACD62-9C4E-4F3A-9F71-59DAE963AA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158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0" y="0"/>
            <a:ext cx="9107488" cy="6796088"/>
            <a:chOff x="0" y="0"/>
            <a:chExt cx="5737" cy="4281"/>
          </a:xfrm>
        </p:grpSpPr>
        <p:grpSp>
          <p:nvGrpSpPr>
            <p:cNvPr id="5" name="Group 36"/>
            <p:cNvGrpSpPr>
              <a:grpSpLocks/>
            </p:cNvGrpSpPr>
            <p:nvPr userDrawn="1"/>
          </p:nvGrpSpPr>
          <p:grpSpPr bwMode="auto">
            <a:xfrm>
              <a:off x="4694" y="164"/>
              <a:ext cx="1043" cy="318"/>
              <a:chOff x="4876" y="193"/>
              <a:chExt cx="839" cy="289"/>
            </a:xfrm>
          </p:grpSpPr>
          <p:pic>
            <p:nvPicPr>
              <p:cNvPr id="26" name="Picture 45"/>
              <p:cNvPicPr>
                <a:picLocks noChangeAspect="1" noChangeArrowheads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" y="193"/>
                <a:ext cx="83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" name="Group 49"/>
              <p:cNvGrpSpPr>
                <a:grpSpLocks/>
              </p:cNvGrpSpPr>
              <p:nvPr userDrawn="1"/>
            </p:nvGrpSpPr>
            <p:grpSpPr bwMode="auto">
              <a:xfrm rot="971029">
                <a:off x="5535" y="317"/>
                <a:ext cx="40" cy="60"/>
                <a:chOff x="1604" y="9751"/>
                <a:chExt cx="297" cy="509"/>
              </a:xfrm>
            </p:grpSpPr>
            <p:sp>
              <p:nvSpPr>
                <p:cNvPr id="28" name="Oval 50"/>
                <p:cNvSpPr>
                  <a:spLocks noChangeArrowheads="1"/>
                </p:cNvSpPr>
                <p:nvPr/>
              </p:nvSpPr>
              <p:spPr bwMode="auto">
                <a:xfrm>
                  <a:off x="1599" y="9745"/>
                  <a:ext cx="299" cy="324"/>
                </a:xfrm>
                <a:prstGeom prst="ellipse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29" name="Rectangle 51"/>
                <p:cNvSpPr>
                  <a:spLocks noChangeArrowheads="1"/>
                </p:cNvSpPr>
                <p:nvPr/>
              </p:nvSpPr>
              <p:spPr bwMode="auto">
                <a:xfrm>
                  <a:off x="1669" y="10042"/>
                  <a:ext cx="149" cy="216"/>
                </a:xfrm>
                <a:prstGeom prst="rect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</p:grpSp>
        </p:grpSp>
        <p:sp>
          <p:nvSpPr>
            <p:cNvPr id="6" name="Rectangle 3"/>
            <p:cNvSpPr>
              <a:spLocks noChangeArrowheads="1"/>
            </p:cNvSpPr>
            <p:nvPr userDrawn="1"/>
          </p:nvSpPr>
          <p:spPr bwMode="auto">
            <a:xfrm>
              <a:off x="1066" y="2432"/>
              <a:ext cx="4037" cy="862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7" name="Rectangle 2"/>
            <p:cNvSpPr>
              <a:spLocks noChangeArrowheads="1"/>
            </p:cNvSpPr>
            <p:nvPr userDrawn="1"/>
          </p:nvSpPr>
          <p:spPr bwMode="auto">
            <a:xfrm>
              <a:off x="476" y="1071"/>
              <a:ext cx="5080" cy="1180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8" name="Picture 40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970"/>
              <a:ext cx="26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4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4066"/>
              <a:ext cx="240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2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8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709"/>
              <a:ext cx="408" cy="3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8"/>
            <p:cNvGrpSpPr>
              <a:grpSpLocks/>
            </p:cNvGrpSpPr>
            <p:nvPr userDrawn="1"/>
          </p:nvGrpSpPr>
          <p:grpSpPr bwMode="auto">
            <a:xfrm rot="5400000">
              <a:off x="3085" y="-1730"/>
              <a:ext cx="300" cy="4286"/>
              <a:chOff x="4380" y="2475"/>
              <a:chExt cx="750" cy="6551"/>
            </a:xfrm>
          </p:grpSpPr>
          <p:cxnSp>
            <p:nvCxnSpPr>
              <p:cNvPr id="15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3" name="圖片 29" descr="Thu_logo.gif"/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" y="3711"/>
              <a:ext cx="570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866"/>
              <a:ext cx="226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916113"/>
            <a:ext cx="7772400" cy="1470025"/>
          </a:xfrm>
        </p:spPr>
        <p:txBody>
          <a:bodyPr/>
          <a:lstStyle>
            <a:lvl1pPr algn="ctr">
              <a:defRPr sz="36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4076700"/>
            <a:ext cx="6335712" cy="1198563"/>
          </a:xfrm>
        </p:spPr>
        <p:txBody>
          <a:bodyPr/>
          <a:lstStyle>
            <a:lvl1pPr marL="0" indent="0" algn="ctr">
              <a:buFont typeface="Arial" charset="0"/>
              <a:buNone/>
              <a:defRPr sz="2800"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30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659563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itchFamily="18" charset="0"/>
                <a:ea typeface="+mn-ea"/>
              </a:defRPr>
            </a:lvl1pPr>
          </a:lstStyle>
          <a:p>
            <a:fld id="{BD43E2B3-7415-4CCB-AE50-6AA75C5A6E9F}" type="datetime1">
              <a:rPr lang="zh-TW" altLang="en-US" smtClean="0"/>
              <a:pPr/>
              <a:t>2023/12/10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78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35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888235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1600200"/>
            <a:ext cx="4171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9638" y="1600200"/>
            <a:ext cx="417353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83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60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64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22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02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52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01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274638"/>
            <a:ext cx="2124075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95288" y="274638"/>
            <a:ext cx="6221412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624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5CE5682-4C26-438E-B40A-A638DB25D2B0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74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8"/>
          <p:cNvGrpSpPr>
            <a:grpSpLocks/>
          </p:cNvGrpSpPr>
          <p:nvPr/>
        </p:nvGrpSpPr>
        <p:grpSpPr bwMode="auto">
          <a:xfrm>
            <a:off x="0" y="241300"/>
            <a:ext cx="9028113" cy="6621463"/>
            <a:chOff x="0" y="152"/>
            <a:chExt cx="5687" cy="4171"/>
          </a:xfrm>
        </p:grpSpPr>
        <p:pic>
          <p:nvPicPr>
            <p:cNvPr id="1030" name="Picture 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82"/>
              <a:ext cx="70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1" name="Group 18"/>
            <p:cNvGrpSpPr>
              <a:grpSpLocks/>
            </p:cNvGrpSpPr>
            <p:nvPr userDrawn="1"/>
          </p:nvGrpSpPr>
          <p:grpSpPr bwMode="auto">
            <a:xfrm rot="5400000">
              <a:off x="2980" y="1897"/>
              <a:ext cx="300" cy="4399"/>
              <a:chOff x="4380" y="2475"/>
              <a:chExt cx="750" cy="6551"/>
            </a:xfrm>
          </p:grpSpPr>
          <p:cxnSp>
            <p:nvCxnSpPr>
              <p:cNvPr id="1037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8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9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1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2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3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4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5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6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7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032" name="Picture 34"/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4133"/>
              <a:ext cx="214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2"/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" y="3906"/>
              <a:ext cx="420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"/>
            <p:cNvSpPr>
              <a:spLocks noChangeArrowheads="1"/>
            </p:cNvSpPr>
            <p:nvPr userDrawn="1"/>
          </p:nvSpPr>
          <p:spPr bwMode="auto">
            <a:xfrm>
              <a:off x="204" y="152"/>
              <a:ext cx="5398" cy="735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 userDrawn="1"/>
          </p:nvSpPr>
          <p:spPr bwMode="auto">
            <a:xfrm>
              <a:off x="204" y="935"/>
              <a:ext cx="5398" cy="2903"/>
            </a:xfrm>
            <a:prstGeom prst="rect">
              <a:avLst/>
            </a:prstGeom>
            <a:gradFill rotWithShape="1">
              <a:gsLst>
                <a:gs pos="0">
                  <a:srgbClr val="E7FFFD"/>
                </a:gs>
                <a:gs pos="50000">
                  <a:srgbClr val="FFFFFF"/>
                </a:gs>
                <a:gs pos="100000">
                  <a:srgbClr val="E7FFFD"/>
                </a:gs>
              </a:gsLst>
              <a:lin ang="5400000" scaled="1"/>
            </a:gra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1036" name="Picture 26"/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" y="3942"/>
              <a:ext cx="292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4638"/>
            <a:ext cx="843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600200"/>
            <a:ext cx="849788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7813" y="6453188"/>
            <a:ext cx="477837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anose="02020502050305020303" pitchFamily="18" charset="0"/>
              </a:defRPr>
            </a:lvl1pPr>
          </a:lstStyle>
          <a:p>
            <a:fld id="{98BA1844-F96A-408A-9543-B6B7E50CDB8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615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i="0" u="none" strike="noStrike" kern="2600" baseline="0" dirty="0">
                <a:latin typeface="Arial"/>
                <a:ea typeface="標楷體"/>
              </a:rPr>
              <a:t>第</a:t>
            </a:r>
            <a:r>
              <a:rPr lang="en-US" altLang="zh-TW" b="1" i="0" u="none" strike="noStrike" kern="2600" baseline="0" dirty="0">
                <a:latin typeface="Arial"/>
                <a:ea typeface="標楷體"/>
              </a:rPr>
              <a:t>01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章 資訊安全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536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kern="2600" dirty="0">
                <a:latin typeface="Arial"/>
                <a:ea typeface="標楷體"/>
              </a:rPr>
              <a:t>第</a:t>
            </a:r>
            <a:r>
              <a:rPr lang="en-US" altLang="zh-TW" b="1" kern="2600" dirty="0">
                <a:latin typeface="Arial"/>
                <a:ea typeface="標楷體"/>
              </a:rPr>
              <a:t>01</a:t>
            </a:r>
            <a:r>
              <a:rPr lang="zh-TW" altLang="en-US" b="1" kern="2600" dirty="0">
                <a:latin typeface="Arial"/>
                <a:ea typeface="標楷體"/>
              </a:rPr>
              <a:t>章資訊安全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本章針對資訊安全之重要性與資訊安全防範對策做概念性介紹，後續章節將再逐一詳細說明內容。本章包含：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簡介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資訊安全威脅與風險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資訊安全基本需求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資訊系統的範疇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資訊安全的範疇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資訊安全防範對策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4293-89EB-415B-B7CD-0D38763A1B03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89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1.1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簡介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如何保護資訊安全，使免於遭受到毀損、竊取、竄改、偽造、非法使用等問題是當務之急。如圖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1-1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顯示資訊安全受到的各種威脅。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資訊安全防護是全面性的工作，需要綜合管理層面、技術層面與實體層面，才可達到資訊安全目標。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企業組織需要思考整體的解決方案，評估整體的安全目標，以深入瞭解企業組織資訊安全真正需要的是什麼？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實施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ISO/IEC 27001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的目的是遵照資訊安全管理標準，建立完整的資訊安全管理體系，以達到動態的、系統的、全員參與的、制度化的、以預防為主的資訊安全管理方式，並用最低的成本獲得較高的資訊安全，從根本上保證業務的持續營運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E62F-FD5C-49BC-B5BC-4C7B7FBA578D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93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63888" y="522920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1- 1 </a:t>
            </a:r>
            <a:r>
              <a:rPr lang="zh-TW" altLang="zh-TW" dirty="0"/>
              <a:t>資訊安全威脅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BFFCE-0F1C-4647-9FEF-A932D51D6942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514579"/>
            <a:ext cx="5742432" cy="45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1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1.2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資訊安全威脅與風險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288" y="1417638"/>
            <a:ext cx="8497887" cy="4708525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威脅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依照威脅來源，可分為環境因素威脅、外部人員威脅、內部授權人員威脅與內部非授權人員威脅。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根據資策會調查資訊安全的威脅來源統計，外部人員只佔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5%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，環境因素只佔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15%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，內部人員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包含人為疏失、不誠信員工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的比例則高達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80%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。其中，內部人員，包含內部授權人員、內部非授權人員，各佔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40%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。如圖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1-2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所顯示。</a:t>
            </a:r>
          </a:p>
          <a:p>
            <a:pPr lvl="0"/>
            <a:r>
              <a:rPr lang="zh-TW" altLang="en-US" b="1" kern="100" dirty="0">
                <a:latin typeface="Arial"/>
              </a:rPr>
              <a:t>根據</a:t>
            </a:r>
            <a:r>
              <a:rPr lang="en-US" altLang="zh-TW" b="1" kern="100" dirty="0">
                <a:latin typeface="Arial"/>
              </a:rPr>
              <a:t>IBM X-Force</a:t>
            </a:r>
            <a:r>
              <a:rPr lang="zh-TW" altLang="en-US" b="1" kern="100" dirty="0">
                <a:latin typeface="Arial"/>
              </a:rPr>
              <a:t>威脅情報報告，所有攻擊事件當中有</a:t>
            </a:r>
            <a:r>
              <a:rPr lang="en-US" altLang="zh-TW" b="1" kern="100" dirty="0">
                <a:latin typeface="Arial"/>
              </a:rPr>
              <a:t>60% </a:t>
            </a:r>
            <a:r>
              <a:rPr lang="zh-TW" altLang="en-US" b="1" kern="100" dirty="0">
                <a:latin typeface="Arial"/>
              </a:rPr>
              <a:t>其來源與組織內部人員有關</a:t>
            </a:r>
            <a:r>
              <a:rPr lang="en-US" altLang="zh-TW" b="1" kern="100" dirty="0">
                <a:latin typeface="Arial"/>
              </a:rPr>
              <a:t>(insider threats)</a:t>
            </a:r>
            <a:r>
              <a:rPr lang="zh-TW" altLang="en-US" b="1" kern="100" dirty="0">
                <a:latin typeface="Arial"/>
              </a:rPr>
              <a:t>，內部威脅仍是所有攻擊類型中首位。</a:t>
            </a:r>
            <a:endParaRPr lang="en-US" altLang="zh-TW" b="1" kern="100" dirty="0">
              <a:latin typeface="Arial"/>
            </a:endParaRPr>
          </a:p>
          <a:p>
            <a:pPr lvl="0"/>
            <a:r>
              <a:rPr lang="zh-TW" altLang="en-US" b="1" kern="100" dirty="0">
                <a:latin typeface="Arial"/>
              </a:rPr>
              <a:t>由於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潛在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威脅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以及系統存在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弱點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，導致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風險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提高。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lvl="1"/>
            <a:r>
              <a:rPr lang="zh-TW" altLang="en-US" b="1" i="0" u="none" strike="noStrike" kern="100" baseline="0" dirty="0">
                <a:latin typeface="Arial"/>
                <a:ea typeface="標楷體"/>
              </a:rPr>
              <a:t>例如，有些作業系統存在許多的弱點，而某些病毒針對這些弱點以感染系統，因此使用這些作業系統，會使感染病毒的風險相對提高。風險提高對於有形與無形資產將造成損害。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31D01-8600-404F-ABC5-DE87368CD729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43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75856" y="4869160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1-2</a:t>
            </a:r>
            <a:r>
              <a:rPr lang="zh-TW" altLang="zh-TW" dirty="0"/>
              <a:t>資訊安全威脅來源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487B-BC60-43EB-A0C2-28B42883DFC5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10242" name="Picture 2" descr="Fig 1-2 資訊安全威脅來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956" y="1030260"/>
            <a:ext cx="5558355" cy="369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3613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1.3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資訊安全基本需求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如圖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1-3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，三項要素稱為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資訊安全三原則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，簡稱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CIA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三要素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CIA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triad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機密性表示要保護資訊，以免資訊和資源暴露於無權限的人員或程式，而危害到資訊安全。機密性為了維持資訊在傳輸、儲存、與處理狀態時，不被非授權人員存取、使用、或竄改。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完整性表示只有具備權限的人才可以修改資料內容，以確保資料能維持它原來的面貌。資料經過不同的時空變化，其內容應該要能維持一致，例如，資料透過網路傳輸，傳輸前、傳輸中與接收到的資料需要保持一致而且是可以確認的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可用性則是要確保資訊系統能夠持續正常的提供服務。當合法使用者要求使用資訊系統時，例如，電子郵件、應用系統等，均可以在適當的時間內獲得回應，並完成所需求的服務。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0579-FA3D-45CD-A35D-EF499A160FB1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19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19872" y="4653136"/>
            <a:ext cx="2929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1-3 </a:t>
            </a:r>
            <a:r>
              <a:rPr lang="zh-TW" altLang="en-US" dirty="0"/>
              <a:t>資訊安全 </a:t>
            </a:r>
            <a:r>
              <a:rPr lang="en-US" altLang="zh-TW" dirty="0"/>
              <a:t>CIA</a:t>
            </a:r>
            <a:r>
              <a:rPr lang="zh-TW" altLang="en-US" dirty="0"/>
              <a:t> </a:t>
            </a:r>
            <a:r>
              <a:rPr lang="zh-TW" altLang="zh-TW" dirty="0"/>
              <a:t>三要素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CAF3-6556-4DED-8DA0-04DFB19906F4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546" y="1340769"/>
            <a:ext cx="4765734" cy="318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17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1.4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資訊系統的範疇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資訊系統架構從接觸到電腦系統的周邊外圍由外而內，可分為六個層次，如圖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1-4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，這六層分別是：外圍層、外部層、中心層、內部層、分析層、與法律層。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外圍層牽涉到有關電腦系統周邊外圍之環境因素，例如：機房、鄰近環境等。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外部層是使用者與系統間的介面層次，所牽涉到的是個別使用者所能操作到的系統。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中心層則是內部層與外部層溝通的橋樑。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內部層牽涉到資料實際儲存及管理方式等。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分析層牽涉到系統之管理與安全威脅之分析。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法律層牽涉到有關資訊安全相關的法律規範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如表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1-1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3865D-CEBE-49BD-A8A9-95925524796F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993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783519"/>
              </p:ext>
            </p:extLst>
          </p:nvPr>
        </p:nvGraphicFramePr>
        <p:xfrm>
          <a:off x="1669563" y="2348880"/>
          <a:ext cx="20701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" r:id="rId3" imgW="2068830" imgH="1687830" progId="">
                  <p:embed/>
                </p:oleObj>
              </mc:Choice>
              <mc:Fallback>
                <p:oleObj r:id="rId3" imgW="2068830" imgH="168783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9563" y="2348880"/>
                        <a:ext cx="2070100" cy="168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691680" y="4437112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1-4  </a:t>
            </a:r>
            <a:r>
              <a:rPr lang="zh-TW" altLang="zh-TW" dirty="0"/>
              <a:t>資訊安全層次</a:t>
            </a:r>
          </a:p>
        </p:txBody>
      </p:sp>
      <p:sp>
        <p:nvSpPr>
          <p:cNvPr id="7" name="矩形 6"/>
          <p:cNvSpPr/>
          <p:nvPr/>
        </p:nvSpPr>
        <p:spPr>
          <a:xfrm>
            <a:off x="4283968" y="4437112"/>
            <a:ext cx="3259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</a:t>
            </a:r>
            <a:r>
              <a:rPr lang="en-US" altLang="zh-TW" dirty="0"/>
              <a:t>1-1</a:t>
            </a:r>
            <a:r>
              <a:rPr lang="zh-TW" altLang="zh-TW" dirty="0"/>
              <a:t>、資訊系統架構涵蓋範疇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872386"/>
              </p:ext>
            </p:extLst>
          </p:nvPr>
        </p:nvGraphicFramePr>
        <p:xfrm>
          <a:off x="4020371" y="2276872"/>
          <a:ext cx="3786420" cy="201622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91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 dirty="0">
                          <a:effectLst/>
                          <a:latin typeface="Times New Roman"/>
                          <a:ea typeface="標楷體"/>
                        </a:rPr>
                        <a:t>層 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涵 蓋 範 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外圍層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電腦系統周邊外圍之環境因素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外部層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使用者與系統間的介面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中心層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內部層與外部層溝通的橋樑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內部層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資料實際儲存及管理方式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分析層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>
                          <a:effectLst/>
                          <a:latin typeface="Times New Roman"/>
                          <a:ea typeface="標楷體"/>
                        </a:rPr>
                        <a:t>系統之管理與安全威脅之分析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100" dirty="0">
                          <a:effectLst/>
                          <a:latin typeface="Times New Roman"/>
                          <a:ea typeface="標楷體"/>
                        </a:rPr>
                        <a:t>法律層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200" kern="100" dirty="0">
                          <a:effectLst/>
                          <a:latin typeface="Times New Roman"/>
                          <a:ea typeface="標楷體"/>
                        </a:rPr>
                        <a:t>資訊安全相關的法律規範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83BA-50B2-4A43-AB71-D1BB4A5FFB7E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0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資訊安全的範疇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本節介紹資訊安全所包含的範疇，包含以下八大領域，八大領域涵蓋資訊安全的整體範疇：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安全暨風險管理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security and risk management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資產安全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asset security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安全工程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security engineering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通訊及網路安全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communication and network security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身分識別暨存取管理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identity and access management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安全性評估與測試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security assessment and testing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作業安全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operations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security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1" rtl="0"/>
            <a:r>
              <a:rPr lang="zh-TW" altLang="en-US" b="1" i="0" u="none" strike="noStrike" kern="100" baseline="0">
                <a:latin typeface="Arial"/>
                <a:ea typeface="標楷體"/>
              </a:rPr>
              <a:t>軟體開發安全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software development security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F3B5-8BD2-40F1-9860-8A219ED21A36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805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1.5.1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安全暨風險管理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風險管理是資訊安全管理重要部分，需要依風險等級，分配有限之資源加以控管，透過控制措施，降低資訊風險以達到可接受的程度。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企業需要制訂持續營運管理的目標，即是要防治企業組織營運活動的中斷，透過實施持續營運計畫，並結合各項預防及復原的控制措施與程序，將災害或缺失所造成的營運中斷機會，降低至可被接受的程度。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資訊法律是為規範個人與組織使用資訊之責任所訂定的法令規章。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對於資訊之使用，也應該遵守相關之倫理規範。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對人員實施資訊安全的教育訓練也是資訊安全管理範疇，例如，網路上經常出現釣魚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Phishing 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網站或釣魚郵件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1-5)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05A-C5E9-4FC2-A4E0-E62A18C32F32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9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07904" y="5085184"/>
            <a:ext cx="21579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1-5 </a:t>
            </a:r>
            <a:r>
              <a:rPr lang="zh-TW" altLang="zh-TW" dirty="0"/>
              <a:t>釣魚郵件範例</a:t>
            </a:r>
          </a:p>
        </p:txBody>
      </p:sp>
      <p:pic>
        <p:nvPicPr>
          <p:cNvPr id="512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722" y="1268760"/>
            <a:ext cx="4124325" cy="320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1B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407E5-49A1-4675-8EB3-76B0079A6270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522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dirty="0">
                <a:latin typeface="Arial"/>
                <a:ea typeface="標楷體"/>
              </a:rPr>
              <a:t>1.5.2</a:t>
            </a:r>
            <a:r>
              <a:rPr lang="zh-TW" altLang="en-US" b="1" i="0" u="none" strike="noStrike" kern="2600" baseline="0" dirty="0">
                <a:latin typeface="Arial"/>
                <a:ea typeface="標楷體"/>
              </a:rPr>
              <a:t>資產安全</a:t>
            </a:r>
            <a:endParaRPr lang="zh-TW" altLang="en-US" b="1" i="0" u="none" strike="noStrike" kern="2600" baseline="0" dirty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有效的資產管理可以降低營運成本，提高工作效率，減少企業風險。風險，意指人員或資產的經濟價值存在不確定性之減損或滅失。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資產是有價值的物件，可以是有形的實體資產，也可以是無形的虛擬資產。例如，建築物、電腦主機、周邊設備等皆是實體資產。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軟體系統、商標或商譽等是屬於虛擬資產。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D45A-B0CD-4A0B-BCC2-21603D46A087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731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3688" y="5013176"/>
            <a:ext cx="2105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1-6</a:t>
            </a:r>
            <a:r>
              <a:rPr lang="zh-TW" altLang="zh-TW" dirty="0"/>
              <a:t>筆記型電腦鎖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0848"/>
            <a:ext cx="3043238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499992" y="5013176"/>
            <a:ext cx="3081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1-7 </a:t>
            </a:r>
            <a:r>
              <a:rPr lang="zh-TW" altLang="zh-TW" dirty="0"/>
              <a:t>機房防火暨防盜安全門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283892"/>
            <a:ext cx="32639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48C8-8C35-4225-8769-3A3667859A5B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426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1.5.3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安全工程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實體安全涵蓋的範疇很廣，從外部環境到內部資訊設備皆是實體安全所包含的範疇，例如：實體安全管理層面、環境設計、支援系統、實體安全技術、冷熱與通風系統、火災防護與消防系統、監視系統等等。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在選定機房等重要地點時，環境區域需要考量的因素很多，例如：自然災害（颱風、地震），電力供應，交通因素、犯罪率、鄰居、緊急事故處理單位、圍牆、大門、檢查哨等等。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密碼學的技術已經廣泛地應用於資訊安全領域，例如：通訊安全、資料加密、數位簽章、時戳應用、訊息驗證、身分認證、電子憑證等應用，這些都是電子商務安全中的重要技術。</a:t>
            </a:r>
          </a:p>
          <a:p>
            <a:pPr marR="0" lvl="0" rtl="0"/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B5FC-ADDF-4325-BA6F-D23C12E5ADDF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868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1.5.4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通訊及網路安全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網路安全面臨的威脅，主要有三種來源：外部入侵者的威脅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如電腦駭客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、內部人員的威脅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如員工的惡意破壞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、與惡意軟體的傳播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如病毒程式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網路安全的威脅包含了網路傳輸與各種協定的各個層面，網路系統包含複雜的軟硬體設施以及協定，難免存在許多的弱點。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攻擊者利用系統的弱點做為入侵點，對系統進行破壞，降低系統防衛能力。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駭客利用各種攻擊技術找到系統弱點，穿透防火牆，並對某一伺服器植入後門程式，被植入後門程式的伺服器被利用做為跳板再向其它伺服器進行攻擊，從事獲取重要資訊或癱瘓系統等危害資訊安全的行為。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DE42-B769-45B3-A57C-605965AFA6F7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286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1.5.5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身分識別暨存取管理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存取控制包含管理面、技術面和實體面，存取控制是保護資訊資產，所設定的各項安全措施。</a:t>
            </a:r>
            <a:endParaRPr lang="en-US" altLang="zh-TW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存取控制允許管理者對各項資源設定權限，以控管使用者存取資源。例如，識別證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圖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1-8)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、系統登入畫面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1-9)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，等等皆是。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F4CA-E508-42A0-9C5B-48B4EBA58ABF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691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23728" y="49411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1-8 </a:t>
            </a:r>
            <a:r>
              <a:rPr lang="zh-TW" altLang="zh-TW" dirty="0"/>
              <a:t>識別證範例</a:t>
            </a:r>
          </a:p>
        </p:txBody>
      </p:sp>
      <p:pic>
        <p:nvPicPr>
          <p:cNvPr id="717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636912"/>
            <a:ext cx="2536825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1B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1" y="1628799"/>
            <a:ext cx="3184525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755990" y="4941168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1- 9 </a:t>
            </a:r>
            <a:r>
              <a:rPr lang="zh-TW" altLang="zh-TW" dirty="0"/>
              <a:t>系統登入畫面範例</a:t>
            </a: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9036-2AE3-4A4F-9387-87107075BAE7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84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1.5.6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安全性評估與測試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軟體測試（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software testing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）是軟體開發過程中的一個重要的階段活動，但並非只有在實作後才做測試。不論軟體系統的大小，在整個發展過程中或是結案前，都存在著各種的軟體測試。</a:t>
            </a:r>
          </a:p>
          <a:p>
            <a:pPr lv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源碼檢測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source code analysis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是</a:t>
            </a:r>
            <a:r>
              <a:rPr lang="zh-TW" altLang="en-US" b="1" kern="100" dirty="0">
                <a:latin typeface="Arial"/>
              </a:rPr>
              <a:t>為了避免網頁應用程式存在漏洞所造成的威脅，驗證網頁應用程式安全最有效的方法。</a:t>
            </a:r>
            <a:endParaRPr lang="zh-TW" altLang="en-US" b="1" i="0" u="none" strike="noStrike" kern="100" baseline="0" dirty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滲透測試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penetration test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是在測試的過程中，滲透測試團隊的成員，以攻擊者的思維角度，在具備高道德標準與完善的作業準備下，進行資訊安全的檢測作業。以掃描工具、攻擊程式及相關安全技術等之輔助，對目標系統進行安全探測，找出資訊安全防護機制存在的弱點或安全問題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24466-4B69-4404-A0A8-D58EB9731565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021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1.5.7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作業安全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唯有切實遵照資訊安全管理作業程序，並勤奮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due diligent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執行任務，發現風險，並切實勞心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due care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使用各種對策，以降低風險至可接受的程度。</a:t>
            </a: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資訊安全是全面性與持續性的工作，需要掌握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PDCA (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plan-do-check-act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的原則，如圖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1-10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，持續地經由計畫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plan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、執行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do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、檢查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check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、行動 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( act )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，以循環改善資訊安全管理各項缺失。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7A43-B2D3-4DBF-9771-FFFFFDB7532A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3057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843808" y="4921658"/>
            <a:ext cx="3544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1-10 </a:t>
            </a:r>
            <a:r>
              <a:rPr lang="zh-TW" altLang="zh-TW" dirty="0"/>
              <a:t>資訊安全</a:t>
            </a:r>
            <a:r>
              <a:rPr lang="zh-TW" altLang="en-US" dirty="0"/>
              <a:t>管理</a:t>
            </a:r>
            <a:r>
              <a:rPr lang="en-US" altLang="zh-TW" dirty="0"/>
              <a:t> PDCA </a:t>
            </a:r>
            <a:r>
              <a:rPr lang="zh-TW" altLang="zh-TW" dirty="0"/>
              <a:t>原則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B6C0-DD17-44AF-AC4D-8A8A55A1D769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22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165" y="692696"/>
            <a:ext cx="5017909" cy="39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63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1.5.8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軟體開發安全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軟體開發期間，為確保軟體的開發符合功能規格與客戶需求，要經過多次的驗證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verification )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與確認 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( validation ) ( 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通稱為</a:t>
            </a:r>
            <a:r>
              <a:rPr lang="en-US" altLang="zh-TW" b="1" i="0" u="none" strike="noStrike" kern="100" baseline="0" dirty="0">
                <a:latin typeface="Arial"/>
                <a:ea typeface="標楷體"/>
              </a:rPr>
              <a:t>V&amp;V )</a:t>
            </a:r>
            <a:r>
              <a:rPr lang="zh-TW" altLang="en-US" b="1" i="0" u="none" strike="noStrike" kern="100" baseline="0" dirty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驗證的目的是要檢驗所開發的程式或系統是否符合功能規格；確認的目的是要確定所開發的程式或系統是否符合客戶需求。</a:t>
            </a:r>
          </a:p>
          <a:p>
            <a:pPr marR="0" lvl="0" rtl="0"/>
            <a:r>
              <a:rPr lang="zh-TW" altLang="en-US" b="1" i="0" u="none" strike="noStrike" kern="100" baseline="0" dirty="0">
                <a:latin typeface="Arial"/>
                <a:ea typeface="標楷體"/>
              </a:rPr>
              <a:t>在應用程式開發的生命週期，各個階段都必須進行驗證與確認，以發現程式或系統的缺失，並且藉以評估作業環境是否適用。</a:t>
            </a:r>
            <a:endParaRPr lang="zh-TW" altLang="en-US" b="1" i="0" u="none" strike="noStrike" kern="100" baseline="0" dirty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F6BD-BA6C-48F1-9F04-023B9D348485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3812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>
                <a:latin typeface="Arial"/>
                <a:ea typeface="標楷體"/>
              </a:rPr>
              <a:t>1.6 </a:t>
            </a:r>
            <a:r>
              <a:rPr lang="zh-TW" altLang="en-US" b="1" i="0" u="none" strike="noStrike" kern="2600" baseline="0">
                <a:latin typeface="Arial"/>
                <a:ea typeface="標楷體"/>
              </a:rPr>
              <a:t>資訊安全防範對策</a:t>
            </a:r>
            <a:endParaRPr lang="zh-TW" altLang="en-US" b="1" i="0" u="none" strike="noStrike" kern="2600" baseline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資訊系統的範疇如前所述分為六個層次，分別是：外圍層、外部層、中心層、內部層、分析層、與法律層。資訊安全防範的對策涵蓋管理層面、技術層面、及實體層面，必須兼顧各個層面整體實施，如圖</a:t>
            </a:r>
            <a:r>
              <a:rPr lang="en-US" altLang="zh-TW" b="1" i="0" u="none" strike="noStrike" kern="100" baseline="0">
                <a:latin typeface="Arial"/>
                <a:ea typeface="標楷體"/>
              </a:rPr>
              <a:t>1-11</a:t>
            </a:r>
            <a:r>
              <a:rPr lang="zh-TW" altLang="en-US" b="1" i="0" u="none" strike="noStrike" kern="100" baseline="0">
                <a:latin typeface="Arial"/>
                <a:ea typeface="標楷體"/>
              </a:rPr>
              <a:t> 所示。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管理層面：訂立安全管理政策、規範與程序，以及其他如人員進用管理、或機房管制程序等，以確保資訊安全。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技術層面：採用各種資訊安全技術以保護系統安全，如存取控制、強健密碼、防火牆、滲透測試、防毒軟體等。</a:t>
            </a:r>
          </a:p>
          <a:p>
            <a:pPr marR="0" lvl="0" rtl="0"/>
            <a:endParaRPr lang="zh-TW" altLang="en-US" b="1" i="0" u="none" strike="noStrike" kern="100" baseline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>
                <a:latin typeface="Arial"/>
                <a:ea typeface="標楷體"/>
              </a:rPr>
              <a:t>實體層面：涵蓋對環境與實體設備的整體控制，如火災、地震、風災、水災及盜竊等人為破壞等的控制機制。</a:t>
            </a:r>
            <a:endParaRPr lang="zh-TW" altLang="en-US" b="1" i="0" u="none" strike="noStrike" kern="100" baseline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5FC9F-B99E-458F-9D08-CF368598CCCA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1624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ig 1-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060848"/>
            <a:ext cx="6449259" cy="2138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563888" y="4581128"/>
            <a:ext cx="2736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</a:t>
            </a:r>
            <a:r>
              <a:rPr lang="en-US" altLang="zh-TW" dirty="0"/>
              <a:t>1-11 </a:t>
            </a:r>
            <a:r>
              <a:rPr lang="zh-TW" altLang="zh-TW" dirty="0"/>
              <a:t>資訊安全防範對策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A2237-E762-439F-8B8E-937996DC3880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8439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資訊安全防護目標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400" dirty="0"/>
              <a:t>防毒：隨時更新系統或安裝補丁，定期更新病毒碼，以阻擋病毒之入侵。</a:t>
            </a:r>
            <a:endParaRPr lang="en-US" altLang="zh-TW" sz="2400" dirty="0"/>
          </a:p>
          <a:p>
            <a:endParaRPr lang="zh-TW" altLang="en-US" sz="2400" dirty="0"/>
          </a:p>
          <a:p>
            <a:r>
              <a:rPr lang="zh-TW" altLang="en-US" sz="2400" dirty="0"/>
              <a:t>防駭：使用完整的認證機制或防護措施以降低駭客入侵的機會。</a:t>
            </a:r>
            <a:endParaRPr lang="en-US" altLang="zh-TW" sz="2400" dirty="0"/>
          </a:p>
          <a:p>
            <a:endParaRPr lang="zh-TW" altLang="en-US" sz="2400" dirty="0"/>
          </a:p>
          <a:p>
            <a:r>
              <a:rPr lang="zh-TW" altLang="en-US" sz="2400" dirty="0"/>
              <a:t>防災：充分準備系統備援或資料備份，當遇到災害時，可以快速回復系統與資料。</a:t>
            </a:r>
            <a:endParaRPr lang="en-US" altLang="zh-TW" sz="2400" dirty="0"/>
          </a:p>
          <a:p>
            <a:endParaRPr lang="zh-TW" altLang="en-US" sz="2400" dirty="0"/>
          </a:p>
          <a:p>
            <a:r>
              <a:rPr lang="zh-TW" altLang="en-US" sz="2400" dirty="0"/>
              <a:t>防竊：需要加強實體設備安全或資料加密，以防止遭竊。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5682-4C26-438E-B40A-A638DB25D2B0}" type="datetime1">
              <a:rPr lang="zh-TW" altLang="en-US" smtClean="0"/>
              <a:pPr/>
              <a:t>2023/12/10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1844-F96A-408A-9543-B6B7E50CDB80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691892"/>
      </p:ext>
    </p:extLst>
  </p:cSld>
  <p:clrMapOvr>
    <a:masterClrMapping/>
  </p:clrMapOvr>
</p:sld>
</file>

<file path=ppt/theme/theme1.xml><?xml version="1.0" encoding="utf-8"?>
<a:theme xmlns:a="http://schemas.openxmlformats.org/drawingml/2006/main" name="LAB母片(no浮水印)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LAB母片(no浮水印)</Template>
  <TotalTime>52</TotalTime>
  <Words>2243</Words>
  <Application>Microsoft Office PowerPoint</Application>
  <PresentationFormat>如螢幕大小 (4:3)</PresentationFormat>
  <Paragraphs>175</Paragraphs>
  <Slides>26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0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Arial</vt:lpstr>
      <vt:lpstr>Calibri</vt:lpstr>
      <vt:lpstr>Goudy Old Style</vt:lpstr>
      <vt:lpstr>Times New Roman</vt:lpstr>
      <vt:lpstr>LAB母片(no浮水印)</vt:lpstr>
      <vt:lpstr>第01章 資訊安全</vt:lpstr>
      <vt:lpstr>第01章資訊安全</vt:lpstr>
      <vt:lpstr>1.1 簡介</vt:lpstr>
      <vt:lpstr>PowerPoint 簡報</vt:lpstr>
      <vt:lpstr>1.2 資訊安全威脅與風險</vt:lpstr>
      <vt:lpstr>PowerPoint 簡報</vt:lpstr>
      <vt:lpstr>1.3 資訊安全基本需求</vt:lpstr>
      <vt:lpstr>PowerPoint 簡報</vt:lpstr>
      <vt:lpstr>1.4 資訊系統的範疇</vt:lpstr>
      <vt:lpstr>PowerPoint 簡報</vt:lpstr>
      <vt:lpstr>1.5 資訊安全的範疇</vt:lpstr>
      <vt:lpstr>1.5.1安全暨風險管理</vt:lpstr>
      <vt:lpstr>PowerPoint 簡報</vt:lpstr>
      <vt:lpstr>1.5.2資產安全</vt:lpstr>
      <vt:lpstr>PowerPoint 簡報</vt:lpstr>
      <vt:lpstr>1.5.3安全工程</vt:lpstr>
      <vt:lpstr>1.5.4 通訊及網路安全</vt:lpstr>
      <vt:lpstr>1.5.5 身分識別暨存取管理</vt:lpstr>
      <vt:lpstr>PowerPoint 簡報</vt:lpstr>
      <vt:lpstr>1.5.6 安全性評估與測試</vt:lpstr>
      <vt:lpstr>1.5.7 作業安全</vt:lpstr>
      <vt:lpstr>PowerPoint 簡報</vt:lpstr>
      <vt:lpstr>1.5.8 軟體開發安全</vt:lpstr>
      <vt:lpstr>1.6 資訊安全防範對策</vt:lpstr>
      <vt:lpstr>PowerPoint 簡報</vt:lpstr>
      <vt:lpstr>資訊安全防護目標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資訊安全</dc:title>
  <dc:creator>東光一號</dc:creator>
  <cp:lastModifiedBy>User</cp:lastModifiedBy>
  <cp:revision>59</cp:revision>
  <dcterms:created xsi:type="dcterms:W3CDTF">2016-02-13T13:50:41Z</dcterms:created>
  <dcterms:modified xsi:type="dcterms:W3CDTF">2023-12-10T10:32:17Z</dcterms:modified>
</cp:coreProperties>
</file>