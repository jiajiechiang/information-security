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57"/>
  </p:notesMasterIdLst>
  <p:sldIdLst>
    <p:sldId id="276" r:id="rId2"/>
    <p:sldId id="256" r:id="rId3"/>
    <p:sldId id="258" r:id="rId4"/>
    <p:sldId id="279" r:id="rId5"/>
    <p:sldId id="278" r:id="rId6"/>
    <p:sldId id="280" r:id="rId7"/>
    <p:sldId id="277" r:id="rId8"/>
    <p:sldId id="259" r:id="rId9"/>
    <p:sldId id="282" r:id="rId10"/>
    <p:sldId id="281" r:id="rId11"/>
    <p:sldId id="283" r:id="rId12"/>
    <p:sldId id="260" r:id="rId13"/>
    <p:sldId id="284" r:id="rId14"/>
    <p:sldId id="261" r:id="rId15"/>
    <p:sldId id="262" r:id="rId16"/>
    <p:sldId id="285" r:id="rId17"/>
    <p:sldId id="263" r:id="rId18"/>
    <p:sldId id="286" r:id="rId19"/>
    <p:sldId id="265" r:id="rId20"/>
    <p:sldId id="288" r:id="rId21"/>
    <p:sldId id="287" r:id="rId22"/>
    <p:sldId id="289" r:id="rId23"/>
    <p:sldId id="266" r:id="rId24"/>
    <p:sldId id="291" r:id="rId25"/>
    <p:sldId id="290" r:id="rId26"/>
    <p:sldId id="292" r:id="rId27"/>
    <p:sldId id="267" r:id="rId28"/>
    <p:sldId id="294" r:id="rId29"/>
    <p:sldId id="293" r:id="rId30"/>
    <p:sldId id="295" r:id="rId31"/>
    <p:sldId id="296" r:id="rId32"/>
    <p:sldId id="268" r:id="rId33"/>
    <p:sldId id="297" r:id="rId34"/>
    <p:sldId id="298" r:id="rId35"/>
    <p:sldId id="299" r:id="rId36"/>
    <p:sldId id="269" r:id="rId37"/>
    <p:sldId id="301" r:id="rId38"/>
    <p:sldId id="300" r:id="rId39"/>
    <p:sldId id="270" r:id="rId40"/>
    <p:sldId id="302" r:id="rId41"/>
    <p:sldId id="271" r:id="rId42"/>
    <p:sldId id="304" r:id="rId43"/>
    <p:sldId id="303" r:id="rId44"/>
    <p:sldId id="305" r:id="rId45"/>
    <p:sldId id="272" r:id="rId46"/>
    <p:sldId id="306" r:id="rId47"/>
    <p:sldId id="273" r:id="rId48"/>
    <p:sldId id="308" r:id="rId49"/>
    <p:sldId id="274" r:id="rId50"/>
    <p:sldId id="310" r:id="rId51"/>
    <p:sldId id="311" r:id="rId52"/>
    <p:sldId id="275" r:id="rId53"/>
    <p:sldId id="312" r:id="rId54"/>
    <p:sldId id="313" r:id="rId55"/>
    <p:sldId id="314" r:id="rId5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5AE3E-7BA3-4D39-BA25-517D31D51345}" type="datetimeFigureOut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D82492-50B1-4C06-B7FA-83B9DB46F9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4286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D82492-50B1-4C06-B7FA-83B9DB46F98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6278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7"/>
          <p:cNvGrpSpPr>
            <a:grpSpLocks/>
          </p:cNvGrpSpPr>
          <p:nvPr/>
        </p:nvGrpSpPr>
        <p:grpSpPr bwMode="auto">
          <a:xfrm>
            <a:off x="0" y="0"/>
            <a:ext cx="9107488" cy="6796088"/>
            <a:chOff x="0" y="0"/>
            <a:chExt cx="5737" cy="4281"/>
          </a:xfrm>
        </p:grpSpPr>
        <p:grpSp>
          <p:nvGrpSpPr>
            <p:cNvPr id="5" name="Group 36"/>
            <p:cNvGrpSpPr>
              <a:grpSpLocks/>
            </p:cNvGrpSpPr>
            <p:nvPr/>
          </p:nvGrpSpPr>
          <p:grpSpPr bwMode="auto">
            <a:xfrm>
              <a:off x="4694" y="164"/>
              <a:ext cx="1043" cy="318"/>
              <a:chOff x="4876" y="193"/>
              <a:chExt cx="839" cy="289"/>
            </a:xfrm>
          </p:grpSpPr>
          <p:pic>
            <p:nvPicPr>
              <p:cNvPr id="26" name="Picture 45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76" y="193"/>
                <a:ext cx="839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27" name="Group 49"/>
              <p:cNvGrpSpPr>
                <a:grpSpLocks/>
              </p:cNvGrpSpPr>
              <p:nvPr/>
            </p:nvGrpSpPr>
            <p:grpSpPr bwMode="auto">
              <a:xfrm rot="971029">
                <a:off x="5535" y="317"/>
                <a:ext cx="40" cy="60"/>
                <a:chOff x="1604" y="9751"/>
                <a:chExt cx="297" cy="509"/>
              </a:xfrm>
            </p:grpSpPr>
            <p:sp>
              <p:nvSpPr>
                <p:cNvPr id="28" name="Oval 50"/>
                <p:cNvSpPr>
                  <a:spLocks noChangeArrowheads="1"/>
                </p:cNvSpPr>
                <p:nvPr/>
              </p:nvSpPr>
              <p:spPr bwMode="auto">
                <a:xfrm>
                  <a:off x="1599" y="9745"/>
                  <a:ext cx="299" cy="324"/>
                </a:xfrm>
                <a:prstGeom prst="ellipse">
                  <a:avLst/>
                </a:prstGeom>
                <a:solidFill>
                  <a:srgbClr val="5F497A"/>
                </a:solidFill>
                <a:ln w="9525">
                  <a:solidFill>
                    <a:srgbClr val="5F497A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zh-TW" altLang="en-US">
                    <a:latin typeface="+mn-lt"/>
                    <a:ea typeface="+mn-ea"/>
                  </a:endParaRPr>
                </a:p>
              </p:txBody>
            </p:sp>
            <p:sp>
              <p:nvSpPr>
                <p:cNvPr id="29" name="Rectangle 51"/>
                <p:cNvSpPr>
                  <a:spLocks noChangeArrowheads="1"/>
                </p:cNvSpPr>
                <p:nvPr/>
              </p:nvSpPr>
              <p:spPr bwMode="auto">
                <a:xfrm>
                  <a:off x="1669" y="10042"/>
                  <a:ext cx="149" cy="216"/>
                </a:xfrm>
                <a:prstGeom prst="rect">
                  <a:avLst/>
                </a:prstGeom>
                <a:solidFill>
                  <a:srgbClr val="5F497A"/>
                </a:solidFill>
                <a:ln w="9525">
                  <a:solidFill>
                    <a:srgbClr val="5F497A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zh-TW" altLang="en-US">
                    <a:latin typeface="+mn-lt"/>
                    <a:ea typeface="+mn-ea"/>
                  </a:endParaRPr>
                </a:p>
              </p:txBody>
            </p:sp>
          </p:grpSp>
        </p:grpSp>
        <p:sp>
          <p:nvSpPr>
            <p:cNvPr id="6" name="Rectangle 3"/>
            <p:cNvSpPr>
              <a:spLocks noChangeArrowheads="1"/>
            </p:cNvSpPr>
            <p:nvPr/>
          </p:nvSpPr>
          <p:spPr bwMode="auto">
            <a:xfrm>
              <a:off x="1066" y="2432"/>
              <a:ext cx="4037" cy="862"/>
            </a:xfrm>
            <a:prstGeom prst="rec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sp>
          <p:nvSpPr>
            <p:cNvPr id="7" name="Rectangle 2"/>
            <p:cNvSpPr>
              <a:spLocks noChangeArrowheads="1"/>
            </p:cNvSpPr>
            <p:nvPr/>
          </p:nvSpPr>
          <p:spPr bwMode="auto">
            <a:xfrm>
              <a:off x="476" y="1071"/>
              <a:ext cx="5080" cy="1180"/>
            </a:xfrm>
            <a:prstGeom prst="rec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pic>
          <p:nvPicPr>
            <p:cNvPr id="8" name="Picture 4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" y="3970"/>
              <a:ext cx="2676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3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2" y="4066"/>
              <a:ext cx="2404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020" cy="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38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" y="709"/>
              <a:ext cx="408" cy="30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2" name="Group 18"/>
            <p:cNvGrpSpPr>
              <a:grpSpLocks/>
            </p:cNvGrpSpPr>
            <p:nvPr/>
          </p:nvGrpSpPr>
          <p:grpSpPr bwMode="auto">
            <a:xfrm rot="5400000">
              <a:off x="3085" y="-1730"/>
              <a:ext cx="300" cy="4286"/>
              <a:chOff x="4380" y="2475"/>
              <a:chExt cx="750" cy="6551"/>
            </a:xfrm>
          </p:grpSpPr>
          <p:cxnSp>
            <p:nvCxnSpPr>
              <p:cNvPr id="15" name="AutoShape 19"/>
              <p:cNvCxnSpPr>
                <a:cxnSpLocks noChangeShapeType="1"/>
              </p:cNvCxnSpPr>
              <p:nvPr/>
            </p:nvCxnSpPr>
            <p:spPr bwMode="auto">
              <a:xfrm>
                <a:off x="4500" y="7276"/>
                <a:ext cx="450" cy="104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" name="AutoShape 20"/>
              <p:cNvCxnSpPr>
                <a:cxnSpLocks noChangeShapeType="1"/>
              </p:cNvCxnSpPr>
              <p:nvPr/>
            </p:nvCxnSpPr>
            <p:spPr bwMode="auto">
              <a:xfrm flipH="1">
                <a:off x="4380" y="7380"/>
                <a:ext cx="570" cy="69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" name="AutoShape 21"/>
              <p:cNvCxnSpPr>
                <a:cxnSpLocks noChangeShapeType="1"/>
              </p:cNvCxnSpPr>
              <p:nvPr/>
            </p:nvCxnSpPr>
            <p:spPr bwMode="auto">
              <a:xfrm>
                <a:off x="4380" y="7449"/>
                <a:ext cx="75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" name="AutoShape 22"/>
              <p:cNvCxnSpPr>
                <a:cxnSpLocks noChangeShapeType="1"/>
              </p:cNvCxnSpPr>
              <p:nvPr/>
            </p:nvCxnSpPr>
            <p:spPr bwMode="auto">
              <a:xfrm flipH="1">
                <a:off x="4500" y="7530"/>
                <a:ext cx="63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" name="AutoShape 23"/>
              <p:cNvCxnSpPr>
                <a:cxnSpLocks noChangeShapeType="1"/>
              </p:cNvCxnSpPr>
              <p:nvPr/>
            </p:nvCxnSpPr>
            <p:spPr bwMode="auto">
              <a:xfrm>
                <a:off x="4500" y="7611"/>
                <a:ext cx="420" cy="80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" name="AutoShape 24"/>
              <p:cNvCxnSpPr>
                <a:cxnSpLocks noChangeShapeType="1"/>
              </p:cNvCxnSpPr>
              <p:nvPr/>
            </p:nvCxnSpPr>
            <p:spPr bwMode="auto">
              <a:xfrm flipH="1">
                <a:off x="4575" y="7691"/>
                <a:ext cx="345" cy="82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" name="AutoShape 25"/>
              <p:cNvCxnSpPr>
                <a:cxnSpLocks noChangeShapeType="1"/>
              </p:cNvCxnSpPr>
              <p:nvPr/>
            </p:nvCxnSpPr>
            <p:spPr bwMode="auto">
              <a:xfrm>
                <a:off x="4575" y="7773"/>
                <a:ext cx="37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" name="AutoShape 26"/>
              <p:cNvCxnSpPr>
                <a:cxnSpLocks noChangeShapeType="1"/>
              </p:cNvCxnSpPr>
              <p:nvPr/>
            </p:nvCxnSpPr>
            <p:spPr bwMode="auto">
              <a:xfrm flipH="1">
                <a:off x="4500" y="7195"/>
                <a:ext cx="31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" name="AutoShape 27"/>
              <p:cNvCxnSpPr>
                <a:cxnSpLocks noChangeShapeType="1"/>
              </p:cNvCxnSpPr>
              <p:nvPr/>
            </p:nvCxnSpPr>
            <p:spPr bwMode="auto">
              <a:xfrm flipH="1">
                <a:off x="4725" y="7854"/>
                <a:ext cx="19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" name="AutoShape 28"/>
              <p:cNvCxnSpPr>
                <a:cxnSpLocks noChangeShapeType="1"/>
              </p:cNvCxnSpPr>
              <p:nvPr/>
            </p:nvCxnSpPr>
            <p:spPr bwMode="auto">
              <a:xfrm>
                <a:off x="4725" y="7935"/>
                <a:ext cx="0" cy="109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" name="AutoShape 29"/>
              <p:cNvCxnSpPr>
                <a:cxnSpLocks noChangeShapeType="1"/>
              </p:cNvCxnSpPr>
              <p:nvPr/>
            </p:nvCxnSpPr>
            <p:spPr bwMode="auto">
              <a:xfrm>
                <a:off x="4816" y="2475"/>
                <a:ext cx="0" cy="4717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pic>
          <p:nvPicPr>
            <p:cNvPr id="13" name="圖片 29" descr="Thu_logo.gif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" y="3711"/>
              <a:ext cx="570" cy="5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35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" y="3866"/>
              <a:ext cx="2269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00113" y="1916113"/>
            <a:ext cx="7772400" cy="1470025"/>
          </a:xfrm>
        </p:spPr>
        <p:txBody>
          <a:bodyPr/>
          <a:lstStyle>
            <a:lvl1pPr algn="ctr">
              <a:defRPr sz="36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63713" y="4076700"/>
            <a:ext cx="6335712" cy="1198563"/>
          </a:xfrm>
        </p:spPr>
        <p:txBody>
          <a:bodyPr/>
          <a:lstStyle>
            <a:lvl1pPr marL="0" indent="0" algn="ctr">
              <a:buFont typeface="Arial" charset="0"/>
              <a:buNone/>
              <a:defRPr sz="2800">
                <a:solidFill>
                  <a:srgbClr val="777777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 smtClean="0"/>
              <a:t>按一下以編輯母片副標題樣式</a:t>
            </a:r>
            <a:endParaRPr lang="zh-TW" altLang="en-US" dirty="0"/>
          </a:p>
        </p:txBody>
      </p:sp>
      <p:sp>
        <p:nvSpPr>
          <p:cNvPr id="30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659563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Goudy Old Style" pitchFamily="18" charset="0"/>
                <a:ea typeface="+mn-ea"/>
              </a:defRPr>
            </a:lvl1pPr>
          </a:lstStyle>
          <a:p>
            <a:fld id="{3DD32484-960D-451F-9A57-ACB8E9913DD9}" type="datetime1">
              <a:rPr lang="zh-TW" altLang="en-US" smtClean="0"/>
              <a:t>2023/4/3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1235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B5B874-31B1-49FA-8488-2111625C7C1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5557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B5B874-31B1-49FA-8488-2111625C7C1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5071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95288" y="1600200"/>
            <a:ext cx="4171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19638" y="1600200"/>
            <a:ext cx="417353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B5B874-31B1-49FA-8488-2111625C7C1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8886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B5B874-31B1-49FA-8488-2111625C7C1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4863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B5B874-31B1-49FA-8488-2111625C7C1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2617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B5B874-31B1-49FA-8488-2111625C7C1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9842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B5B874-31B1-49FA-8488-2111625C7C1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081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 smtClean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B5B874-31B1-49FA-8488-2111625C7C1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4784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B5B874-31B1-49FA-8488-2111625C7C1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6592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69100" y="274638"/>
            <a:ext cx="2124075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95288" y="274638"/>
            <a:ext cx="6221412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B5B874-31B1-49FA-8488-2111625C7C1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68665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A918605-8CA6-4467-9341-3804BC4639AB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8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8"/>
          <p:cNvGrpSpPr>
            <a:grpSpLocks/>
          </p:cNvGrpSpPr>
          <p:nvPr/>
        </p:nvGrpSpPr>
        <p:grpSpPr bwMode="auto">
          <a:xfrm>
            <a:off x="0" y="241300"/>
            <a:ext cx="9028113" cy="6621463"/>
            <a:chOff x="0" y="152"/>
            <a:chExt cx="5687" cy="4171"/>
          </a:xfrm>
        </p:grpSpPr>
        <p:pic>
          <p:nvPicPr>
            <p:cNvPr id="1030" name="Picture 2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782"/>
              <a:ext cx="703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031" name="Group 18"/>
            <p:cNvGrpSpPr>
              <a:grpSpLocks/>
            </p:cNvGrpSpPr>
            <p:nvPr/>
          </p:nvGrpSpPr>
          <p:grpSpPr bwMode="auto">
            <a:xfrm rot="5400000">
              <a:off x="2980" y="1897"/>
              <a:ext cx="300" cy="4399"/>
              <a:chOff x="4380" y="2475"/>
              <a:chExt cx="750" cy="6551"/>
            </a:xfrm>
          </p:grpSpPr>
          <p:cxnSp>
            <p:nvCxnSpPr>
              <p:cNvPr id="1037" name="AutoShape 19"/>
              <p:cNvCxnSpPr>
                <a:cxnSpLocks noChangeShapeType="1"/>
              </p:cNvCxnSpPr>
              <p:nvPr/>
            </p:nvCxnSpPr>
            <p:spPr bwMode="auto">
              <a:xfrm>
                <a:off x="4500" y="7276"/>
                <a:ext cx="450" cy="104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38" name="AutoShape 20"/>
              <p:cNvCxnSpPr>
                <a:cxnSpLocks noChangeShapeType="1"/>
              </p:cNvCxnSpPr>
              <p:nvPr/>
            </p:nvCxnSpPr>
            <p:spPr bwMode="auto">
              <a:xfrm flipH="1">
                <a:off x="4380" y="7380"/>
                <a:ext cx="570" cy="69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39" name="AutoShape 21"/>
              <p:cNvCxnSpPr>
                <a:cxnSpLocks noChangeShapeType="1"/>
              </p:cNvCxnSpPr>
              <p:nvPr/>
            </p:nvCxnSpPr>
            <p:spPr bwMode="auto">
              <a:xfrm>
                <a:off x="4380" y="7449"/>
                <a:ext cx="75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0" name="AutoShape 22"/>
              <p:cNvCxnSpPr>
                <a:cxnSpLocks noChangeShapeType="1"/>
              </p:cNvCxnSpPr>
              <p:nvPr/>
            </p:nvCxnSpPr>
            <p:spPr bwMode="auto">
              <a:xfrm flipH="1">
                <a:off x="4500" y="7530"/>
                <a:ext cx="63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1" name="AutoShape 23"/>
              <p:cNvCxnSpPr>
                <a:cxnSpLocks noChangeShapeType="1"/>
              </p:cNvCxnSpPr>
              <p:nvPr/>
            </p:nvCxnSpPr>
            <p:spPr bwMode="auto">
              <a:xfrm>
                <a:off x="4500" y="7611"/>
                <a:ext cx="420" cy="80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2" name="AutoShape 24"/>
              <p:cNvCxnSpPr>
                <a:cxnSpLocks noChangeShapeType="1"/>
              </p:cNvCxnSpPr>
              <p:nvPr/>
            </p:nvCxnSpPr>
            <p:spPr bwMode="auto">
              <a:xfrm flipH="1">
                <a:off x="4575" y="7691"/>
                <a:ext cx="345" cy="82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3" name="AutoShape 25"/>
              <p:cNvCxnSpPr>
                <a:cxnSpLocks noChangeShapeType="1"/>
              </p:cNvCxnSpPr>
              <p:nvPr/>
            </p:nvCxnSpPr>
            <p:spPr bwMode="auto">
              <a:xfrm>
                <a:off x="4575" y="7773"/>
                <a:ext cx="37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4" name="AutoShape 26"/>
              <p:cNvCxnSpPr>
                <a:cxnSpLocks noChangeShapeType="1"/>
              </p:cNvCxnSpPr>
              <p:nvPr/>
            </p:nvCxnSpPr>
            <p:spPr bwMode="auto">
              <a:xfrm flipH="1">
                <a:off x="4500" y="7195"/>
                <a:ext cx="31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5" name="AutoShape 27"/>
              <p:cNvCxnSpPr>
                <a:cxnSpLocks noChangeShapeType="1"/>
              </p:cNvCxnSpPr>
              <p:nvPr/>
            </p:nvCxnSpPr>
            <p:spPr bwMode="auto">
              <a:xfrm flipH="1">
                <a:off x="4725" y="7854"/>
                <a:ext cx="19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6" name="AutoShape 28"/>
              <p:cNvCxnSpPr>
                <a:cxnSpLocks noChangeShapeType="1"/>
              </p:cNvCxnSpPr>
              <p:nvPr/>
            </p:nvCxnSpPr>
            <p:spPr bwMode="auto">
              <a:xfrm>
                <a:off x="4725" y="7935"/>
                <a:ext cx="0" cy="109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7" name="AutoShape 29"/>
              <p:cNvCxnSpPr>
                <a:cxnSpLocks noChangeShapeType="1"/>
              </p:cNvCxnSpPr>
              <p:nvPr/>
            </p:nvCxnSpPr>
            <p:spPr bwMode="auto">
              <a:xfrm>
                <a:off x="4816" y="2475"/>
                <a:ext cx="0" cy="4717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pic>
          <p:nvPicPr>
            <p:cNvPr id="1032" name="Picture 34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7" y="4133"/>
              <a:ext cx="2148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3" name="Picture 2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7" y="3906"/>
              <a:ext cx="420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Rectangle 2"/>
            <p:cNvSpPr>
              <a:spLocks noChangeArrowheads="1"/>
            </p:cNvSpPr>
            <p:nvPr/>
          </p:nvSpPr>
          <p:spPr bwMode="auto">
            <a:xfrm>
              <a:off x="204" y="152"/>
              <a:ext cx="5398" cy="735"/>
            </a:xfrm>
            <a:prstGeom prst="rec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sp>
          <p:nvSpPr>
            <p:cNvPr id="24" name="Rectangle 7"/>
            <p:cNvSpPr>
              <a:spLocks noChangeArrowheads="1"/>
            </p:cNvSpPr>
            <p:nvPr/>
          </p:nvSpPr>
          <p:spPr bwMode="auto">
            <a:xfrm>
              <a:off x="204" y="935"/>
              <a:ext cx="5398" cy="2903"/>
            </a:xfrm>
            <a:prstGeom prst="rect">
              <a:avLst/>
            </a:prstGeom>
            <a:gradFill rotWithShape="1">
              <a:gsLst>
                <a:gs pos="0">
                  <a:srgbClr val="E7FFFD"/>
                </a:gs>
                <a:gs pos="50000">
                  <a:srgbClr val="FFFFFF"/>
                </a:gs>
                <a:gs pos="100000">
                  <a:srgbClr val="E7FFFD"/>
                </a:gs>
              </a:gsLst>
              <a:lin ang="5400000" scaled="1"/>
            </a:gradFill>
            <a:ln w="9525">
              <a:solidFill>
                <a:srgbClr val="FFFFFF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pic>
          <p:nvPicPr>
            <p:cNvPr id="1036" name="Picture 26"/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" y="3942"/>
              <a:ext cx="2928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274638"/>
            <a:ext cx="84359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600200"/>
            <a:ext cx="849788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51" name="Rectangle 2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47813" y="6453188"/>
            <a:ext cx="477837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Goudy Old Style" panose="02020502050305020303" pitchFamily="18" charset="0"/>
              </a:defRPr>
            </a:lvl1pPr>
          </a:lstStyle>
          <a:p>
            <a:fld id="{80B5B874-31B1-49FA-8488-2111625C7C1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6295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+mj-ea"/>
          <a:cs typeface="Times New Roman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 sz="28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 sz="24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 sz="20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5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6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0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3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6.e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第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05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章 密碼學概論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6133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u="none" strike="noStrike" kern="2600" baseline="0" dirty="0" smtClean="0">
                <a:latin typeface="Arial"/>
                <a:ea typeface="標楷體"/>
              </a:rPr>
              <a:t>第</a:t>
            </a:r>
            <a:r>
              <a:rPr lang="en-US" altLang="zh-TW" b="1" kern="100" smtClean="0">
                <a:latin typeface="Arial"/>
                <a:ea typeface="標楷體"/>
              </a:rPr>
              <a:t>05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章 </a:t>
            </a:r>
            <a:r>
              <a:rPr lang="zh-TW" altLang="en-US" b="1" i="0" u="none" strike="noStrike" kern="2600" baseline="0" dirty="0" smtClean="0">
                <a:latin typeface="Arial"/>
                <a:ea typeface="標楷體"/>
              </a:rPr>
              <a:t>密碼學概論</a:t>
            </a:r>
            <a:endParaRPr lang="zh-TW" altLang="en-US" b="1" i="0" u="none" strike="noStrike" kern="2600" baseline="0" dirty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本章介紹密碼學相關背景知識，從古典密碼學到現代密碼演算法，並舉例說明加解密系統的作業流程，使讀者從範例中了解密碼系統設計原理；也舉例說明常見的密碼技術應用。</a:t>
            </a:r>
          </a:p>
          <a:p>
            <a:pPr marR="0" lvl="0" rt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marR="0" lvl="0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5.1.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簡介</a:t>
            </a:r>
          </a:p>
          <a:p>
            <a:pPr marR="0" lvl="0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5.2.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密碼演算法</a:t>
            </a:r>
          </a:p>
          <a:p>
            <a:pPr marR="0" lvl="0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5.3.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對稱式加密原理 </a:t>
            </a:r>
          </a:p>
          <a:p>
            <a:pPr marR="0" lvl="0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5.4.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古典密碼演算法</a:t>
            </a:r>
          </a:p>
          <a:p>
            <a:pPr marR="0" lvl="0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5.5.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現代密碼演算法</a:t>
            </a:r>
          </a:p>
          <a:p>
            <a:pPr marR="0" lvl="0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5.6.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雜湊函數</a:t>
            </a:r>
          </a:p>
          <a:p>
            <a:pPr marR="0" lvl="0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5.7.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密碼技術應用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13E4F-8C02-4498-81A2-FF81FBC8C65B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4399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dirty="0" smtClean="0">
                <a:latin typeface="Arial"/>
                <a:ea typeface="標楷體"/>
              </a:rPr>
              <a:t>5.1 </a:t>
            </a:r>
            <a:r>
              <a:rPr lang="zh-TW" altLang="en-US" b="1" i="0" u="none" strike="noStrike" kern="2600" baseline="0" dirty="0" smtClean="0">
                <a:latin typeface="Arial"/>
                <a:ea typeface="標楷體"/>
              </a:rPr>
              <a:t>簡介</a:t>
            </a:r>
            <a:endParaRPr lang="zh-TW" altLang="en-US" b="1" i="0" u="none" strike="noStrike" kern="2600" baseline="0" dirty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密碼學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cryptography 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是一門研究資料加密和解密的科學。在古典密碼學使用單一的加密手法，如替換與重排，容易遭受暴力攻擊，電腦的發明更使這些方法極易被破解；現代密碼學採用較複雜的演算法，使用電腦為輔助計算工具，相對比較安全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將明文處理轉換為密文的過程稱為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加密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encryption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；而將密文轉換為明文的過程稱為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解密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decryption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加密與解密可用簡單模型加以解釋，如圖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5-1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，通過加密程式，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明文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( plaintext )</a:t>
            </a:r>
            <a:r>
              <a:rPr lang="zh-TW" altLang="en-US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 和</a:t>
            </a:r>
            <a:r>
              <a:rPr lang="en-US" altLang="zh-TW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金鑰</a:t>
            </a:r>
            <a:r>
              <a:rPr lang="en-US" altLang="zh-TW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』( key )</a:t>
            </a:r>
            <a:r>
              <a:rPr lang="zh-TW" altLang="en-US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進行加密運算變成</a:t>
            </a:r>
            <a:r>
              <a:rPr lang="en-US" altLang="zh-TW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密文</a:t>
            </a:r>
            <a:r>
              <a:rPr lang="en-US" altLang="zh-TW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( </a:t>
            </a:r>
            <a:r>
              <a:rPr lang="en-US" altLang="zh-TW" b="1" i="0" u="none" strike="noStrike" kern="100" baseline="0" dirty="0" err="1" smtClean="0">
                <a:solidFill>
                  <a:srgbClr val="000000"/>
                </a:solidFill>
                <a:latin typeface="Arial"/>
                <a:ea typeface="標楷體"/>
              </a:rPr>
              <a:t>ciphertext</a:t>
            </a:r>
            <a:r>
              <a:rPr lang="en-US" altLang="zh-TW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 )</a:t>
            </a:r>
            <a:r>
              <a:rPr lang="zh-TW" altLang="en-US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；反之，通過解密程式，</a:t>
            </a:r>
            <a:r>
              <a:rPr lang="en-US" altLang="zh-TW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密文</a:t>
            </a:r>
            <a:r>
              <a:rPr lang="en-US" altLang="zh-TW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( </a:t>
            </a:r>
            <a:r>
              <a:rPr lang="en-US" altLang="zh-TW" b="1" i="0" u="none" strike="noStrike" kern="100" baseline="0" dirty="0" err="1" smtClean="0">
                <a:solidFill>
                  <a:srgbClr val="000000"/>
                </a:solidFill>
                <a:latin typeface="Arial"/>
                <a:ea typeface="標楷體"/>
              </a:rPr>
              <a:t>ciphertext</a:t>
            </a:r>
            <a:r>
              <a:rPr lang="en-US" altLang="zh-TW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 )</a:t>
            </a:r>
            <a:r>
              <a:rPr lang="zh-TW" altLang="en-US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 和</a:t>
            </a:r>
            <a:r>
              <a:rPr lang="en-US" altLang="zh-TW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金鑰</a:t>
            </a:r>
            <a:r>
              <a:rPr lang="en-US" altLang="zh-TW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』( key )</a:t>
            </a:r>
            <a:r>
              <a:rPr lang="zh-TW" altLang="en-US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進行解密運算變成</a:t>
            </a:r>
            <a:r>
              <a:rPr lang="en-US" altLang="zh-TW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明文</a:t>
            </a:r>
            <a:r>
              <a:rPr lang="en-US" altLang="zh-TW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( plaintext )</a:t>
            </a:r>
            <a:r>
              <a:rPr lang="zh-TW" altLang="en-US" b="1" i="0" u="none" strike="noStrike" kern="100" baseline="0" dirty="0" smtClean="0">
                <a:solidFill>
                  <a:srgbClr val="000000"/>
                </a:solidFill>
                <a:latin typeface="Arial"/>
                <a:ea typeface="標楷體"/>
              </a:rPr>
              <a:t>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AC62-C08E-4AE6-92F8-8F219E4B9639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536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3563888" y="4581128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 5-1 </a:t>
            </a:r>
            <a:r>
              <a:rPr lang="zh-TW" altLang="zh-TW" dirty="0"/>
              <a:t>加密解密模型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4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524" y="2386143"/>
            <a:ext cx="3980952" cy="20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604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0" u="none" strike="noStrike" kern="2600" baseline="0" dirty="0" smtClean="0">
                <a:latin typeface="Arial"/>
                <a:ea typeface="標楷體"/>
              </a:rPr>
              <a:t>5.1 </a:t>
            </a:r>
            <a:r>
              <a:rPr lang="zh-TW" altLang="en-US" b="1" i="0" u="none" strike="noStrike" kern="2600" baseline="0" dirty="0" smtClean="0">
                <a:latin typeface="Arial"/>
                <a:ea typeface="標楷體"/>
              </a:rPr>
              <a:t>簡介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最早的加密應用，約在西元前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400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多年古希臘時期，當時就知道將皮革纏繞在圓柱型棍棒上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圖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5-2 )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，將明文符號書寫在纏繞的布條上，並將棍棒取出，皮革上的符號已被打亂順序而變成密文。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密碼學也常被用於戰場，例如西元前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1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世紀，著名的凱撒加密法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Caesar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Cipher 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被使用於高盧戰役中，這是一種簡單的單字母替換的密碼系統。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近代隨著技術的進步，在第二次世界大戰時，德國發明著名的加密機器──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謎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Enigma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並使用於傳達作戰訊息，但到了戰爭後期被盟軍所破解。</a:t>
            </a:r>
          </a:p>
          <a:p>
            <a:pPr lv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1977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年，美國國家標準局頒布了資料加密演算法的國家標準──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資料加密標準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』( Data Encryption Standard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；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DES)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，作為電腦系統和網路應用的加密標準。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34338-B966-4845-9886-6D31FAB624A8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5461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04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2952" y="1196752"/>
            <a:ext cx="3312368" cy="3605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3491880" y="5445224"/>
            <a:ext cx="24416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 5-2 </a:t>
            </a:r>
            <a:r>
              <a:rPr lang="zh-TW" altLang="zh-TW" dirty="0"/>
              <a:t>最早的加密機制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9361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0" u="none" strike="noStrike" kern="2600" baseline="0" dirty="0" smtClean="0">
                <a:latin typeface="Arial"/>
                <a:ea typeface="標楷體"/>
              </a:rPr>
              <a:t>5.1 </a:t>
            </a:r>
            <a:r>
              <a:rPr lang="zh-TW" altLang="en-US" b="1" i="0" u="none" strike="noStrike" kern="2600" baseline="0" dirty="0" smtClean="0">
                <a:latin typeface="Arial"/>
                <a:ea typeface="標楷體"/>
              </a:rPr>
              <a:t>簡介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DES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資料加密標準，在全世界普遍使用了將近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30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年之後，基於安全性的考量，美國又公布了另一套標準──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新一代加密標準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Advanced Encryption Standard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；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AES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以取代之。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在密碼學發展歷史中，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1976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年是一個重要里程碑，因為在這一年由美國學者 </a:t>
            </a:r>
            <a:r>
              <a:rPr lang="en-US" altLang="zh-TW" b="1" i="0" u="none" strike="noStrike" kern="100" baseline="0" dirty="0" err="1" smtClean="0">
                <a:latin typeface="Arial"/>
                <a:ea typeface="標楷體"/>
              </a:rPr>
              <a:t>Diffie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和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Hellman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兩人首先提出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非對稱金鑰演算法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』( asymmetric-key algorithm 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的觀念 ── 加密和解密使用不同的金鑰。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除加密之外，網路上更需要有身分驗證與資料驗證的服務，因此也發展出數位簽章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digital signature 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技術。</a:t>
            </a:r>
          </a:p>
          <a:p>
            <a:pPr lv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A509-0BD9-4D72-AFE8-62C8EE6CCDB1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433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dirty="0" smtClean="0">
                <a:latin typeface="Arial"/>
                <a:ea typeface="標楷體"/>
              </a:rPr>
              <a:t>5.2 </a:t>
            </a:r>
            <a:r>
              <a:rPr lang="zh-TW" altLang="en-US" b="1" i="0" u="none" strike="noStrike" kern="2600" baseline="0" dirty="0" smtClean="0">
                <a:latin typeface="Arial"/>
                <a:ea typeface="標楷體"/>
              </a:rPr>
              <a:t>密碼演算法</a:t>
            </a:r>
            <a:endParaRPr lang="zh-TW" altLang="en-US" b="1" i="0" u="none" strike="noStrike" kern="2600" baseline="0" dirty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要開發加解密技術，要先設計加解密演算法 ── 加解密的方法與步驟。加解密演算法可分為兩大類：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對稱金鑰演算法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symmetric</a:t>
            </a:r>
            <a:r>
              <a:rPr lang="en-US" altLang="zh-TW" b="1" i="0" u="none" strike="noStrike" kern="100" baseline="0" dirty="0" smtClean="0">
                <a:latin typeface="Times New Roman"/>
                <a:ea typeface="標楷體"/>
              </a:rPr>
              <a:t>-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key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algorithm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與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非對稱金鑰演算法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asymmetric-key algorithm 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，如圖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</a:t>
            </a:r>
            <a:r>
              <a:rPr lang="en-US" altLang="zh-TW" b="1" i="0" u="none" strike="noStrike" kern="100" baseline="0" dirty="0" smtClean="0">
                <a:latin typeface="Times New Roman"/>
                <a:ea typeface="標楷體"/>
              </a:rPr>
              <a:t>-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所示。非對稱金鑰演算法又稱為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公開金鑰演算法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public-key algorithm 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</a:t>
            </a:r>
          </a:p>
          <a:p>
            <a:pPr marR="0" lvl="0" rt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對稱金鑰演算法：加密與解密所使用相同的金鑰，稱為對稱金鑰演算法或單一金鑰演算法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single-key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algorithm)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，例如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DES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演算法 或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AES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演算法等為此種加密演算法。</a:t>
            </a:r>
          </a:p>
          <a:p>
            <a:pPr marR="0" lvl="0" rt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公開金鑰演算法：加密與解密使用不同的金鑰，稱為公開金鑰演算法、或非對稱金鑰演算法、或雙金鑰演算法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two-key algorithm 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。此種演算法使用前，需要產生兩組特殊字串做為金鑰 ── 分別為公開金鑰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public key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和私密金鑰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private key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。用公開金鑰加密之密文，可以使用私密金鑰解開，還原為原來的明文，此種加密演算法如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RSA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、</a:t>
            </a:r>
            <a:r>
              <a:rPr lang="en-US" altLang="zh-TW" b="1" i="0" u="none" strike="noStrike" kern="100" baseline="0" dirty="0" err="1" smtClean="0">
                <a:latin typeface="Arial"/>
                <a:ea typeface="標楷體"/>
              </a:rPr>
              <a:t>ElGamal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或橢圓曲線密碼學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Elliptic Curve Cryptography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；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ECC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等。</a:t>
            </a:r>
          </a:p>
          <a:p>
            <a:pPr marR="0" lvl="0" rt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2BA3-1E79-4D99-B57C-DB122B97D278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5494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3491880" y="4365104"/>
            <a:ext cx="24416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 5-3 </a:t>
            </a:r>
            <a:r>
              <a:rPr lang="zh-TW" altLang="zh-TW" dirty="0"/>
              <a:t>密碼演算法分類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9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1772816"/>
            <a:ext cx="4176060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465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0" u="none" strike="noStrike" kern="2600" baseline="0" dirty="0" smtClean="0">
                <a:latin typeface="Arial"/>
                <a:ea typeface="標楷體"/>
              </a:rPr>
              <a:t>5.2 </a:t>
            </a:r>
            <a:r>
              <a:rPr lang="zh-TW" altLang="en-US" b="1" i="0" u="none" strike="noStrike" kern="2600" baseline="0" dirty="0" smtClean="0">
                <a:latin typeface="Arial"/>
                <a:ea typeface="標楷體"/>
              </a:rPr>
              <a:t>密碼演算法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使用公開金鑰演算法加密資料時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如圖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</a:t>
            </a:r>
            <a:r>
              <a:rPr lang="en-US" altLang="zh-TW" b="1" i="0" u="none" strike="noStrike" kern="100" baseline="0" dirty="0" smtClean="0">
                <a:latin typeface="Times New Roman"/>
                <a:ea typeface="標楷體"/>
              </a:rPr>
              <a:t>-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4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，資訊傳送者將明文與金鑰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用加密演算法將資料加密成為密文，此時的密文在形式上為亂碼，看起來像是無意義的資料。再將密文經由通訊通道傳送至資訊接收者。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資訊接收者將密文與金鑰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B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經過解密演算法，將密文解密還原出明文。其中，金鑰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與金鑰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B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是不相同的兩把金鑰。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10B35-2D37-414B-A6E5-D5DE1E95938D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946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3" name="物件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8277759"/>
              </p:ext>
            </p:extLst>
          </p:nvPr>
        </p:nvGraphicFramePr>
        <p:xfrm>
          <a:off x="1187624" y="1628800"/>
          <a:ext cx="6836774" cy="2232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5" r:id="rId3" imgW="6782562" imgH="2210562" progId="">
                  <p:embed/>
                </p:oleObj>
              </mc:Choice>
              <mc:Fallback>
                <p:oleObj r:id="rId3" imgW="6782562" imgH="2210562" progId="">
                  <p:embed/>
                  <p:pic>
                    <p:nvPicPr>
                      <p:cNvPr id="0" name="Picture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1628800"/>
                        <a:ext cx="6836774" cy="22322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2915816" y="4869160"/>
            <a:ext cx="35958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 5-4 </a:t>
            </a:r>
            <a:r>
              <a:rPr lang="zh-TW" altLang="zh-TW" dirty="0"/>
              <a:t>公開金鑰演算法加密示意圖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1661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5.3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對稱式加密原理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對稱式加密演算法的設計，利用混淆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confusion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與擴散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diffusion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的概念增加演算法複雜度，使演算法更安全、不易破解。混淆與擴散的基本概念：</a:t>
            </a:r>
          </a:p>
          <a:p>
            <a:pPr marR="0" lvl="0" rt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混淆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confusion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：增加明文與金鑰之間計算的複雜度，使金鑰之內容均勻混入加密的訊息中，平均分布在密文訊息中。讓密文與加密金鑰間的關係變得複雜而難以用統計方法破解。</a:t>
            </a:r>
          </a:p>
          <a:p>
            <a:pPr marR="0" lvl="0" rt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擴散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diffusion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：增加明文與金鑰之間計算的複雜度，降低明文與密文之相關性，由密文無法猜出明文內容。讓明文或金鑰中的一個位元能影響密文中越多位元越好，以破壞明文原有的統計特性。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7CC77-C4DB-4DB3-99AE-705C356B9D85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6406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加密基本元件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基於以上兩種概念，在實現對稱式加密演算法，增加明文與金鑰計算之複雜度，主要有兩種加密基本元件：</a:t>
            </a:r>
          </a:p>
          <a:p>
            <a:pPr lv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替換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substitution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：將明文中的字元替換為密文中的另一個字元，解密時，將密文替換回原來之明文字元。如在早期的秘密通訊，使用通訊密碼對照表，將明文的每個字母，在對照表中找到對應的字母替換之，再將密文傳送出去，即使密文被攔截，也無法簡易猜出原來之明文。此元件實現加密原理的混淆功能，將金鑰均勻混入密文資料中。</a:t>
            </a:r>
          </a:p>
          <a:p>
            <a:pPr lv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重排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transposition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：將明文字串，依一定之規則重新排列，所得到之密文字串與明文字串一樣長，但其字元之次序已經被打亂。此元件實現加密技術之擴散功能，提高計算的複雜度。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7E2B6-CFB0-4888-871B-C28ECD00CCDC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7437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5.4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古典密碼演算法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TW" altLang="en-US" b="1" i="0" u="none" strike="noStrike" kern="100" baseline="0" smtClean="0">
                <a:latin typeface="Arial"/>
                <a:ea typeface="標楷體"/>
              </a:rPr>
              <a:t>密碼學之發展歷程，古典密碼學有悠久的歷史，從古代到電腦發明以前，因計算能力的限制，無法進行複雜的加解密運算，以單一字母或字元為基本運算單位。</a:t>
            </a:r>
          </a:p>
          <a:p>
            <a:pPr marR="0" lvl="0" rtl="0"/>
            <a:r>
              <a:rPr lang="zh-TW" altLang="en-US" b="1" i="0" u="none" strike="noStrike" kern="100" baseline="0" smtClean="0">
                <a:latin typeface="Arial"/>
                <a:ea typeface="標楷體"/>
              </a:rPr>
              <a:t>現代密碼學的發展，由於電腦科技的輔助，資料處理快速，可以針對較大的資料區塊加密、使用較長的金鑰、或使用大數字運算，以增加複雜度，也提高安全性。</a:t>
            </a:r>
            <a:endParaRPr lang="zh-TW" altLang="en-US" b="1" i="0" u="none" strike="noStrike" kern="100" baseline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4AFB-243F-42A7-90B9-DFD62AED161C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6695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5.4.1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凱薩</a:t>
            </a:r>
            <a:r>
              <a:rPr lang="en-US" altLang="zh-TW" b="1" i="0" u="none" strike="noStrike" kern="2600" baseline="0" smtClean="0">
                <a:latin typeface="Arial"/>
                <a:ea typeface="標楷體"/>
              </a:rPr>
              <a:t>(Caesar)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演算法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TW" altLang="en-US" b="1" i="0" u="none" strike="noStrike" kern="100" baseline="0" smtClean="0">
                <a:latin typeface="Arial"/>
                <a:ea typeface="標楷體"/>
              </a:rPr>
              <a:t>凱薩加密演算法非常單純，只是將明文每一個字母，依照字母順序向右位移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3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個位置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如圖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5-5)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。</a:t>
            </a:r>
          </a:p>
          <a:p>
            <a:pPr marR="0" lvl="0" rtl="0"/>
            <a:r>
              <a:rPr lang="zh-TW" altLang="en-US" b="1" i="0" u="none" strike="noStrike" kern="100" baseline="0" smtClean="0">
                <a:latin typeface="Arial"/>
                <a:ea typeface="標楷體"/>
              </a:rPr>
              <a:t>如明文的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『A』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字元，由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『A』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的右邊移動三個字母，找出相對應之替換，就是字元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『D』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。每個明文字母，做法都一樣，例如：欲加密的明文為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[ CAESAR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]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，則加密後的密文變成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[ FDHVDU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]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。</a:t>
            </a:r>
            <a:endParaRPr lang="zh-TW" altLang="en-US" b="1" i="0" u="none" strike="noStrike" kern="100" baseline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54C0-CB0B-465D-AC5E-FB91346A1FA8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3346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3" name="物件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5950476"/>
              </p:ext>
            </p:extLst>
          </p:nvPr>
        </p:nvGraphicFramePr>
        <p:xfrm>
          <a:off x="1102049" y="2276872"/>
          <a:ext cx="6939901" cy="1440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7" r:id="rId3" imgW="5906262" imgH="1217676" progId="">
                  <p:embed/>
                </p:oleObj>
              </mc:Choice>
              <mc:Fallback>
                <p:oleObj r:id="rId3" imgW="5906262" imgH="1217676" progId="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2049" y="2276872"/>
                        <a:ext cx="6939901" cy="14401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2411760" y="465313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 5-5 	</a:t>
            </a:r>
            <a:r>
              <a:rPr lang="zh-TW" altLang="zh-TW" dirty="0"/>
              <a:t>凱薩 </a:t>
            </a:r>
            <a:r>
              <a:rPr lang="en-US" altLang="zh-TW" dirty="0"/>
              <a:t>( Caesar ) </a:t>
            </a:r>
            <a:r>
              <a:rPr lang="zh-TW" altLang="zh-TW" dirty="0"/>
              <a:t>加密</a:t>
            </a:r>
            <a:r>
              <a:rPr lang="zh-TW" altLang="zh-TW" dirty="0" smtClean="0"/>
              <a:t>演算法</a:t>
            </a:r>
            <a:r>
              <a:rPr lang="en-US" altLang="zh-TW" dirty="0"/>
              <a:t> </a:t>
            </a:r>
            <a:endParaRPr lang="zh-TW" altLang="zh-TW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0245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5.4.2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柵欄</a:t>
            </a:r>
            <a:r>
              <a:rPr lang="en-US" altLang="zh-TW" b="1" i="0" u="none" strike="noStrike" kern="2600" baseline="0" smtClean="0">
                <a:latin typeface="Arial"/>
                <a:ea typeface="標楷體"/>
              </a:rPr>
              <a:t>(Rail Fence)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演算法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柵欄加密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rail fence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演算法改變字元排列的次序，是一種利用重排加密的例子。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假設我們利用如圖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5-6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所定義的格式，將明文寫成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9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行之排列順序，且假設欲加密之明文為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[ RAIL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FENCE ENCRYPTION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AND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DECRYPTION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]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字串。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首先，將明文字串依橫列的順序，由左向右書寫。然後，依照直行順序由上而下依序取出字串，則輸出的密文字串為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[ REIEA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OCIENRLN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Y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CAPFRNTEYDINP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OCTDN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]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。柵欄加密演算法輸出字串與原來明文字串具有一樣的長度，但字母順序已經改變了。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9236-ACCF-46FB-95F0-96F5B3D06410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0140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Fig 5-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523" y="1628800"/>
            <a:ext cx="3816424" cy="2667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707904" y="4437112"/>
            <a:ext cx="24416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pt-BR" altLang="zh-TW" dirty="0"/>
              <a:t> 5-6 </a:t>
            </a:r>
            <a:r>
              <a:rPr lang="zh-TW" altLang="zh-TW" dirty="0"/>
              <a:t>柵欄加密演算法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6207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5.5.1 DES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演算法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R="0" lvl="0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DES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加密資料區塊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data block 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大小為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64 bits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，即每一次加密的明文資料單位是一個區塊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( 64 bits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，並產出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64 bits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的密文資料。金鑰長度也是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64 bits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，但其中每個位元組的第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8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個位元是同位檢查位元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parity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check 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，用以偵錯；因此，實際有效位元是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56 bits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DES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經過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16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回合的運算，完成加密或解密，每一個回合運算將明文與金鑰進行運算以達到混淆與擴散之目的。</a:t>
            </a:r>
          </a:p>
          <a:p>
            <a:pPr marR="0" lvl="0" rt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如圖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5-7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3DES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是將明文資料使用三次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DES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依序做：加密、解密、與加密，經過三次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DES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運算，分別使用金鑰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1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、金鑰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2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、與金鑰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。如圖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5-8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，解密過程為反向程序，密文經過解密、加密、與解密，而使用金鑰分別為金鑰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、金鑰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2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與金鑰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1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</a:t>
            </a:r>
          </a:p>
          <a:p>
            <a:pPr marR="0" lvl="0" rt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09E2-951D-412D-A78B-890BDD48867F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573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052736"/>
            <a:ext cx="5669822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275856" y="2636912"/>
            <a:ext cx="24009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 5-7  3-DES </a:t>
            </a:r>
            <a:r>
              <a:rPr lang="zh-TW" altLang="zh-TW" dirty="0"/>
              <a:t>加密過程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7171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585" y="3925581"/>
            <a:ext cx="6268043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3505384" y="5589240"/>
            <a:ext cx="23304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 5-8  3DES </a:t>
            </a:r>
            <a:r>
              <a:rPr lang="zh-TW" altLang="zh-TW" dirty="0"/>
              <a:t>解密過程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02980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3DES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加解密範例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例如圖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5-9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，為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3DES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之加解密過程，資料的變化。假設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3DES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使用的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個金鑰分別是：</a:t>
            </a:r>
          </a:p>
          <a:p>
            <a:pPr lv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lv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Key 1 = 0123456789ABCDEF</a:t>
            </a:r>
          </a:p>
          <a:p>
            <a:pPr lv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Key 2 = 23456789ABCDEF01</a:t>
            </a:r>
          </a:p>
          <a:p>
            <a:pPr lv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Key 3 = 456789ABCDEF0123</a:t>
            </a:r>
          </a:p>
          <a:p>
            <a:pPr lv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假若明文為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『fox jump』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，並採用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ASCII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編碼。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ASCII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編碼為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8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位元編碼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( 16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進制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『f』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相對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ASCII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編碼是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『66』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『o』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相對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ASCII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編碼是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『6F』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 依序編碼得到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『666F78206A756D70』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。經過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3DES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的運算後，最後得到密文為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『68D5C05DD9B6B900』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CE80F-B420-4C49-983D-494592DD39D3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73101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3" name="物件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7460931"/>
              </p:ext>
            </p:extLst>
          </p:nvPr>
        </p:nvGraphicFramePr>
        <p:xfrm>
          <a:off x="1202025" y="2204864"/>
          <a:ext cx="6739949" cy="1872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4" r:id="rId3" imgW="8317230" imgH="1997583" progId="">
                  <p:embed/>
                </p:oleObj>
              </mc:Choice>
              <mc:Fallback>
                <p:oleObj r:id="rId3" imgW="8317230" imgH="1997583" progId="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2025" y="2204864"/>
                        <a:ext cx="6739949" cy="18722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3402337" y="4797152"/>
            <a:ext cx="23304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 5-9  3DES </a:t>
            </a:r>
            <a:r>
              <a:rPr lang="zh-TW" altLang="zh-TW" dirty="0"/>
              <a:t>運算範例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0371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dirty="0" smtClean="0">
                <a:latin typeface="Arial"/>
                <a:ea typeface="標楷體"/>
              </a:rPr>
              <a:t>5.5.2 AES </a:t>
            </a:r>
            <a:r>
              <a:rPr lang="zh-TW" altLang="en-US" b="1" i="0" u="none" strike="noStrike" kern="2600" baseline="0" dirty="0" smtClean="0">
                <a:latin typeface="Arial"/>
                <a:ea typeface="標楷體"/>
              </a:rPr>
              <a:t>演算法</a:t>
            </a:r>
            <a:endParaRPr lang="zh-TW" altLang="en-US" b="1" i="0" u="none" strike="noStrike" kern="2600" baseline="0" dirty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600" cy="4641379"/>
          </a:xfrm>
        </p:spPr>
        <p:txBody>
          <a:bodyPr>
            <a:normAutofit fontScale="62500" lnSpcReduction="200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美國國家標準與技術研究院（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NIST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）於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2001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年發佈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新一代加密標準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Advanced Encryption Standard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；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AES 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之加密演算法，文件編號為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FIPS PUB 197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標準，並在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2002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年正式實施，以取代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DES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或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3DES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演算法。</a:t>
            </a:r>
          </a:p>
          <a:p>
            <a:pPr marR="0" lvl="0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AES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能將明文切割成每個區塊為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128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bits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的資料區塊，每個資料區塊以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4</a:t>
            </a:r>
            <a:r>
              <a:rPr lang="zh-TW" altLang="en-US" b="1" i="0" u="none" strike="noStrike" kern="100" baseline="0" dirty="0" smtClean="0">
                <a:latin typeface="Times New Roman"/>
                <a:ea typeface="標楷體"/>
                <a:sym typeface="Wingdings 2"/>
              </a:rPr>
              <a:t>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  <a:sym typeface="Wingdings 2"/>
              </a:rPr>
              <a:t>4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  <a:sym typeface="Wingdings 2"/>
              </a:rPr>
              <a:t>矩陣來看待，矩陣的每個元素是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  <a:sym typeface="Wingdings 2"/>
              </a:rPr>
              <a:t>1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  <a:sym typeface="Wingdings 2"/>
              </a:rPr>
              <a:t>個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  <a:sym typeface="Wingdings 2"/>
              </a:rPr>
              <a:t>byte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  <a:sym typeface="Wingdings 2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  <a:sym typeface="Wingdings 2"/>
              </a:rPr>
              <a:t>( 8 bits 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  <a:sym typeface="Wingdings 2"/>
              </a:rPr>
              <a:t>。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  <a:sym typeface="Wingdings 2"/>
              </a:rPr>
              <a:t>AES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  <a:sym typeface="Wingdings 2"/>
              </a:rPr>
              <a:t>並支援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  <a:sym typeface="Wingdings 2"/>
              </a:rPr>
              <a:t>128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  <a:sym typeface="Wingdings 2"/>
              </a:rPr>
              <a:t>、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  <a:sym typeface="Wingdings 2"/>
              </a:rPr>
              <a:t>192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  <a:sym typeface="Wingdings 2"/>
              </a:rPr>
              <a:t> 與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  <a:sym typeface="Wingdings 2"/>
              </a:rPr>
              <a:t>256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  <a:sym typeface="Wingdings 2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  <a:sym typeface="Wingdings 2"/>
              </a:rPr>
              <a:t>bits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  <a:sym typeface="Wingdings 2"/>
              </a:rPr>
              <a:t>三種不同的金鑰長度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  <a:sym typeface="Wingdings 2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  <a:sym typeface="Wingdings 2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  <a:sym typeface="Wingdings 2"/>
              </a:rPr>
              <a:t>key size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  <a:sym typeface="Wingdings 2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  <a:sym typeface="Wingdings 2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  <a:sym typeface="Wingdings 2"/>
              </a:rPr>
              <a:t>，以提高安全性。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  <a:sym typeface="Wingdings 2"/>
              </a:rPr>
              <a:t>AES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  <a:sym typeface="Wingdings 2"/>
              </a:rPr>
              <a:t>的加解密包含十個以上的回合數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  <a:sym typeface="Wingdings 2"/>
              </a:rPr>
              <a:t>( round number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  <a:sym typeface="Wingdings 2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  <a:sym typeface="Wingdings 2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  <a:sym typeface="Wingdings 2"/>
              </a:rPr>
              <a:t>，每個回合都包含四個主要基本單元，如圖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  <a:sym typeface="Wingdings 2"/>
              </a:rPr>
              <a:t>5-10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  <a:sym typeface="Wingdings 2"/>
              </a:rPr>
              <a:t> 為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  <a:sym typeface="Wingdings 2"/>
              </a:rPr>
              <a:t>AES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  <a:sym typeface="Wingdings 2"/>
              </a:rPr>
              <a:t>加密資料處理流程：</a:t>
            </a:r>
            <a:endParaRPr lang="en-US" altLang="zh-TW" b="1" i="0" u="none" strike="noStrike" kern="100" baseline="0" dirty="0" smtClean="0">
              <a:latin typeface="Arial"/>
              <a:ea typeface="標楷體"/>
              <a:sym typeface="Wingdings 2"/>
            </a:endParaRPr>
          </a:p>
          <a:p>
            <a:pPr marR="0" lvl="0" rtl="0"/>
            <a:endParaRPr lang="zh-TW" altLang="en-US" b="1" i="0" u="none" strike="noStrike" kern="100" baseline="0" dirty="0" smtClean="0">
              <a:latin typeface="Arial"/>
              <a:ea typeface="標楷體"/>
              <a:sym typeface="Wingdings 2"/>
            </a:endParaRPr>
          </a:p>
          <a:p>
            <a:pPr marR="0" lvl="0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Add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Round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Key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： 區塊中的每一個位元都與子金鑰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err="1" smtClean="0">
                <a:latin typeface="Arial"/>
                <a:ea typeface="標楷體"/>
              </a:rPr>
              <a:t>subkey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做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XOR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運算；而每個子金鑰由金鑰產生，增加系統混淆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confusion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程度。 </a:t>
            </a:r>
          </a:p>
          <a:p>
            <a:pPr marR="0" lvl="0" rtl="0"/>
            <a:r>
              <a:rPr lang="en-US" altLang="zh-TW" b="1" i="0" u="none" strike="noStrike" kern="100" baseline="0" dirty="0" err="1" smtClean="0">
                <a:latin typeface="Arial"/>
                <a:ea typeface="標楷體"/>
              </a:rPr>
              <a:t>SubBytes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： 使用替換盒子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(substitution box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；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S-box 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，將字元組用查表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table look-up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的方式把每個位元組替換成對應的密文位元組，也就是使用替換加密的原理。 </a:t>
            </a:r>
          </a:p>
          <a:p>
            <a:pPr marR="0" lvl="0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Shift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Rows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： 將區塊中的每個橫列為單位，進行循環式移位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cyclic shift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，也就是利用重排加密的原理。 </a:t>
            </a:r>
          </a:p>
          <a:p>
            <a:pPr marR="0" lvl="0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Mix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Columns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：為了充分混合資料區塊中各個直行的關係，以增加資料擴散程度。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AF1A4-6080-45C6-AC1B-E4540328BEBC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23265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9217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473059"/>
            <a:ext cx="3312368" cy="5455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3510043" y="6093296"/>
            <a:ext cx="22679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 5-10  AES</a:t>
            </a:r>
            <a:r>
              <a:rPr lang="zh-TW" altLang="zh-TW" dirty="0"/>
              <a:t>加密流程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04927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AES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加密範例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例如圖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5-11 AES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加密範例，假設原文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明文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資料為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128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位元，金鑰也是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128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位元，運算結果得到的密文也是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128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位元。</a:t>
            </a:r>
          </a:p>
          <a:p>
            <a:pPr lv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明文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﹕『3243F6A8885A308D313198A2E0370734』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金鑰：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『2D7E151628AED2A6ABF7158809CF4F3C』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</a:t>
            </a:r>
          </a:p>
          <a:p>
            <a:pPr lv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經過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AES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運算所得到的密文為</a:t>
            </a:r>
          </a:p>
          <a:p>
            <a:pPr lv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密文：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『3925841D02DC09FBDC118597196A0B32』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B5A8-DD59-4FA1-9E99-793636DB8A12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414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3923928" y="4581128"/>
            <a:ext cx="22679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 5-11  AES</a:t>
            </a:r>
            <a:r>
              <a:rPr lang="zh-TW" altLang="zh-TW" dirty="0"/>
              <a:t>加密範例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26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764704"/>
            <a:ext cx="3660124" cy="366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7211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5.5.3 RSA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加密演算法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R="0" lvl="0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RSA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加密演算法，近年來已廣泛運用於網際網路與電子商務安全。在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1977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年由</a:t>
            </a:r>
            <a:r>
              <a:rPr lang="en-US" altLang="zh-TW" b="1" i="0" u="sng" strike="noStrike" kern="100" baseline="0" dirty="0" err="1" smtClean="0">
                <a:latin typeface="Arial"/>
                <a:ea typeface="標楷體"/>
              </a:rPr>
              <a:t>R</a:t>
            </a:r>
            <a:r>
              <a:rPr lang="en-US" altLang="zh-TW" b="1" i="0" u="none" strike="noStrike" kern="100" baseline="0" dirty="0" err="1" smtClean="0">
                <a:latin typeface="Arial"/>
                <a:ea typeface="標楷體"/>
              </a:rPr>
              <a:t>ivest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、 </a:t>
            </a:r>
            <a:r>
              <a:rPr lang="en-US" altLang="zh-TW" b="1" i="0" u="sng" strike="noStrike" kern="100" baseline="0" dirty="0" smtClean="0">
                <a:latin typeface="Arial"/>
                <a:ea typeface="標楷體"/>
              </a:rPr>
              <a:t>S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hamir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與</a:t>
            </a:r>
            <a:r>
              <a:rPr lang="en-US" altLang="zh-TW" b="1" i="0" u="sng" strike="noStrike" kern="100" baseline="0" dirty="0" err="1" smtClean="0">
                <a:latin typeface="Arial"/>
                <a:ea typeface="標楷體"/>
              </a:rPr>
              <a:t>A</a:t>
            </a:r>
            <a:r>
              <a:rPr lang="en-US" altLang="zh-TW" b="1" i="0" u="none" strike="noStrike" kern="100" baseline="0" dirty="0" err="1" smtClean="0">
                <a:latin typeface="Arial"/>
                <a:ea typeface="標楷體"/>
              </a:rPr>
              <a:t>dleman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三位學者共同提出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RSA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加密演算法，取其姓氏之第一個字母，命名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『RSA』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 </a:t>
            </a:r>
          </a:p>
          <a:p>
            <a:pPr marR="0" lvl="0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RSA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加密演算法是一種公開金鑰加密演算法，其安全度建立在將一個大整數分解為兩個質因數乘積的難題上 ── 質因數分解問題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factoring problem)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質因數分解的問題，當數字小的時候非常容易，然而，要將一個大整數分解成兩個質因數的乘積，用最快速的電腦計算，也需要很長的時間。</a:t>
            </a:r>
          </a:p>
          <a:p>
            <a:pPr marR="0" lvl="0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RSA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加密演算法主要包含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個操作程序：金鑰對產生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key pair generation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、訊息加密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encryption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、與訊息解密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decryption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076B4-D3B8-467A-972D-F9A651C47112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20485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金鑰對產生 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lvl="0"/>
            <a:endParaRPr lang="en-US" altLang="zh-TW" b="1" i="0" u="none" strike="noStrike" kern="100" baseline="0" dirty="0" smtClean="0">
              <a:latin typeface="Arial"/>
              <a:ea typeface="標楷體"/>
            </a:endParaRP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假設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Alice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與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Bob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要進行秘密通訊，</a:t>
            </a:r>
            <a:r>
              <a:rPr lang="en-US" altLang="zh-TW" b="1" i="0" u="none" strike="noStrike" kern="100" baseline="0" dirty="0" err="1" smtClean="0">
                <a:latin typeface="Arial"/>
                <a:ea typeface="標楷體"/>
              </a:rPr>
              <a:t>Ailce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希望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Bob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傳給她的資料都經過加密，以防止資料內容外洩。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Alice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與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Bob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的通訊過程，若要使用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RSA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加密演算法，首先，執行金鑰對產生程序：</a:t>
            </a:r>
          </a:p>
          <a:p>
            <a:pPr lv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随意選取兩個大質數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p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和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q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p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不等於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q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，計算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N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=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p</a:t>
            </a:r>
            <a:r>
              <a:rPr lang="zh-TW" altLang="en-US" b="1" i="1" u="none" strike="noStrike" kern="100" baseline="0" dirty="0" smtClean="0">
                <a:latin typeface="Arial"/>
                <a:ea typeface="標楷體"/>
              </a:rPr>
              <a:t>*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q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</a:t>
            </a:r>
            <a:r>
              <a:rPr lang="zh-TW" altLang="en-US" b="1" i="1" u="none" strike="noStrike" kern="100" baseline="0" dirty="0" smtClean="0">
                <a:latin typeface="Arial"/>
                <a:ea typeface="標楷體"/>
              </a:rPr>
              <a:t> 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選擇一個整数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e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為公開金鑰，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e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與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(p-1)</a:t>
            </a:r>
            <a:r>
              <a:rPr lang="zh-TW" altLang="en-US" b="1" i="1" u="none" strike="noStrike" kern="100" baseline="0" dirty="0" smtClean="0">
                <a:latin typeface="Arial"/>
                <a:ea typeface="標楷體"/>
              </a:rPr>
              <a:t>*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(q-1)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互質</a:t>
            </a:r>
            <a:r>
              <a:rPr lang="en-US" altLang="zh-TW" b="1" i="0" u="none" strike="noStrike" kern="100" baseline="0" dirty="0" smtClean="0">
                <a:latin typeface="Times New Roman"/>
                <a:ea typeface="標楷體"/>
              </a:rPr>
              <a:t>,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且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e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小於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(p-1)</a:t>
            </a:r>
            <a:r>
              <a:rPr lang="zh-TW" altLang="en-US" b="1" i="1" u="none" strike="noStrike" kern="100" baseline="0" dirty="0" smtClean="0">
                <a:latin typeface="Arial"/>
                <a:ea typeface="標楷體"/>
              </a:rPr>
              <a:t>*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(q-1)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計算私密金鑰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d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 使得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e* d</a:t>
            </a:r>
            <a:r>
              <a:rPr lang="zh-TW" altLang="en-US" b="1" i="1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(mod (p-1)(q-1))</a:t>
            </a:r>
            <a:r>
              <a:rPr lang="zh-TW" altLang="en-US" b="1" i="1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= 1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註：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mod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計算是取其餘數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</a:p>
          <a:p>
            <a:pPr lv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lv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Alice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將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N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與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e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傳給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Bob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，但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Alice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要妥善地保存私密金鑰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d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舉個簡單例子： 如圖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5-12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Alice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選取兩質數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p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= 5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和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q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= 7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，則得到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N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= 7*5 = 35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，選取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e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=5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作為公開金鑰，並計算私密金鑰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d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：</a:t>
            </a:r>
          </a:p>
          <a:p>
            <a:pPr lv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lvl="0"/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e*d mod (p-1)(q-1)</a:t>
            </a:r>
          </a:p>
          <a:p>
            <a:pPr lv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= 5 * 29 </a:t>
            </a:r>
          </a:p>
          <a:p>
            <a:pPr lv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= 145 (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mod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(5-1)(7-1))</a:t>
            </a:r>
          </a:p>
          <a:p>
            <a:pPr lv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= 145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mod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24</a:t>
            </a:r>
          </a:p>
          <a:p>
            <a:pPr lv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= 1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所以，私密金鑰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d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= 29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</a:t>
            </a:r>
          </a:p>
          <a:p>
            <a:pPr lv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Alice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將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35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和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傳給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Bob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；並且妥善保管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d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= 29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</a:t>
            </a:r>
          </a:p>
          <a:p>
            <a:pPr lv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64634-F8A0-4D90-BB6D-B473045E7393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57674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訊息加密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訊息加密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encryption )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當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Bob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要傳資料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m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給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Alice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時，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Bob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可以利用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Alice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的公開金鑰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e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來加密訊息，將資料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m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以下列公式加密：</a:t>
            </a:r>
          </a:p>
          <a:p>
            <a:pPr lv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lvl="0"/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c= m</a:t>
            </a:r>
            <a:r>
              <a:rPr lang="en-US" altLang="zh-TW" b="1" i="1" u="none" strike="noStrike" kern="100" baseline="30000" dirty="0" smtClean="0">
                <a:latin typeface="Arial"/>
                <a:ea typeface="標楷體"/>
              </a:rPr>
              <a:t>e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1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mod N</a:t>
            </a:r>
            <a:r>
              <a:rPr lang="zh-TW" altLang="en-US" b="1" i="1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1" u="none" strike="noStrike" kern="100" baseline="0" dirty="0" smtClean="0">
                <a:latin typeface="Arial"/>
                <a:ea typeface="標楷體"/>
              </a:rPr>
              <a:t> </a:t>
            </a:r>
          </a:p>
          <a:p>
            <a:pPr lvl="0"/>
            <a:endParaRPr lang="zh-TW" altLang="en-US" b="1" i="1" u="none" strike="noStrike" kern="100" baseline="0" dirty="0" smtClean="0">
              <a:latin typeface="Times New Roman"/>
              <a:ea typeface="標楷體"/>
            </a:endParaRPr>
          </a:p>
          <a:p>
            <a:pPr lvl="0"/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c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為加密後之密文，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Bob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可以將密文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c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送給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Alice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例如，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Bob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要傳送的訊息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m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= 33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加密之後：</a:t>
            </a:r>
          </a:p>
          <a:p>
            <a:pPr lvl="0"/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c=m</a:t>
            </a:r>
            <a:r>
              <a:rPr lang="en-US" altLang="zh-TW" b="1" i="1" u="none" strike="noStrike" kern="100" baseline="30000" dirty="0" smtClean="0">
                <a:latin typeface="Arial"/>
                <a:ea typeface="標楷體"/>
              </a:rPr>
              <a:t>e</a:t>
            </a:r>
            <a:r>
              <a:rPr lang="zh-TW" altLang="en-US" b="1" i="1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mod N</a:t>
            </a:r>
          </a:p>
          <a:p>
            <a:pPr lv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= 33</a:t>
            </a:r>
            <a:r>
              <a:rPr lang="en-US" altLang="zh-TW" b="1" i="0" u="none" strike="noStrike" kern="100" baseline="30000" dirty="0" smtClean="0">
                <a:latin typeface="Arial"/>
                <a:ea typeface="標楷體"/>
              </a:rPr>
              <a:t>5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mod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35</a:t>
            </a:r>
          </a:p>
          <a:p>
            <a:pPr lv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= 39135393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mod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35</a:t>
            </a:r>
          </a:p>
          <a:p>
            <a:pPr lv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= 3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將密文 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c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= 3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，傳送給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Alice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4E37-6D88-4929-8A8C-CEF0A4892E71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22291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訊息解密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訊息解密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decryption )</a:t>
            </a:r>
          </a:p>
          <a:p>
            <a:pPr lv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Alice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接收密文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c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之後，使用自己的私密金鑰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d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來解密，解密公式如下：</a:t>
            </a:r>
          </a:p>
          <a:p>
            <a:pPr lv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lvl="0"/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m= c</a:t>
            </a:r>
            <a:r>
              <a:rPr lang="en-US" altLang="zh-TW" b="1" i="1" u="none" strike="noStrike" kern="100" baseline="30000" dirty="0" smtClean="0">
                <a:latin typeface="Arial"/>
                <a:ea typeface="標楷體"/>
              </a:rPr>
              <a:t>d</a:t>
            </a:r>
            <a:r>
              <a:rPr lang="zh-TW" altLang="en-US" b="1" i="1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( mod N )</a:t>
            </a:r>
            <a:r>
              <a:rPr lang="zh-TW" altLang="en-US" b="1" i="1" u="none" strike="noStrike" kern="100" baseline="0" dirty="0" smtClean="0">
                <a:latin typeface="Arial"/>
                <a:ea typeface="標楷體"/>
              </a:rPr>
              <a:t> </a:t>
            </a:r>
          </a:p>
          <a:p>
            <a:pPr lvl="0"/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m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為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Bob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要傳送給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Alice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的明文資料。</a:t>
            </a:r>
          </a:p>
          <a:p>
            <a:pPr lv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例如，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Alice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接收訊息解密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c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= 3</a:t>
            </a:r>
          </a:p>
          <a:p>
            <a:pPr lvl="0"/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m</a:t>
            </a:r>
            <a:r>
              <a:rPr lang="zh-TW" altLang="en-US" b="1" i="1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=c</a:t>
            </a:r>
            <a:r>
              <a:rPr lang="en-US" altLang="zh-TW" b="1" i="1" u="none" strike="noStrike" kern="100" baseline="30000" dirty="0" smtClean="0">
                <a:latin typeface="Arial"/>
                <a:ea typeface="標楷體"/>
              </a:rPr>
              <a:t>d</a:t>
            </a:r>
            <a:r>
              <a:rPr lang="zh-TW" altLang="en-US" b="1" i="1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mod N</a:t>
            </a:r>
          </a:p>
          <a:p>
            <a:pPr lv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= 3</a:t>
            </a:r>
            <a:r>
              <a:rPr lang="en-US" altLang="zh-TW" b="1" i="0" u="none" strike="noStrike" kern="100" baseline="30000" dirty="0" smtClean="0">
                <a:latin typeface="Arial"/>
                <a:ea typeface="標楷體"/>
              </a:rPr>
              <a:t>29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mod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35</a:t>
            </a:r>
          </a:p>
          <a:p>
            <a:pPr lv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= 68630377364883</a:t>
            </a:r>
            <a:r>
              <a:rPr lang="zh-TW" altLang="en-US" b="1" i="1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mod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35</a:t>
            </a:r>
          </a:p>
          <a:p>
            <a:pPr lv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= 33</a:t>
            </a:r>
          </a:p>
          <a:p>
            <a:pPr lv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Alice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解出訊息為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33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，確實等於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Bob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要傳送給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Alice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之資料。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0976A-4FA7-400C-8AB4-005BE5271EDD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52059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3" name="物件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531928"/>
              </p:ext>
            </p:extLst>
          </p:nvPr>
        </p:nvGraphicFramePr>
        <p:xfrm>
          <a:off x="1547664" y="1484783"/>
          <a:ext cx="5904656" cy="3627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3" r:id="rId3" imgW="6277356" imgH="3868674" progId="">
                  <p:embed/>
                </p:oleObj>
              </mc:Choice>
              <mc:Fallback>
                <p:oleObj r:id="rId3" imgW="6277356" imgH="3868674" progId="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1484783"/>
                        <a:ext cx="5904656" cy="36274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3131840" y="5661248"/>
            <a:ext cx="30237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 5-12  RSA </a:t>
            </a:r>
            <a:r>
              <a:rPr lang="zh-TW" altLang="zh-TW" dirty="0"/>
              <a:t>加解密簡易範例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24885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dirty="0" smtClean="0">
                <a:latin typeface="Arial"/>
                <a:ea typeface="標楷體"/>
              </a:rPr>
              <a:t>5.5.4 DSA</a:t>
            </a:r>
            <a:r>
              <a:rPr lang="zh-TW" altLang="en-US" b="1" i="0" u="none" strike="noStrike" kern="2600" baseline="0" dirty="0" smtClean="0">
                <a:latin typeface="Arial"/>
                <a:ea typeface="標楷體"/>
              </a:rPr>
              <a:t>簽章演算法</a:t>
            </a:r>
            <a:endParaRPr lang="zh-TW" altLang="en-US" b="1" i="0" u="none" strike="noStrike" kern="2600" baseline="0" dirty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在前面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5.1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節曾經提過美國數位簽章標準採用的數位簽章演算法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DSA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。數位簽章演算法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DSA 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是一種</a:t>
            </a:r>
            <a:r>
              <a:rPr lang="en-US" altLang="zh-TW" b="1" i="0" u="none" strike="noStrike" kern="100" baseline="0" dirty="0" err="1" smtClean="0">
                <a:latin typeface="Arial"/>
                <a:ea typeface="標楷體"/>
              </a:rPr>
              <a:t>ElGamal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簽章演算法的變形，其安全度植基於整數有限體的離散對數難題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discrete logarithm problem 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。使用時所選取的質數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prime number 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必須夠大，如果選擇不當易遭受偽造攻擊。</a:t>
            </a:r>
          </a:p>
          <a:p>
            <a:pPr marR="0" lvl="0" rt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數位簽章演算法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DSA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的使用，包含三個部分：金鑰對產生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key pair generation 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、簽章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signing 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、驗章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verification 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</a:t>
            </a:r>
            <a:endParaRPr lang="en-US" altLang="zh-TW" b="1" i="0" u="none" strike="noStrike" kern="100" baseline="0" dirty="0" smtClean="0">
              <a:latin typeface="Arial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首先介紹一些參數如下：決定一個固定為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160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位元的質數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q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及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512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位元到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1024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位元的質數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p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，再找一個生成數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generator ) </a:t>
            </a:r>
            <a:r>
              <a:rPr lang="zh-TW" altLang="en-US" b="1" i="1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g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；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g = h</a:t>
            </a:r>
            <a:r>
              <a:rPr lang="en-US" altLang="zh-TW" b="1" i="1" u="none" strike="noStrike" kern="100" baseline="30000" dirty="0" smtClean="0">
                <a:latin typeface="Arial"/>
                <a:ea typeface="標楷體"/>
              </a:rPr>
              <a:t>((p-1)/q)</a:t>
            </a:r>
            <a:r>
              <a:rPr lang="zh-TW" altLang="en-US" b="1" i="1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mod p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h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满足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h &lt; p –</a:t>
            </a:r>
            <a:r>
              <a:rPr lang="zh-TW" altLang="en-US" b="1" i="1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1</a:t>
            </a:r>
            <a:r>
              <a:rPr lang="zh-TW" altLang="en-US" b="1" i="1" u="none" strike="noStrike" kern="100" baseline="0" dirty="0" smtClean="0">
                <a:latin typeface="Arial"/>
                <a:ea typeface="標楷體"/>
              </a:rPr>
              <a:t>， </a:t>
            </a:r>
            <a:r>
              <a:rPr lang="da-DK" altLang="zh-TW" b="1" i="1" u="none" strike="noStrike" kern="100" baseline="0" dirty="0" smtClean="0">
                <a:latin typeface="Arial"/>
                <a:ea typeface="標楷體"/>
              </a:rPr>
              <a:t>h</a:t>
            </a:r>
            <a:r>
              <a:rPr lang="da-DK" altLang="zh-TW" b="1" i="1" u="none" strike="noStrike" kern="100" baseline="30000" dirty="0" smtClean="0">
                <a:latin typeface="Arial"/>
                <a:ea typeface="標楷體"/>
              </a:rPr>
              <a:t>((p-1)/q) </a:t>
            </a:r>
            <a:r>
              <a:rPr lang="da-DK" altLang="zh-TW" b="1" i="1" u="none" strike="noStrike" kern="100" baseline="0" dirty="0" smtClean="0">
                <a:latin typeface="Arial"/>
                <a:ea typeface="標楷體"/>
              </a:rPr>
              <a:t>mod p &gt; 1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；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H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為雜湊函數，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M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為待簽章的訊息。</a:t>
            </a:r>
          </a:p>
          <a:p>
            <a:pPr marR="0" lvl="0" rtl="0"/>
            <a:endParaRPr lang="en-US" altLang="zh-TW" b="1" i="0" u="none" strike="noStrike" kern="100" baseline="0" dirty="0" smtClean="0">
              <a:latin typeface="Arial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D0061-BF48-4C36-887C-8BD446FA7170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02845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金鑰對產生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金鑰對產生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key pair generation 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：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產生亂數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x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作為私密金鑰</a:t>
            </a:r>
            <a:r>
              <a:rPr lang="zh-TW" altLang="en-US" b="1" i="1" u="none" strike="noStrike" kern="100" baseline="0" dirty="0" smtClean="0">
                <a:latin typeface="Arial"/>
                <a:ea typeface="標楷體"/>
              </a:rPr>
              <a:t>，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1</a:t>
            </a:r>
            <a:r>
              <a:rPr lang="zh-TW" altLang="en-US" b="1" i="1" u="none" strike="noStrike" kern="100" baseline="0" dirty="0" smtClean="0">
                <a:latin typeface="標楷體"/>
                <a:ea typeface="標楷體"/>
              </a:rPr>
              <a:t>≦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x</a:t>
            </a:r>
            <a:r>
              <a:rPr lang="zh-TW" altLang="en-US" b="1" i="1" u="none" strike="noStrike" kern="100" baseline="0" dirty="0" smtClean="0">
                <a:latin typeface="標楷體"/>
                <a:ea typeface="標楷體"/>
              </a:rPr>
              <a:t> ≦</a:t>
            </a:r>
            <a:r>
              <a:rPr lang="en-US" altLang="zh-TW" b="1" i="1" u="none" strike="noStrike" kern="100" baseline="0" dirty="0" smtClean="0">
                <a:latin typeface="標楷體"/>
                <a:ea typeface="標楷體"/>
              </a:rPr>
              <a:t>q-1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計算公開金鑰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y = </a:t>
            </a:r>
            <a:r>
              <a:rPr lang="en-US" altLang="zh-TW" b="1" i="1" u="none" strike="noStrike" kern="100" baseline="0" dirty="0" err="1" smtClean="0">
                <a:latin typeface="Arial"/>
                <a:ea typeface="標楷體"/>
              </a:rPr>
              <a:t>g</a:t>
            </a:r>
            <a:r>
              <a:rPr lang="en-US" altLang="zh-TW" b="1" i="1" u="none" strike="noStrike" kern="100" baseline="30000" dirty="0" err="1" smtClean="0">
                <a:latin typeface="Arial"/>
                <a:ea typeface="標楷體"/>
              </a:rPr>
              <a:t>x</a:t>
            </a:r>
            <a:r>
              <a:rPr lang="zh-TW" altLang="en-US" b="1" i="1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mod p</a:t>
            </a:r>
          </a:p>
          <a:p>
            <a:pPr lv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lvl="0"/>
            <a:endParaRPr lang="en-US" altLang="zh-TW" b="1" i="0" u="none" strike="noStrike" kern="100" baseline="0" dirty="0" smtClean="0">
              <a:latin typeface="Arial"/>
              <a:ea typeface="標楷體"/>
            </a:endParaRPr>
          </a:p>
          <a:p>
            <a:pPr lv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lv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8DAEE-A2C0-441A-8D77-628C4EC0C7FB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23870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簽章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簽章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signing 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：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產生亂數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k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1</a:t>
            </a:r>
            <a:r>
              <a:rPr lang="zh-TW" altLang="en-US" b="1" i="0" u="none" strike="noStrike" kern="100" baseline="0" dirty="0" smtClean="0">
                <a:latin typeface="標楷體"/>
                <a:ea typeface="標楷體"/>
              </a:rPr>
              <a:t>≦ </a:t>
            </a:r>
            <a:r>
              <a:rPr lang="en-US" altLang="zh-TW" b="1" i="1" u="none" strike="noStrike" kern="100" baseline="0" dirty="0" smtClean="0">
                <a:latin typeface="標楷體"/>
                <a:ea typeface="標楷體"/>
              </a:rPr>
              <a:t>k </a:t>
            </a:r>
            <a:r>
              <a:rPr lang="zh-TW" altLang="en-US" b="1" i="0" u="none" strike="noStrike" kern="100" baseline="0" dirty="0" smtClean="0">
                <a:latin typeface="標楷體"/>
                <a:ea typeface="標楷體"/>
              </a:rPr>
              <a:t>≦</a:t>
            </a:r>
            <a:r>
              <a:rPr lang="en-US" altLang="zh-TW" b="1" i="0" u="none" strike="noStrike" kern="100" baseline="0" dirty="0" smtClean="0">
                <a:latin typeface="標楷體"/>
                <a:ea typeface="標楷體"/>
              </a:rPr>
              <a:t>q-1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計算 </a:t>
            </a:r>
            <a:r>
              <a:rPr lang="da-DK" altLang="zh-TW" b="1" i="1" u="none" strike="noStrike" kern="100" baseline="0" dirty="0" smtClean="0">
                <a:latin typeface="Arial"/>
                <a:ea typeface="標楷體"/>
              </a:rPr>
              <a:t>r = (g</a:t>
            </a:r>
            <a:r>
              <a:rPr lang="da-DK" altLang="zh-TW" b="1" i="1" u="none" strike="noStrike" kern="100" baseline="30000" dirty="0" smtClean="0">
                <a:latin typeface="Arial"/>
                <a:ea typeface="標楷體"/>
              </a:rPr>
              <a:t>k </a:t>
            </a:r>
            <a:r>
              <a:rPr lang="da-DK" altLang="zh-TW" b="1" i="1" u="none" strike="noStrike" kern="100" baseline="0" dirty="0" smtClean="0">
                <a:latin typeface="Arial"/>
                <a:ea typeface="標楷體"/>
              </a:rPr>
              <a:t>mod p) mod q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如果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r = 0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回到步驟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1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計算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s = k</a:t>
            </a:r>
            <a:r>
              <a:rPr lang="en-US" altLang="zh-TW" b="1" i="1" u="none" strike="noStrike" kern="100" baseline="30000" dirty="0" smtClean="0">
                <a:latin typeface="Arial"/>
                <a:ea typeface="標楷體"/>
              </a:rPr>
              <a:t>-1</a:t>
            </a:r>
            <a:r>
              <a:rPr lang="zh-TW" altLang="en-US" b="1" i="1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(H(M) + </a:t>
            </a:r>
            <a:r>
              <a:rPr lang="en-US" altLang="zh-TW" b="1" i="1" u="none" strike="noStrike" kern="100" baseline="0" dirty="0" err="1" smtClean="0">
                <a:latin typeface="Arial"/>
                <a:ea typeface="標楷體"/>
              </a:rPr>
              <a:t>xr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) mod q</a:t>
            </a:r>
          </a:p>
          <a:p>
            <a:pPr lv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r, s)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即是訊息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M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的簽章</a:t>
            </a:r>
          </a:p>
          <a:p>
            <a:pPr lv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D8548-404B-4A80-81C5-08C4AC8D17CA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210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驗章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驗章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verification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：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檢查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r</a:t>
            </a:r>
            <a:r>
              <a:rPr lang="zh-TW" altLang="en-US" b="1" i="1" u="none" strike="noStrike" kern="100" baseline="0" dirty="0" smtClean="0">
                <a:latin typeface="Arial"/>
                <a:ea typeface="標楷體"/>
              </a:rPr>
              <a:t>、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是否符合：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1</a:t>
            </a:r>
            <a:r>
              <a:rPr lang="zh-TW" altLang="en-US" b="1" i="1" u="none" strike="noStrike" kern="100" baseline="0" dirty="0" smtClean="0">
                <a:latin typeface="標楷體"/>
                <a:ea typeface="標楷體"/>
              </a:rPr>
              <a:t>≦ </a:t>
            </a:r>
            <a:r>
              <a:rPr lang="en-US" altLang="zh-TW" b="1" i="1" u="none" strike="noStrike" kern="100" baseline="0" dirty="0" smtClean="0">
                <a:latin typeface="標楷體"/>
                <a:ea typeface="標楷體"/>
              </a:rPr>
              <a:t>r </a:t>
            </a:r>
            <a:r>
              <a:rPr lang="zh-TW" altLang="en-US" b="1" i="1" u="none" strike="noStrike" kern="100" baseline="0" dirty="0" smtClean="0">
                <a:latin typeface="標楷體"/>
                <a:ea typeface="標楷體"/>
              </a:rPr>
              <a:t>≦</a:t>
            </a:r>
            <a:r>
              <a:rPr lang="en-US" altLang="zh-TW" b="1" i="1" u="none" strike="noStrike" kern="100" baseline="0" dirty="0" smtClean="0">
                <a:latin typeface="標楷體"/>
                <a:ea typeface="標楷體"/>
              </a:rPr>
              <a:t>q-1</a:t>
            </a:r>
            <a:r>
              <a:rPr lang="zh-TW" altLang="en-US" b="1" i="1" u="none" strike="noStrike" kern="100" baseline="0" dirty="0" smtClean="0">
                <a:latin typeface="標楷體"/>
                <a:ea typeface="標楷體"/>
              </a:rPr>
              <a:t>；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1</a:t>
            </a:r>
            <a:r>
              <a:rPr lang="zh-TW" altLang="en-US" b="1" i="1" u="none" strike="noStrike" kern="100" baseline="0" dirty="0" smtClean="0">
                <a:latin typeface="標楷體"/>
                <a:ea typeface="標楷體"/>
              </a:rPr>
              <a:t>≦ </a:t>
            </a:r>
            <a:r>
              <a:rPr lang="en-US" altLang="zh-TW" b="1" i="1" u="none" strike="noStrike" kern="100" baseline="0" dirty="0" smtClean="0">
                <a:latin typeface="標楷體"/>
                <a:ea typeface="標楷體"/>
              </a:rPr>
              <a:t>s </a:t>
            </a:r>
            <a:r>
              <a:rPr lang="zh-TW" altLang="en-US" b="1" i="1" u="none" strike="noStrike" kern="100" baseline="0" dirty="0" smtClean="0">
                <a:latin typeface="標楷體"/>
                <a:ea typeface="標楷體"/>
              </a:rPr>
              <a:t>≦</a:t>
            </a:r>
            <a:r>
              <a:rPr lang="en-US" altLang="zh-TW" b="1" i="1" u="none" strike="noStrike" kern="100" baseline="0" dirty="0" smtClean="0">
                <a:latin typeface="標楷體"/>
                <a:ea typeface="標楷體"/>
              </a:rPr>
              <a:t>q-1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計算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w = s</a:t>
            </a:r>
            <a:r>
              <a:rPr lang="en-US" altLang="zh-TW" b="1" i="1" u="none" strike="noStrike" kern="100" baseline="30000" dirty="0" smtClean="0">
                <a:latin typeface="Arial"/>
                <a:ea typeface="標楷體"/>
              </a:rPr>
              <a:t>-1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mod q 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計算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u</a:t>
            </a:r>
            <a:r>
              <a:rPr lang="en-US" altLang="zh-TW" b="1" i="1" u="none" strike="noStrike" kern="100" baseline="-25000" dirty="0" smtClean="0">
                <a:latin typeface="Arial"/>
                <a:ea typeface="標楷體"/>
              </a:rPr>
              <a:t>1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= H(M)w mod q</a:t>
            </a:r>
            <a:r>
              <a:rPr lang="zh-TW" altLang="en-US" b="1" i="1" u="none" strike="noStrike" kern="100" baseline="0" dirty="0" smtClean="0">
                <a:latin typeface="Arial"/>
                <a:ea typeface="標楷體"/>
              </a:rPr>
              <a:t>；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u</a:t>
            </a:r>
            <a:r>
              <a:rPr lang="en-US" altLang="zh-TW" b="1" i="1" u="none" strike="noStrike" kern="100" baseline="-25000" dirty="0" smtClean="0">
                <a:latin typeface="Arial"/>
                <a:ea typeface="標楷體"/>
              </a:rPr>
              <a:t>2</a:t>
            </a:r>
            <a:r>
              <a:rPr lang="zh-TW" altLang="en-US" b="1" i="1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= r w mod q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計算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v</a:t>
            </a:r>
            <a:r>
              <a:rPr lang="da-DK" altLang="zh-TW" b="1" i="1" u="none" strike="noStrike" kern="100" baseline="0" dirty="0" smtClean="0">
                <a:latin typeface="Arial"/>
                <a:ea typeface="標楷體"/>
              </a:rPr>
              <a:t> = (g</a:t>
            </a:r>
            <a:r>
              <a:rPr lang="da-DK" altLang="zh-TW" b="1" i="1" u="none" strike="noStrike" kern="100" baseline="30000" dirty="0" smtClean="0">
                <a:latin typeface="Arial"/>
                <a:ea typeface="標楷體"/>
              </a:rPr>
              <a:t>u1</a:t>
            </a:r>
            <a:r>
              <a:rPr lang="da-DK" altLang="zh-TW" b="1" i="1" u="none" strike="noStrike" kern="100" baseline="0" dirty="0" smtClean="0">
                <a:latin typeface="Arial"/>
                <a:ea typeface="標楷體"/>
              </a:rPr>
              <a:t>y</a:t>
            </a:r>
            <a:r>
              <a:rPr lang="da-DK" altLang="zh-TW" b="1" i="1" u="none" strike="noStrike" kern="100" baseline="30000" dirty="0" smtClean="0">
                <a:latin typeface="Arial"/>
                <a:ea typeface="標楷體"/>
              </a:rPr>
              <a:t>u2 </a:t>
            </a:r>
            <a:r>
              <a:rPr lang="da-DK" altLang="zh-TW" b="1" i="1" u="none" strike="noStrike" kern="100" baseline="0" dirty="0" smtClean="0">
                <a:latin typeface="Arial"/>
                <a:ea typeface="標楷體"/>
              </a:rPr>
              <a:t>mod p) mod q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判斷是否 </a:t>
            </a:r>
            <a:r>
              <a:rPr lang="en-US" altLang="zh-TW" b="1" i="1" u="none" strike="noStrike" kern="100" baseline="0" dirty="0" smtClean="0">
                <a:latin typeface="Arial"/>
                <a:ea typeface="標楷體"/>
              </a:rPr>
              <a:t>v = r</a:t>
            </a:r>
            <a:r>
              <a:rPr lang="zh-TW" altLang="en-US" b="1" i="1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；若相等，則驗章成功。</a:t>
            </a:r>
            <a:endParaRPr lang="zh-TW" altLang="en-US" b="1" i="1" u="none" strike="noStrike" kern="100" baseline="0" dirty="0" smtClean="0">
              <a:latin typeface="Times New Roman"/>
              <a:ea typeface="標楷體"/>
            </a:endParaRP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C7B48-1C6E-48AC-80B4-A1D5272DA51F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57605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5.6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雜湊函數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密碼雜湊函數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cryptographic hash functions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或稱為單向雜湊函數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one-way hash functions 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，簡稱為雜湊函數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hash functions 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，是密碼學的另一個重要的基本元件。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雜湊函數可以將一個任意長度的資料，計算出一小段的特徵值 ── 稱為訊息摘要，作為原資料的標識，以驗證該資料的完整性。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如圖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5-13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，不同長度之訊息，經過雜湊函數的運算後，皆會得到相同長度的訊息摘要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message digest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── 或稱為訊息指紋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message fingerprint 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。在應用上，雜湊函數可用來驗證文件的完整性。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9A4E1-C336-45B8-9785-DC396A8B71BC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42984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3347864" y="4805785"/>
            <a:ext cx="27180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 5-13 </a:t>
            </a:r>
            <a:r>
              <a:rPr lang="en-US" altLang="zh-TW" dirty="0" smtClean="0"/>
              <a:t> SHA-1 </a:t>
            </a:r>
            <a:r>
              <a:rPr lang="zh-TW" altLang="zh-TW" dirty="0" smtClean="0"/>
              <a:t>雜湊函數</a:t>
            </a:r>
            <a:endParaRPr lang="zh-TW" altLang="zh-TW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37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1" y="2388111"/>
            <a:ext cx="8136905" cy="210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6353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雜湊演算法安全性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美國國家標準技術局認證之雜湊函數有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SHA-1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和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SHA-2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雜湊演算法。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SHA-2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是一個雜湊函數家族，包含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SHA-224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、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SHA-256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、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SHA-384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和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SHA-512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等演算法。這些演算法之所以稱為「安全的」是基於以下兩點：</a:t>
            </a:r>
          </a:p>
          <a:p>
            <a:pPr lv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從理論上，由訊息摘要反推原輸入訊息是很困難的。</a:t>
            </a:r>
          </a:p>
          <a:p>
            <a:pPr lv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從理論上，要找到兩組不同的訊息使之對應到相同的訊息摘要是很困難的。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81A6D-6642-4AB4-A1D5-D5A2E5E8E970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30646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5.7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密碼技術應用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密碼技術的應用層次，可以分為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圖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5-14)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：</a:t>
            </a:r>
            <a:endParaRPr lang="en-US" altLang="zh-TW" b="1" i="0" u="none" strike="noStrike" kern="100" baseline="0" dirty="0" smtClean="0">
              <a:latin typeface="Arial"/>
              <a:ea typeface="標楷體"/>
            </a:endParaRPr>
          </a:p>
          <a:p>
            <a:pPr lvl="1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最底層是數學運算方法，由於密碼技術需要大量與快速的數學運算，因此數學計算基礎非常重要。</a:t>
            </a:r>
          </a:p>
          <a:p>
            <a:pPr lvl="1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往上一層是加密演算法，是計算加解密的核心。</a:t>
            </a:r>
          </a:p>
          <a:p>
            <a:pPr lvl="1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再上一層是標準格式，因密碼運算的結果與功能，需要有利於互相交換訊息，若格式不相容，則無法廣泛交換訊息，例如，由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RSA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公司制定一系列公開金鑰密碼標準稱為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PKCS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# 1 ~ PKCS # 15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，做為資料交換標準格式。</a:t>
            </a:r>
          </a:p>
          <a:p>
            <a:pPr lvl="1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最上層為應用系統，例如：安全套接層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Secure Socket Layer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；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SSL 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是廣泛應用於網頁加密的安全傳輸協定，我們使用安全網頁協定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HTTPS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，其底層即為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SSL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加密機制。</a:t>
            </a:r>
          </a:p>
          <a:p>
            <a:pPr marR="0" lvl="0" rt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marR="0" lvl="0" rt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21542-C3C2-4E98-BD0C-FB1B6694233D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72270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3313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772816"/>
            <a:ext cx="4248472" cy="2476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3491880" y="4437112"/>
            <a:ext cx="27895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 5-14 </a:t>
            </a:r>
            <a:r>
              <a:rPr lang="zh-TW" altLang="zh-TW" dirty="0"/>
              <a:t>密碼技術應用層次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17325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dirty="0" smtClean="0">
                <a:latin typeface="Arial"/>
                <a:ea typeface="標楷體"/>
              </a:rPr>
              <a:t>5.7.1 </a:t>
            </a:r>
            <a:r>
              <a:rPr lang="zh-TW" altLang="en-US" b="1" i="0" u="none" strike="noStrike" kern="2600" baseline="0" dirty="0" smtClean="0">
                <a:latin typeface="Arial"/>
                <a:ea typeface="標楷體"/>
              </a:rPr>
              <a:t>雜湊函數保護密碼檔</a:t>
            </a:r>
            <a:endParaRPr lang="zh-TW" altLang="en-US" b="1" i="0" u="none" strike="noStrike" kern="2600" baseline="0" dirty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電腦作業系統的權限管理常使用用戶的帳號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user name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與密碼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password 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之組合，以便驗證登入系統的使用者身分。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但計算機管理系統如果保存每一個用戶的帳號與密碼在檔案中，如圖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5-15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所示，作為登入系統的密碼比對依據，這樣是相當危險的，因為會被系統管理人員或其他人窺視密碼，甚至冒用合法用戶的帳號與密碼。</a:t>
            </a:r>
          </a:p>
          <a:p>
            <a:pPr marR="0" lvl="0" rt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172C6-609D-4795-8216-33D1AD448B7D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44203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781104"/>
              </p:ext>
            </p:extLst>
          </p:nvPr>
        </p:nvGraphicFramePr>
        <p:xfrm>
          <a:off x="2411760" y="1988839"/>
          <a:ext cx="4032448" cy="1296144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6428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9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使用者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密碼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/>
                          <a:ea typeface="標楷體"/>
                        </a:rPr>
                        <a:t>John</a:t>
                      </a:r>
                      <a:endParaRPr lang="zh-TW" sz="1800" kern="100">
                        <a:effectLst/>
                        <a:latin typeface="Times New Roman"/>
                        <a:ea typeface="標楷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/>
                          <a:ea typeface="標楷體"/>
                        </a:rPr>
                        <a:t>John871635</a:t>
                      </a:r>
                      <a:endParaRPr lang="zh-TW" sz="1800" kern="100" dirty="0">
                        <a:effectLst/>
                        <a:latin typeface="Times New Roman"/>
                        <a:ea typeface="標楷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/>
                          <a:ea typeface="標楷體"/>
                        </a:rPr>
                        <a:t>Lily</a:t>
                      </a:r>
                      <a:endParaRPr lang="zh-TW" sz="1800" kern="100">
                        <a:effectLst/>
                        <a:latin typeface="Times New Roman"/>
                        <a:ea typeface="標楷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/>
                          <a:ea typeface="標楷體"/>
                        </a:rPr>
                        <a:t>Cd04d73sasDw243</a:t>
                      </a:r>
                      <a:endParaRPr lang="zh-TW" sz="1800" kern="100" dirty="0">
                        <a:effectLst/>
                        <a:latin typeface="Times New Roman"/>
                        <a:ea typeface="標楷體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3378302" y="3444333"/>
            <a:ext cx="23278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 5-15 </a:t>
            </a:r>
            <a:r>
              <a:rPr lang="zh-TW" altLang="zh-TW" dirty="0"/>
              <a:t>儲存密碼檔案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9009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0" u="none" strike="noStrike" kern="2600" baseline="0" dirty="0" smtClean="0">
                <a:latin typeface="Arial"/>
                <a:ea typeface="標楷體"/>
              </a:rPr>
              <a:t>5.7.1 </a:t>
            </a:r>
            <a:r>
              <a:rPr lang="zh-TW" altLang="en-US" b="1" i="0" u="none" strike="noStrike" kern="2600" baseline="0" dirty="0" smtClean="0">
                <a:latin typeface="Arial"/>
                <a:ea typeface="標楷體"/>
              </a:rPr>
              <a:t>雜湊函數保護密碼檔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5288" y="1417638"/>
            <a:ext cx="8497887" cy="4708525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使用密碼技術及雜湊函數，可以解決此</a:t>
            </a:r>
            <a:r>
              <a:rPr lang="zh-TW" altLang="en-US" b="1" kern="100" dirty="0">
                <a:latin typeface="Arial"/>
              </a:rPr>
              <a:t>問題；即是所謂的加鹽雜湊法</a:t>
            </a:r>
            <a:r>
              <a:rPr lang="en-US" altLang="zh-TW" b="1" kern="100" dirty="0">
                <a:latin typeface="Arial"/>
              </a:rPr>
              <a:t>( salted hash method )</a:t>
            </a:r>
            <a:r>
              <a:rPr lang="zh-TW" altLang="en-US" b="1" kern="100" dirty="0" smtClean="0">
                <a:latin typeface="Arial"/>
              </a:rPr>
              <a:t>。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採用這種方法，即使儲存密碼的檔案被窺視，非法者也無法冒用帳號與密碼。</a:t>
            </a:r>
            <a:endParaRPr lang="en-US" altLang="zh-TW" b="1" i="0" u="none" strike="noStrike" kern="100" baseline="0" dirty="0" smtClean="0">
              <a:latin typeface="Arial"/>
              <a:ea typeface="標楷體"/>
            </a:endParaRP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如圖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5-16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架構，建立使用者帳號時，將使用者的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User Name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寫入檔案，再寫入建立帳號時之參數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如建立帳號、日期等資料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，並採用雜湊函數計算參數、與密碼等資料的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密碼訊息摘要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，儲存於檔案中。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使用者登入時，系統分別比對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User Name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以及其對應的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密碼訊息摘要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，若兩者比對皆符合，則登入成功；否則，登入失敗。即使此檔案被窺視或竊取，單從密碼訊息摘要，並無法猜出正確的密碼，因此無法冒名登入系統。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2F04-6013-472F-A423-428567946909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61997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3" name="物件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0584483"/>
              </p:ext>
            </p:extLst>
          </p:nvPr>
        </p:nvGraphicFramePr>
        <p:xfrm>
          <a:off x="1529087" y="1124744"/>
          <a:ext cx="6085825" cy="3888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7" r:id="rId3" imgW="8626983" imgH="5505069" progId="">
                  <p:embed/>
                </p:oleObj>
              </mc:Choice>
              <mc:Fallback>
                <p:oleObj r:id="rId3" imgW="8626983" imgH="5505069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087" y="1124744"/>
                        <a:ext cx="6085825" cy="38884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2483768" y="522920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 5-16 </a:t>
            </a:r>
            <a:r>
              <a:rPr lang="zh-TW" altLang="zh-TW" dirty="0"/>
              <a:t>採用雜湊函數保護密碼檔案的</a:t>
            </a:r>
            <a:r>
              <a:rPr lang="zh-TW" altLang="zh-TW" dirty="0" smtClean="0"/>
              <a:t>架構</a:t>
            </a:r>
            <a:endParaRPr lang="zh-TW" altLang="zh-TW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44031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5.7.2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數位簽章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R="0" lvl="0" rtl="0"/>
            <a:r>
              <a:rPr lang="zh-TW" altLang="en-US" b="1" i="0" u="none" strike="noStrike" kern="100" baseline="0" smtClean="0">
                <a:latin typeface="Arial"/>
                <a:ea typeface="標楷體"/>
              </a:rPr>
              <a:t>數位簽章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digital signature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已經廣泛被應用於電腦網路以及電子商務，作為訊息完整性驗證的工具。如圖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5-17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，數位簽章的計算，首先，送訊者將訊息內容使用湊雜函數計算出其訊息摘要。</a:t>
            </a:r>
          </a:p>
          <a:p>
            <a:pPr marR="0" lvl="0" rtl="0"/>
            <a:r>
              <a:rPr lang="zh-TW" altLang="en-US" b="1" i="0" u="none" strike="noStrike" kern="100" baseline="0" smtClean="0">
                <a:latin typeface="Arial"/>
                <a:ea typeface="標楷體"/>
              </a:rPr>
              <a:t>接著，使用其私密金鑰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private key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將此訊息摘要進行簽章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 簽章在實務應用是使用私密金鑰對訊息摘要加密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，即得到此訊息的數位簽章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( digital signature )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 ── 簽章值。送訊者，再將此簽章值與訊息本文一起傳送給收訊者。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( 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註：此時，此簽章值僅能使用送訊者的公開金鑰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public key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 才可驗章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。</a:t>
            </a:r>
          </a:p>
          <a:p>
            <a:pPr marR="0" lvl="0" rtl="0"/>
            <a:endParaRPr lang="zh-TW" altLang="en-US" b="1" i="0" u="none" strike="noStrike" kern="100" baseline="0" smtClean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smtClean="0">
                <a:latin typeface="Arial"/>
                <a:ea typeface="標楷體"/>
              </a:rPr>
              <a:t>當收訊者收到簽章值與訊息本文之後，利用送訊者的公開金鑰即可以將簽章值解開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解簽章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，還原得到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舊的訊息摘要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。</a:t>
            </a:r>
          </a:p>
          <a:p>
            <a:pPr marR="0" lvl="0" rtl="0"/>
            <a:r>
              <a:rPr lang="zh-TW" altLang="en-US" b="1" i="0" u="none" strike="noStrike" kern="100" baseline="0" smtClean="0">
                <a:latin typeface="Arial"/>
                <a:ea typeface="標楷體"/>
              </a:rPr>
              <a:t>另一方面，收訊者也同時利用雜湊函數對訊息本文計算出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新的訊息摘要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。接著，收訊者把新的訊息摘將與舊的訊息摘要進行比對，若兩者相同，則驗章成功；代表訊息未遭受竄改，具有完整性。</a:t>
            </a:r>
            <a:endParaRPr lang="zh-TW" altLang="en-US" b="1" i="0" u="none" strike="noStrike" kern="100" baseline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CE54-7B60-45AC-B0C0-3EB50B3DC0B1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19172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75856" y="4725144"/>
            <a:ext cx="32512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 5-17 </a:t>
            </a:r>
            <a:r>
              <a:rPr lang="zh-TW" altLang="zh-TW" dirty="0"/>
              <a:t>簽章與驗章流程示意圖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46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813" y="980728"/>
            <a:ext cx="5973490" cy="366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1970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5.7.3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數位信封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R="0" lvl="0" rtl="0"/>
            <a:r>
              <a:rPr lang="zh-TW" altLang="en-US" b="1" i="0" u="none" strike="noStrike" kern="100" baseline="0" smtClean="0">
                <a:latin typeface="Arial"/>
                <a:ea typeface="標楷體"/>
              </a:rPr>
              <a:t>數位信封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digital envelop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的概念就是結合此兩種演算法的優點。數位信封是指利用密碼學方法，使用收訊人的公開金鑰對某些機密資料做加密，收訊人收到後再使用自己的私密金鑰解密而讀取該機密資料。除非擁有正確的私密金鑰，其他人即使取得該密文也無法解密，就如同將資料以信封封裝好，只有收訊人才能拆開信封。</a:t>
            </a:r>
          </a:p>
          <a:p>
            <a:pPr marR="0" lvl="0" rtl="0"/>
            <a:endParaRPr lang="zh-TW" altLang="en-US" b="1" i="0" u="none" strike="noStrike" kern="100" baseline="0" smtClean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smtClean="0">
                <a:latin typeface="Arial"/>
                <a:ea typeface="標楷體"/>
              </a:rPr>
              <a:t>首先，產生一把對稱演算法之對稱式機密金鑰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secret key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，利用對稱式演算法加密速度較快的優點，來對訊息本文加密。再將此一把對稱式機密金鑰，利用公開金鑰加密技術來加密 ── 得到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加密值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，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 註：如同製作了一個數位信封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。再將加密過的訊息本文與加密值一起傳送，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 註：如同兩者都一起放入數位信封內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，如此可以提高訊息本文加密處理的效率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圖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5-18)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。</a:t>
            </a:r>
          </a:p>
          <a:p>
            <a:pPr marR="0" lvl="0" rtl="0"/>
            <a:r>
              <a:rPr lang="zh-TW" altLang="en-US" b="1" i="0" u="none" strike="noStrike" kern="100" baseline="0" smtClean="0">
                <a:latin typeface="Arial"/>
                <a:ea typeface="標楷體"/>
              </a:rPr>
              <a:t>當收訊者收到數位信封之後，拆開來分成兩個部分解密：先用自己的私密金鑰解開加密值得到了機密金鑰，接著，再使用此機密金鑰，去解開被加密的文件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 圖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5-19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。</a:t>
            </a:r>
            <a:endParaRPr lang="zh-TW" altLang="en-US" b="1" i="0" u="none" strike="noStrike" kern="100" baseline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4FCCE-3D1F-438E-8833-BC215AA9101C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39139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220072" y="4869160"/>
            <a:ext cx="35702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 5-19</a:t>
            </a:r>
            <a:r>
              <a:rPr lang="zh-TW" altLang="zh-TW" dirty="0"/>
              <a:t>數位信封之應用</a:t>
            </a:r>
            <a:r>
              <a:rPr lang="en-US" altLang="zh-TW" dirty="0"/>
              <a:t>(</a:t>
            </a:r>
            <a:r>
              <a:rPr lang="zh-TW" altLang="zh-TW" dirty="0"/>
              <a:t>解密流程</a:t>
            </a:r>
            <a:r>
              <a:rPr lang="en-US" altLang="zh-TW" dirty="0"/>
              <a:t>)</a:t>
            </a:r>
            <a:endParaRPr lang="zh-TW" altLang="zh-TW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48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556792"/>
            <a:ext cx="3504762" cy="2904762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126" y="1772816"/>
            <a:ext cx="3895238" cy="286666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154276" y="4866480"/>
            <a:ext cx="36231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 5-18 </a:t>
            </a:r>
            <a:r>
              <a:rPr lang="zh-TW" altLang="zh-TW" dirty="0"/>
              <a:t>數位信封之應用</a:t>
            </a:r>
            <a:r>
              <a:rPr lang="en-US" altLang="zh-TW" dirty="0"/>
              <a:t>(</a:t>
            </a:r>
            <a:r>
              <a:rPr lang="zh-TW" altLang="zh-TW" dirty="0"/>
              <a:t>加密流程</a:t>
            </a:r>
            <a:r>
              <a:rPr lang="en-US" altLang="zh-TW" dirty="0"/>
              <a:t>)</a:t>
            </a:r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2586545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5.7.4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數位憑證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數位憑證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digital certificate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，用來辨識使用者的身分，數位憑證內含有憑證持有者的公開金鑰。憑證持有者另外擁有相對的私密金鑰，而私密金鑰以密碼保護。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數位憑證是一份編碼檔案，在個人電腦上檢視如圖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5-20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所示，這些資訊是可以公開的，紀錄持有者的公開金鑰對，一般公告於公正第三者 ── 憑證機構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Certification Authority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；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CA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網路上其他人若要傳送資料或檔案給憑證持有人，可以使用其憑證內之公開金鑰，使用數位信封的技術，將檔案製成數位信封，然後傳送給收訊者。若非憑証持有人，無法解開數位信封。因此，可以達到資料或檔案機密傳送的目的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與憑證內公開金鑰相對應的私密金鑰，可以儲存為檔案或儲存在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IC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卡中，圖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5-21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，為自然人憑證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IC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卡，內含有持卡人的私密金鑰，並以密碼保護之。</a:t>
            </a:r>
          </a:p>
          <a:p>
            <a:pPr marR="0" lvl="0" rt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7086B-7D8F-4C00-9803-6323865C1C17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22123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188781"/>
            <a:ext cx="3181970" cy="3657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902700" y="5210833"/>
            <a:ext cx="23278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 5-20 </a:t>
            </a:r>
            <a:r>
              <a:rPr lang="zh-TW" altLang="zh-TW" dirty="0"/>
              <a:t>憑證資訊瀏覽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327138"/>
            <a:ext cx="2413836" cy="1461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4970264" y="5049966"/>
            <a:ext cx="26148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 5-21 </a:t>
            </a:r>
            <a:r>
              <a:rPr lang="zh-TW" altLang="zh-TW" dirty="0"/>
              <a:t>自然人憑證</a:t>
            </a:r>
            <a:r>
              <a:rPr lang="en-US" altLang="zh-TW" dirty="0"/>
              <a:t> IC </a:t>
            </a:r>
            <a:r>
              <a:rPr lang="zh-TW" altLang="zh-TW" dirty="0" smtClean="0"/>
              <a:t>卡</a:t>
            </a:r>
            <a:endParaRPr lang="zh-TW" altLang="zh-TW" dirty="0"/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C830-9FCF-4720-BF3B-B35B8D942CC3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33581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703847"/>
              </p:ext>
            </p:extLst>
          </p:nvPr>
        </p:nvGraphicFramePr>
        <p:xfrm>
          <a:off x="1907704" y="1628800"/>
          <a:ext cx="5400600" cy="3291840"/>
        </p:xfrm>
        <a:graphic>
          <a:graphicData uri="http://schemas.openxmlformats.org/drawingml/2006/table">
            <a:tbl>
              <a:tblPr/>
              <a:tblGrid>
                <a:gridCol w="2304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欄位名稱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說明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/>
                          <a:ea typeface="標楷體"/>
                        </a:rPr>
                        <a:t>Version</a:t>
                      </a:r>
                      <a:endParaRPr lang="zh-TW" sz="1800" kern="100" dirty="0">
                        <a:effectLst/>
                        <a:latin typeface="Times New Roman"/>
                        <a:ea typeface="標楷體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憑證格式的版本</a:t>
                      </a:r>
                      <a:r>
                        <a:rPr lang="en-US" sz="1800" kern="100" dirty="0">
                          <a:effectLst/>
                          <a:latin typeface="Times New Roman"/>
                          <a:ea typeface="標楷體"/>
                        </a:rPr>
                        <a:t> v3(2)</a:t>
                      </a:r>
                      <a:endParaRPr lang="zh-TW" sz="1800" kern="100" dirty="0">
                        <a:effectLst/>
                        <a:latin typeface="Times New Roman"/>
                        <a:ea typeface="標楷體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  <a:latin typeface="Times New Roman"/>
                          <a:ea typeface="標楷體"/>
                        </a:rPr>
                        <a:t>SerialNumber</a:t>
                      </a:r>
                      <a:endParaRPr lang="zh-TW" sz="1800" kern="100" dirty="0">
                        <a:effectLst/>
                        <a:latin typeface="Times New Roman"/>
                        <a:ea typeface="標楷體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憑證序號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/>
                          <a:ea typeface="標楷體"/>
                        </a:rPr>
                        <a:t>Signature</a:t>
                      </a:r>
                      <a:endParaRPr lang="zh-TW" sz="1800" kern="100">
                        <a:effectLst/>
                        <a:latin typeface="Times New Roman"/>
                        <a:ea typeface="標楷體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簽章演算法之</a:t>
                      </a:r>
                      <a:r>
                        <a:rPr lang="en-US" sz="1800" kern="100" dirty="0" err="1">
                          <a:effectLst/>
                          <a:latin typeface="Times New Roman"/>
                          <a:ea typeface="標楷體"/>
                        </a:rPr>
                        <a:t>AlgorithmIdentifier</a:t>
                      </a:r>
                      <a:endParaRPr lang="zh-TW" sz="1800" kern="100" dirty="0">
                        <a:effectLst/>
                        <a:latin typeface="Times New Roman"/>
                        <a:ea typeface="標楷體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/>
                          <a:ea typeface="標楷體"/>
                        </a:rPr>
                        <a:t>Issuer</a:t>
                      </a:r>
                      <a:endParaRPr lang="zh-TW" sz="1800" kern="100">
                        <a:effectLst/>
                        <a:latin typeface="Times New Roman"/>
                        <a:ea typeface="標楷體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憑證簽發者（</a:t>
                      </a:r>
                      <a:r>
                        <a:rPr lang="en-US" sz="1800" kern="100" dirty="0">
                          <a:effectLst/>
                          <a:latin typeface="Times New Roman"/>
                          <a:ea typeface="標楷體"/>
                        </a:rPr>
                        <a:t>CA</a:t>
                      </a: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）的名稱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/>
                          <a:ea typeface="標楷體"/>
                        </a:rPr>
                        <a:t>Validity</a:t>
                      </a:r>
                      <a:endParaRPr lang="zh-TW" sz="1800" kern="100">
                        <a:effectLst/>
                        <a:latin typeface="Times New Roman"/>
                        <a:ea typeface="標楷體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憑證的有效期限（起始和終止）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/>
                          <a:ea typeface="標楷體"/>
                        </a:rPr>
                        <a:t>Subject</a:t>
                      </a:r>
                      <a:endParaRPr lang="zh-TW" sz="1800" kern="100">
                        <a:effectLst/>
                        <a:latin typeface="Times New Roman"/>
                        <a:ea typeface="標楷體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憑證主體（發證對象）的名稱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/>
                          <a:ea typeface="標楷體"/>
                        </a:rPr>
                        <a:t>SubjectPublicKeyInfo</a:t>
                      </a:r>
                      <a:endParaRPr lang="zh-TW" sz="1800" kern="100">
                        <a:effectLst/>
                        <a:latin typeface="Times New Roman"/>
                        <a:ea typeface="標楷體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憑證主體的公鑰資訊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/>
                          <a:ea typeface="標楷體"/>
                        </a:rPr>
                        <a:t>IssuerUniqueIdentifier</a:t>
                      </a:r>
                      <a:endParaRPr lang="zh-TW" sz="1800" kern="100">
                        <a:effectLst/>
                        <a:latin typeface="Times New Roman"/>
                        <a:ea typeface="標楷體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此欄位依</a:t>
                      </a:r>
                      <a:r>
                        <a:rPr lang="en-US" sz="1800" kern="100" dirty="0">
                          <a:effectLst/>
                          <a:latin typeface="Times New Roman"/>
                          <a:ea typeface="標楷體"/>
                        </a:rPr>
                        <a:t>PKIX</a:t>
                      </a: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規定不使用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/>
                          <a:ea typeface="標楷體"/>
                        </a:rPr>
                        <a:t>SubjectUniqueIdentifier</a:t>
                      </a:r>
                      <a:endParaRPr lang="zh-TW" sz="1800" kern="100">
                        <a:effectLst/>
                        <a:latin typeface="Times New Roman"/>
                        <a:ea typeface="標楷體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此欄位依</a:t>
                      </a:r>
                      <a:r>
                        <a:rPr lang="en-US" sz="1800" kern="100" dirty="0">
                          <a:effectLst/>
                          <a:latin typeface="Times New Roman"/>
                          <a:ea typeface="標楷體"/>
                        </a:rPr>
                        <a:t>PKIX</a:t>
                      </a: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規定不使用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/>
                          <a:ea typeface="標楷體"/>
                        </a:rPr>
                        <a:t>Extensions</a:t>
                      </a:r>
                      <a:endParaRPr lang="zh-TW" sz="1800" kern="100" dirty="0">
                        <a:effectLst/>
                        <a:latin typeface="Times New Roman"/>
                        <a:ea typeface="標楷體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/>
                          <a:ea typeface="標楷體"/>
                        </a:rPr>
                        <a:t>X.509 v3</a:t>
                      </a: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擴充欄位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3748920" y="836712"/>
            <a:ext cx="16962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表</a:t>
            </a:r>
            <a:r>
              <a:rPr lang="en-US" altLang="zh-TW" dirty="0"/>
              <a:t> 5-1</a:t>
            </a:r>
            <a:r>
              <a:rPr lang="zh-TW" altLang="zh-TW" dirty="0"/>
              <a:t>憑證內容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90539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dirty="0" smtClean="0">
                <a:latin typeface="Arial"/>
                <a:ea typeface="標楷體"/>
              </a:rPr>
              <a:t>5.7.5 </a:t>
            </a:r>
            <a:r>
              <a:rPr lang="zh-TW" altLang="en-US" b="1" i="0" u="none" strike="noStrike" kern="2600" baseline="0" dirty="0" smtClean="0">
                <a:latin typeface="Arial"/>
                <a:ea typeface="標楷體"/>
              </a:rPr>
              <a:t>網頁加密傳輸</a:t>
            </a:r>
            <a:endParaRPr lang="zh-TW" altLang="en-US" b="1" i="0" u="none" strike="noStrike" kern="2600" baseline="0" dirty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一般網頁伺服器與瀏覽器之間的溝通為明文傳輸，目前網頁瀏覽應用於電子商務已經非常盛行。傳輸資訊中，若包含有機密或敏感性資訊，如身分証號碼、信用卡號碼等資訊，網頁傳輸需要加密，以確保在伺服器與瀏覽器之間傳輸過程的安全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為了保護傳輸資料的私密性與完整性，採用安全套接層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Secure Socket Layer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；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SSL 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或傳輸層安全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Transport Layer Security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；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TLS)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做為安全通訊協定的標準。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網際網路的傳輸採用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TCP/IP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協定組，除了最底層的實體層之外，主要分為四層架構 ── 應用層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Application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Layer 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、傳輸層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Transport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Layer 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、網路層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Network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Layer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、與資料鏈結層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Data Link Layer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SSL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加密是建置在傳輸層之上、應用層之下，如圖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5-22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所示。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在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SSL/TLS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被啟動時，傳送的訊息將受加密的保護，使用的協定是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HTTPS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協定，同時，在網頁的網址列，會出現綠色上鎖的圖樣，如圖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5-23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所示。</a:t>
            </a:r>
          </a:p>
          <a:p>
            <a:pPr marR="0" lvl="0" rt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920AB-46E5-43C9-AFA3-6BF5ABECFB0E}" type="datetime1">
              <a:rPr lang="zh-TW" altLang="en-US" smtClean="0"/>
              <a:t>2023/4/3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32553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Fig 5-2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276872"/>
            <a:ext cx="3816424" cy="2337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651442" y="4797152"/>
            <a:ext cx="38411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 5-22 </a:t>
            </a:r>
            <a:r>
              <a:rPr lang="zh-TW" altLang="zh-TW" dirty="0"/>
              <a:t>網際網路階層與</a:t>
            </a:r>
            <a:r>
              <a:rPr lang="en-US" altLang="zh-TW" dirty="0"/>
              <a:t> SSL/TLS </a:t>
            </a:r>
            <a:r>
              <a:rPr lang="zh-TW" altLang="zh-TW" dirty="0"/>
              <a:t>關係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5968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813" y="2924944"/>
            <a:ext cx="6173747" cy="862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051720" y="4437112"/>
            <a:ext cx="55446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 5-23 SSL/TLS </a:t>
            </a:r>
            <a:r>
              <a:rPr lang="zh-TW" altLang="zh-TW" dirty="0"/>
              <a:t>啟動時，瀏覽器右下方顯示上鎖</a:t>
            </a:r>
            <a:r>
              <a:rPr lang="zh-TW" altLang="zh-TW" dirty="0" smtClean="0"/>
              <a:t>圖樣</a:t>
            </a:r>
            <a:endParaRPr lang="zh-TW" altLang="zh-TW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26332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5B874-31B1-49FA-8488-2111625C7C1C}" type="slidenum">
              <a:rPr lang="zh-TW" altLang="en-US" smtClean="0"/>
              <a:pPr/>
              <a:t>55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1501439"/>
            <a:ext cx="8471147" cy="379976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779912" y="5301208"/>
            <a:ext cx="2339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TW" altLang="zh-TW" kern="100" dirty="0">
                <a:latin typeface="Times New Roman" panose="02020603050405020304" pitchFamily="18" charset="0"/>
                <a:ea typeface="標楷體" panose="03000509000000000000" pitchFamily="65" charset="-120"/>
              </a:rPr>
              <a:t>圖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</a:rPr>
              <a:t> 5-24 </a:t>
            </a:r>
            <a:r>
              <a:rPr lang="zh-TW" altLang="zh-TW" kern="100" dirty="0">
                <a:latin typeface="Times New Roman" panose="02020603050405020304" pitchFamily="18" charset="0"/>
                <a:ea typeface="標楷體" panose="03000509000000000000" pitchFamily="65" charset="-120"/>
              </a:rPr>
              <a:t>區塊鏈示意圖</a:t>
            </a: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395288" y="274638"/>
            <a:ext cx="8435975" cy="850106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標楷體" pitchFamily="65" charset="-12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標楷體" pitchFamily="65" charset="-12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標楷體" pitchFamily="65" charset="-12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標楷體" pitchFamily="65" charset="-120"/>
              </a:defRPr>
            </a:lvl9pPr>
          </a:lstStyle>
          <a:p>
            <a:r>
              <a:rPr lang="en-US" altLang="zh-TW" b="1" kern="2600" dirty="0" smtClean="0">
                <a:latin typeface="Arial"/>
                <a:ea typeface="標楷體"/>
              </a:rPr>
              <a:t>5.7.6 </a:t>
            </a:r>
            <a:r>
              <a:rPr lang="zh-TW" altLang="en-US" b="1" kern="2600" dirty="0" smtClean="0">
                <a:latin typeface="Arial"/>
                <a:ea typeface="標楷體"/>
              </a:rPr>
              <a:t>區塊鏈</a:t>
            </a:r>
            <a:endParaRPr lang="zh-TW" altLang="en-US" b="1" kern="2600" dirty="0" smtClean="0">
              <a:latin typeface="Times New Roman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2098932694"/>
      </p:ext>
    </p:extLst>
  </p:cSld>
  <p:clrMapOvr>
    <a:masterClrMapping/>
  </p:clrMapOvr>
</p:sld>
</file>

<file path=ppt/theme/theme1.xml><?xml version="1.0" encoding="utf-8"?>
<a:theme xmlns:a="http://schemas.openxmlformats.org/drawingml/2006/main" name="ISLAB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SLAB" id="{78D3C854-0FA5-4D21-AB5C-31870DC13A2F}" vid="{9F0E795E-DA35-4776-B2ED-B53060D2A295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ISLAB</Template>
  <TotalTime>251</TotalTime>
  <Words>5263</Words>
  <Application>Microsoft Office PowerPoint</Application>
  <PresentationFormat>如螢幕大小 (4:3)</PresentationFormat>
  <Paragraphs>345</Paragraphs>
  <Slides>55</Slides>
  <Notes>1</Notes>
  <HiddenSlides>0</HiddenSlides>
  <MMClips>0</MMClips>
  <ScaleCrop>false</ScaleCrop>
  <HeadingPairs>
    <vt:vector size="8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0</vt:i4>
      </vt:variant>
      <vt:variant>
        <vt:lpstr>投影片標題</vt:lpstr>
      </vt:variant>
      <vt:variant>
        <vt:i4>55</vt:i4>
      </vt:variant>
    </vt:vector>
  </HeadingPairs>
  <TitlesOfParts>
    <vt:vector size="63" baseType="lpstr">
      <vt:lpstr>新細明體</vt:lpstr>
      <vt:lpstr>標楷體</vt:lpstr>
      <vt:lpstr>Arial</vt:lpstr>
      <vt:lpstr>Calibri</vt:lpstr>
      <vt:lpstr>Goudy Old Style</vt:lpstr>
      <vt:lpstr>Times New Roman</vt:lpstr>
      <vt:lpstr>Wingdings 2</vt:lpstr>
      <vt:lpstr>ISLAB</vt:lpstr>
      <vt:lpstr>第05章 密碼學概論</vt:lpstr>
      <vt:lpstr>第05章 密碼學概論</vt:lpstr>
      <vt:lpstr>5.1 簡介</vt:lpstr>
      <vt:lpstr>PowerPoint 簡報</vt:lpstr>
      <vt:lpstr>5.1 簡介</vt:lpstr>
      <vt:lpstr>PowerPoint 簡報</vt:lpstr>
      <vt:lpstr>5.1 簡介</vt:lpstr>
      <vt:lpstr>5.2 密碼演算法</vt:lpstr>
      <vt:lpstr>PowerPoint 簡報</vt:lpstr>
      <vt:lpstr>5.2 密碼演算法</vt:lpstr>
      <vt:lpstr>PowerPoint 簡報</vt:lpstr>
      <vt:lpstr>5.3 對稱式加密原理</vt:lpstr>
      <vt:lpstr>加密基本元件</vt:lpstr>
      <vt:lpstr>5.4 古典密碼演算法</vt:lpstr>
      <vt:lpstr>5.4.1 凱薩(Caesar)演算法</vt:lpstr>
      <vt:lpstr>PowerPoint 簡報</vt:lpstr>
      <vt:lpstr>5.4.2 柵欄(Rail Fence)演算法</vt:lpstr>
      <vt:lpstr>PowerPoint 簡報</vt:lpstr>
      <vt:lpstr>5.5.1 DES 演算法</vt:lpstr>
      <vt:lpstr>PowerPoint 簡報</vt:lpstr>
      <vt:lpstr>3DES 加解密範例</vt:lpstr>
      <vt:lpstr>PowerPoint 簡報</vt:lpstr>
      <vt:lpstr>5.5.2 AES 演算法</vt:lpstr>
      <vt:lpstr>PowerPoint 簡報</vt:lpstr>
      <vt:lpstr>AES 加密範例</vt:lpstr>
      <vt:lpstr>PowerPoint 簡報</vt:lpstr>
      <vt:lpstr>5.5.3 RSA 加密演算法</vt:lpstr>
      <vt:lpstr>金鑰對產生 </vt:lpstr>
      <vt:lpstr>訊息加密</vt:lpstr>
      <vt:lpstr>訊息解密</vt:lpstr>
      <vt:lpstr>PowerPoint 簡報</vt:lpstr>
      <vt:lpstr>5.5.4 DSA簽章演算法</vt:lpstr>
      <vt:lpstr>金鑰對產生</vt:lpstr>
      <vt:lpstr>簽章</vt:lpstr>
      <vt:lpstr>驗章</vt:lpstr>
      <vt:lpstr>5.6 雜湊函數</vt:lpstr>
      <vt:lpstr>PowerPoint 簡報</vt:lpstr>
      <vt:lpstr>雜湊演算法安全性</vt:lpstr>
      <vt:lpstr>5.7 密碼技術應用</vt:lpstr>
      <vt:lpstr>PowerPoint 簡報</vt:lpstr>
      <vt:lpstr>5.7.1 雜湊函數保護密碼檔</vt:lpstr>
      <vt:lpstr>PowerPoint 簡報</vt:lpstr>
      <vt:lpstr>5.7.1 雜湊函數保護密碼檔</vt:lpstr>
      <vt:lpstr>PowerPoint 簡報</vt:lpstr>
      <vt:lpstr>5.7.2 數位簽章</vt:lpstr>
      <vt:lpstr>PowerPoint 簡報</vt:lpstr>
      <vt:lpstr>5.7.3 數位信封</vt:lpstr>
      <vt:lpstr>PowerPoint 簡報</vt:lpstr>
      <vt:lpstr>5.7.4 數位憑證</vt:lpstr>
      <vt:lpstr>PowerPoint 簡報</vt:lpstr>
      <vt:lpstr>PowerPoint 簡報</vt:lpstr>
      <vt:lpstr>5.7.5 網頁加密傳輸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密碼學概論</dc:title>
  <dc:creator>東光一號</dc:creator>
  <cp:lastModifiedBy>User</cp:lastModifiedBy>
  <cp:revision>86</cp:revision>
  <dcterms:created xsi:type="dcterms:W3CDTF">2016-02-14T16:05:20Z</dcterms:created>
  <dcterms:modified xsi:type="dcterms:W3CDTF">2023-04-03T06:24:34Z</dcterms:modified>
</cp:coreProperties>
</file>