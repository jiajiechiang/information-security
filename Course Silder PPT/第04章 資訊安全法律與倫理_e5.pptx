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1" r:id="rId1"/>
  </p:sldMasterIdLst>
  <p:notesMasterIdLst>
    <p:notesMasterId r:id="rId28"/>
  </p:notesMasterIdLst>
  <p:sldIdLst>
    <p:sldId id="271" r:id="rId2"/>
    <p:sldId id="256" r:id="rId3"/>
    <p:sldId id="258" r:id="rId4"/>
    <p:sldId id="259" r:id="rId5"/>
    <p:sldId id="273" r:id="rId6"/>
    <p:sldId id="260" r:id="rId7"/>
    <p:sldId id="274" r:id="rId8"/>
    <p:sldId id="275" r:id="rId9"/>
    <p:sldId id="261" r:id="rId10"/>
    <p:sldId id="262" r:id="rId11"/>
    <p:sldId id="276" r:id="rId12"/>
    <p:sldId id="263" r:id="rId13"/>
    <p:sldId id="277" r:id="rId14"/>
    <p:sldId id="264" r:id="rId15"/>
    <p:sldId id="265" r:id="rId16"/>
    <p:sldId id="279" r:id="rId17"/>
    <p:sldId id="278" r:id="rId18"/>
    <p:sldId id="272" r:id="rId19"/>
    <p:sldId id="280" r:id="rId20"/>
    <p:sldId id="266" r:id="rId21"/>
    <p:sldId id="267" r:id="rId22"/>
    <p:sldId id="268" r:id="rId23"/>
    <p:sldId id="282" r:id="rId24"/>
    <p:sldId id="269" r:id="rId25"/>
    <p:sldId id="270" r:id="rId26"/>
    <p:sldId id="281" r:id="rId27"/>
  </p:sldIdLst>
  <p:sldSz cx="9144000" cy="6858000" type="screen4x3"/>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9" d="100"/>
          <a:sy n="109" d="100"/>
        </p:scale>
        <p:origin x="1674" y="10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4.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FC282A0-4988-4DEE-937F-ECE68717E76B}" type="datetimeFigureOut">
              <a:rPr lang="zh-TW" altLang="en-US" smtClean="0"/>
              <a:t>2023/4/2</a:t>
            </a:fld>
            <a:endParaRPr lang="zh-TW" altLang="en-US"/>
          </a:p>
        </p:txBody>
      </p:sp>
      <p:sp>
        <p:nvSpPr>
          <p:cNvPr id="4" name="投影片圖像版面配置區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C7D2A93-883D-4B06-9B66-60C3588F31D6}" type="slidenum">
              <a:rPr lang="zh-TW" altLang="en-US" smtClean="0"/>
              <a:t>‹#›</a:t>
            </a:fld>
            <a:endParaRPr lang="zh-TW" altLang="en-US"/>
          </a:p>
        </p:txBody>
      </p:sp>
    </p:spTree>
    <p:extLst>
      <p:ext uri="{BB962C8B-B14F-4D97-AF65-F5344CB8AC3E}">
        <p14:creationId xmlns:p14="http://schemas.microsoft.com/office/powerpoint/2010/main" val="33997395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10"/>
          </p:nvPr>
        </p:nvSpPr>
        <p:spPr/>
        <p:txBody>
          <a:bodyPr/>
          <a:lstStyle/>
          <a:p>
            <a:fld id="{DC7D2A93-883D-4B06-9B66-60C3588F31D6}" type="slidenum">
              <a:rPr lang="zh-TW" altLang="en-US" smtClean="0"/>
              <a:t>1</a:t>
            </a:fld>
            <a:endParaRPr lang="zh-TW" altLang="en-US"/>
          </a:p>
        </p:txBody>
      </p:sp>
    </p:spTree>
    <p:extLst>
      <p:ext uri="{BB962C8B-B14F-4D97-AF65-F5344CB8AC3E}">
        <p14:creationId xmlns:p14="http://schemas.microsoft.com/office/powerpoint/2010/main" val="983047316"/>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標題投影片">
    <p:spTree>
      <p:nvGrpSpPr>
        <p:cNvPr id="1" name=""/>
        <p:cNvGrpSpPr/>
        <p:nvPr/>
      </p:nvGrpSpPr>
      <p:grpSpPr>
        <a:xfrm>
          <a:off x="0" y="0"/>
          <a:ext cx="0" cy="0"/>
          <a:chOff x="0" y="0"/>
          <a:chExt cx="0" cy="0"/>
        </a:xfrm>
      </p:grpSpPr>
      <p:grpSp>
        <p:nvGrpSpPr>
          <p:cNvPr id="4" name="Group 37"/>
          <p:cNvGrpSpPr>
            <a:grpSpLocks/>
          </p:cNvGrpSpPr>
          <p:nvPr/>
        </p:nvGrpSpPr>
        <p:grpSpPr bwMode="auto">
          <a:xfrm>
            <a:off x="0" y="0"/>
            <a:ext cx="9107488" cy="6796088"/>
            <a:chOff x="0" y="0"/>
            <a:chExt cx="5737" cy="4281"/>
          </a:xfrm>
        </p:grpSpPr>
        <p:grpSp>
          <p:nvGrpSpPr>
            <p:cNvPr id="5" name="Group 36"/>
            <p:cNvGrpSpPr>
              <a:grpSpLocks/>
            </p:cNvGrpSpPr>
            <p:nvPr/>
          </p:nvGrpSpPr>
          <p:grpSpPr bwMode="auto">
            <a:xfrm>
              <a:off x="4694" y="164"/>
              <a:ext cx="1043" cy="318"/>
              <a:chOff x="4876" y="193"/>
              <a:chExt cx="839" cy="289"/>
            </a:xfrm>
          </p:grpSpPr>
          <p:pic>
            <p:nvPicPr>
              <p:cNvPr id="26" name="Picture 4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76" y="193"/>
                <a:ext cx="839" cy="2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7" name="Group 49"/>
              <p:cNvGrpSpPr>
                <a:grpSpLocks/>
              </p:cNvGrpSpPr>
              <p:nvPr/>
            </p:nvGrpSpPr>
            <p:grpSpPr bwMode="auto">
              <a:xfrm rot="971029">
                <a:off x="5535" y="317"/>
                <a:ext cx="40" cy="60"/>
                <a:chOff x="1604" y="9751"/>
                <a:chExt cx="297" cy="509"/>
              </a:xfrm>
            </p:grpSpPr>
            <p:sp>
              <p:nvSpPr>
                <p:cNvPr id="28" name="Oval 50"/>
                <p:cNvSpPr>
                  <a:spLocks noChangeArrowheads="1"/>
                </p:cNvSpPr>
                <p:nvPr/>
              </p:nvSpPr>
              <p:spPr bwMode="auto">
                <a:xfrm>
                  <a:off x="1599" y="9745"/>
                  <a:ext cx="299" cy="324"/>
                </a:xfrm>
                <a:prstGeom prst="ellipse">
                  <a:avLst/>
                </a:prstGeom>
                <a:solidFill>
                  <a:srgbClr val="5F497A"/>
                </a:solidFill>
                <a:ln w="9525">
                  <a:solidFill>
                    <a:srgbClr val="5F497A"/>
                  </a:solidFill>
                  <a:round/>
                  <a:headEnd/>
                  <a:tailEnd/>
                </a:ln>
              </p:spPr>
              <p:txBody>
                <a:bodyPr/>
                <a:lstStyle/>
                <a:p>
                  <a:pPr fontAlgn="auto">
                    <a:spcBef>
                      <a:spcPts val="0"/>
                    </a:spcBef>
                    <a:spcAft>
                      <a:spcPts val="0"/>
                    </a:spcAft>
                    <a:defRPr/>
                  </a:pPr>
                  <a:endParaRPr kumimoji="0" lang="zh-TW" altLang="en-US">
                    <a:latin typeface="+mn-lt"/>
                    <a:ea typeface="+mn-ea"/>
                  </a:endParaRPr>
                </a:p>
              </p:txBody>
            </p:sp>
            <p:sp>
              <p:nvSpPr>
                <p:cNvPr id="29" name="Rectangle 51"/>
                <p:cNvSpPr>
                  <a:spLocks noChangeArrowheads="1"/>
                </p:cNvSpPr>
                <p:nvPr/>
              </p:nvSpPr>
              <p:spPr bwMode="auto">
                <a:xfrm>
                  <a:off x="1669" y="10042"/>
                  <a:ext cx="149" cy="216"/>
                </a:xfrm>
                <a:prstGeom prst="rect">
                  <a:avLst/>
                </a:prstGeom>
                <a:solidFill>
                  <a:srgbClr val="5F497A"/>
                </a:solidFill>
                <a:ln w="9525">
                  <a:solidFill>
                    <a:srgbClr val="5F497A"/>
                  </a:solidFill>
                  <a:miter lim="800000"/>
                  <a:headEnd/>
                  <a:tailEnd/>
                </a:ln>
              </p:spPr>
              <p:txBody>
                <a:bodyPr/>
                <a:lstStyle/>
                <a:p>
                  <a:pPr fontAlgn="auto">
                    <a:spcBef>
                      <a:spcPts val="0"/>
                    </a:spcBef>
                    <a:spcAft>
                      <a:spcPts val="0"/>
                    </a:spcAft>
                    <a:defRPr/>
                  </a:pPr>
                  <a:endParaRPr kumimoji="0" lang="zh-TW" altLang="en-US">
                    <a:latin typeface="+mn-lt"/>
                    <a:ea typeface="+mn-ea"/>
                  </a:endParaRPr>
                </a:p>
              </p:txBody>
            </p:sp>
          </p:grpSp>
        </p:grpSp>
        <p:sp>
          <p:nvSpPr>
            <p:cNvPr id="6" name="Rectangle 3"/>
            <p:cNvSpPr>
              <a:spLocks noChangeArrowheads="1"/>
            </p:cNvSpPr>
            <p:nvPr/>
          </p:nvSpPr>
          <p:spPr bwMode="auto">
            <a:xfrm>
              <a:off x="1066" y="2432"/>
              <a:ext cx="4037" cy="862"/>
            </a:xfrm>
            <a:prstGeom prst="rect">
              <a:avLst/>
            </a:prstGeom>
            <a:gradFill rotWithShape="0">
              <a:gsLst>
                <a:gs pos="0">
                  <a:srgbClr val="CCFFFF"/>
                </a:gs>
                <a:gs pos="100000">
                  <a:srgbClr val="FFFFFF"/>
                </a:gs>
              </a:gsLst>
              <a:lin ang="5400000" scaled="1"/>
            </a:gradFill>
            <a:ln w="9525">
              <a:noFill/>
              <a:miter lim="800000"/>
              <a:headEnd/>
              <a:tailEnd/>
            </a:ln>
            <a:effectLst>
              <a:outerShdw dist="35921" dir="2700000" algn="ctr" rotWithShape="0">
                <a:srgbClr val="DAEEF3"/>
              </a:outerShdw>
            </a:effectLst>
          </p:spPr>
          <p:txBody>
            <a:bodyPr/>
            <a:lstStyle/>
            <a:p>
              <a:pPr fontAlgn="auto">
                <a:spcBef>
                  <a:spcPts val="0"/>
                </a:spcBef>
                <a:spcAft>
                  <a:spcPts val="0"/>
                </a:spcAft>
                <a:defRPr/>
              </a:pPr>
              <a:endParaRPr kumimoji="0" lang="zh-TW" altLang="en-US">
                <a:latin typeface="+mn-lt"/>
                <a:ea typeface="+mn-ea"/>
              </a:endParaRPr>
            </a:p>
          </p:txBody>
        </p:sp>
        <p:sp>
          <p:nvSpPr>
            <p:cNvPr id="7" name="Rectangle 2"/>
            <p:cNvSpPr>
              <a:spLocks noChangeArrowheads="1"/>
            </p:cNvSpPr>
            <p:nvPr/>
          </p:nvSpPr>
          <p:spPr bwMode="auto">
            <a:xfrm>
              <a:off x="476" y="1071"/>
              <a:ext cx="5080" cy="1180"/>
            </a:xfrm>
            <a:prstGeom prst="rect">
              <a:avLst/>
            </a:prstGeom>
            <a:gradFill rotWithShape="0">
              <a:gsLst>
                <a:gs pos="0">
                  <a:srgbClr val="CCFFFF"/>
                </a:gs>
                <a:gs pos="100000">
                  <a:srgbClr val="FFFFFF"/>
                </a:gs>
              </a:gsLst>
              <a:lin ang="5400000" scaled="1"/>
            </a:gradFill>
            <a:ln w="9525">
              <a:noFill/>
              <a:miter lim="800000"/>
              <a:headEnd/>
              <a:tailEnd/>
            </a:ln>
            <a:effectLst>
              <a:outerShdw dist="35921" dir="2700000" algn="ctr" rotWithShape="0">
                <a:srgbClr val="DAEEF3"/>
              </a:outerShdw>
            </a:effectLst>
          </p:spPr>
          <p:txBody>
            <a:bodyPr/>
            <a:lstStyle/>
            <a:p>
              <a:pPr fontAlgn="auto">
                <a:spcBef>
                  <a:spcPts val="0"/>
                </a:spcBef>
                <a:spcAft>
                  <a:spcPts val="0"/>
                </a:spcAft>
                <a:defRPr/>
              </a:pPr>
              <a:endParaRPr kumimoji="0" lang="zh-TW" altLang="en-US">
                <a:latin typeface="+mn-lt"/>
                <a:ea typeface="+mn-ea"/>
              </a:endParaRPr>
            </a:p>
          </p:txBody>
        </p:sp>
        <p:pic>
          <p:nvPicPr>
            <p:cNvPr id="8" name="Picture 4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2" y="3970"/>
              <a:ext cx="2676" cy="1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3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82" y="4066"/>
              <a:ext cx="2404" cy="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0"/>
              <a:ext cx="1020" cy="9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Picture 3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3" y="709"/>
              <a:ext cx="408" cy="30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2" name="Group 18"/>
            <p:cNvGrpSpPr>
              <a:grpSpLocks/>
            </p:cNvGrpSpPr>
            <p:nvPr/>
          </p:nvGrpSpPr>
          <p:grpSpPr bwMode="auto">
            <a:xfrm rot="5400000">
              <a:off x="3085" y="-1730"/>
              <a:ext cx="300" cy="4286"/>
              <a:chOff x="4380" y="2475"/>
              <a:chExt cx="750" cy="6551"/>
            </a:xfrm>
          </p:grpSpPr>
          <p:cxnSp>
            <p:nvCxnSpPr>
              <p:cNvPr id="15" name="AutoShape 19"/>
              <p:cNvCxnSpPr>
                <a:cxnSpLocks noChangeShapeType="1"/>
              </p:cNvCxnSpPr>
              <p:nvPr/>
            </p:nvCxnSpPr>
            <p:spPr bwMode="auto">
              <a:xfrm>
                <a:off x="4500" y="7276"/>
                <a:ext cx="450" cy="104"/>
              </a:xfrm>
              <a:prstGeom prst="straightConnector1">
                <a:avLst/>
              </a:prstGeom>
              <a:noFill/>
              <a:ln w="25400">
                <a:solidFill>
                  <a:srgbClr val="8DB3E2"/>
                </a:solidFill>
                <a:round/>
                <a:headEnd/>
                <a:tailEnd/>
              </a:ln>
              <a:extLst>
                <a:ext uri="{909E8E84-426E-40DD-AFC4-6F175D3DCCD1}">
                  <a14:hiddenFill xmlns:a14="http://schemas.microsoft.com/office/drawing/2010/main">
                    <a:noFill/>
                  </a14:hiddenFill>
                </a:ext>
              </a:extLst>
            </p:spPr>
          </p:cxnSp>
          <p:cxnSp>
            <p:nvCxnSpPr>
              <p:cNvPr id="16" name="AutoShape 20"/>
              <p:cNvCxnSpPr>
                <a:cxnSpLocks noChangeShapeType="1"/>
              </p:cNvCxnSpPr>
              <p:nvPr/>
            </p:nvCxnSpPr>
            <p:spPr bwMode="auto">
              <a:xfrm flipH="1">
                <a:off x="4380" y="7380"/>
                <a:ext cx="570" cy="69"/>
              </a:xfrm>
              <a:prstGeom prst="straightConnector1">
                <a:avLst/>
              </a:prstGeom>
              <a:noFill/>
              <a:ln w="25400">
                <a:solidFill>
                  <a:srgbClr val="8DB3E2"/>
                </a:solidFill>
                <a:round/>
                <a:headEnd/>
                <a:tailEnd/>
              </a:ln>
              <a:extLst>
                <a:ext uri="{909E8E84-426E-40DD-AFC4-6F175D3DCCD1}">
                  <a14:hiddenFill xmlns:a14="http://schemas.microsoft.com/office/drawing/2010/main">
                    <a:noFill/>
                  </a14:hiddenFill>
                </a:ext>
              </a:extLst>
            </p:spPr>
          </p:cxnSp>
          <p:cxnSp>
            <p:nvCxnSpPr>
              <p:cNvPr id="17" name="AutoShape 21"/>
              <p:cNvCxnSpPr>
                <a:cxnSpLocks noChangeShapeType="1"/>
              </p:cNvCxnSpPr>
              <p:nvPr/>
            </p:nvCxnSpPr>
            <p:spPr bwMode="auto">
              <a:xfrm>
                <a:off x="4380" y="7449"/>
                <a:ext cx="750" cy="81"/>
              </a:xfrm>
              <a:prstGeom prst="straightConnector1">
                <a:avLst/>
              </a:prstGeom>
              <a:noFill/>
              <a:ln w="25400">
                <a:solidFill>
                  <a:srgbClr val="8DB3E2"/>
                </a:solidFill>
                <a:round/>
                <a:headEnd/>
                <a:tailEnd/>
              </a:ln>
              <a:extLst>
                <a:ext uri="{909E8E84-426E-40DD-AFC4-6F175D3DCCD1}">
                  <a14:hiddenFill xmlns:a14="http://schemas.microsoft.com/office/drawing/2010/main">
                    <a:noFill/>
                  </a14:hiddenFill>
                </a:ext>
              </a:extLst>
            </p:spPr>
          </p:cxnSp>
          <p:cxnSp>
            <p:nvCxnSpPr>
              <p:cNvPr id="18" name="AutoShape 22"/>
              <p:cNvCxnSpPr>
                <a:cxnSpLocks noChangeShapeType="1"/>
              </p:cNvCxnSpPr>
              <p:nvPr/>
            </p:nvCxnSpPr>
            <p:spPr bwMode="auto">
              <a:xfrm flipH="1">
                <a:off x="4500" y="7530"/>
                <a:ext cx="630" cy="81"/>
              </a:xfrm>
              <a:prstGeom prst="straightConnector1">
                <a:avLst/>
              </a:prstGeom>
              <a:noFill/>
              <a:ln w="25400">
                <a:solidFill>
                  <a:srgbClr val="8DB3E2"/>
                </a:solidFill>
                <a:round/>
                <a:headEnd/>
                <a:tailEnd/>
              </a:ln>
              <a:extLst>
                <a:ext uri="{909E8E84-426E-40DD-AFC4-6F175D3DCCD1}">
                  <a14:hiddenFill xmlns:a14="http://schemas.microsoft.com/office/drawing/2010/main">
                    <a:noFill/>
                  </a14:hiddenFill>
                </a:ext>
              </a:extLst>
            </p:spPr>
          </p:cxnSp>
          <p:cxnSp>
            <p:nvCxnSpPr>
              <p:cNvPr id="19" name="AutoShape 23"/>
              <p:cNvCxnSpPr>
                <a:cxnSpLocks noChangeShapeType="1"/>
              </p:cNvCxnSpPr>
              <p:nvPr/>
            </p:nvCxnSpPr>
            <p:spPr bwMode="auto">
              <a:xfrm>
                <a:off x="4500" y="7611"/>
                <a:ext cx="420" cy="80"/>
              </a:xfrm>
              <a:prstGeom prst="straightConnector1">
                <a:avLst/>
              </a:prstGeom>
              <a:noFill/>
              <a:ln w="25400">
                <a:solidFill>
                  <a:srgbClr val="8DB3E2"/>
                </a:solidFill>
                <a:round/>
                <a:headEnd/>
                <a:tailEnd/>
              </a:ln>
              <a:extLst>
                <a:ext uri="{909E8E84-426E-40DD-AFC4-6F175D3DCCD1}">
                  <a14:hiddenFill xmlns:a14="http://schemas.microsoft.com/office/drawing/2010/main">
                    <a:noFill/>
                  </a14:hiddenFill>
                </a:ext>
              </a:extLst>
            </p:spPr>
          </p:cxnSp>
          <p:cxnSp>
            <p:nvCxnSpPr>
              <p:cNvPr id="20" name="AutoShape 24"/>
              <p:cNvCxnSpPr>
                <a:cxnSpLocks noChangeShapeType="1"/>
              </p:cNvCxnSpPr>
              <p:nvPr/>
            </p:nvCxnSpPr>
            <p:spPr bwMode="auto">
              <a:xfrm flipH="1">
                <a:off x="4575" y="7691"/>
                <a:ext cx="345" cy="82"/>
              </a:xfrm>
              <a:prstGeom prst="straightConnector1">
                <a:avLst/>
              </a:prstGeom>
              <a:noFill/>
              <a:ln w="25400">
                <a:solidFill>
                  <a:srgbClr val="8DB3E2"/>
                </a:solidFill>
                <a:round/>
                <a:headEnd/>
                <a:tailEnd/>
              </a:ln>
              <a:extLst>
                <a:ext uri="{909E8E84-426E-40DD-AFC4-6F175D3DCCD1}">
                  <a14:hiddenFill xmlns:a14="http://schemas.microsoft.com/office/drawing/2010/main">
                    <a:noFill/>
                  </a14:hiddenFill>
                </a:ext>
              </a:extLst>
            </p:spPr>
          </p:cxnSp>
          <p:cxnSp>
            <p:nvCxnSpPr>
              <p:cNvPr id="21" name="AutoShape 25"/>
              <p:cNvCxnSpPr>
                <a:cxnSpLocks noChangeShapeType="1"/>
              </p:cNvCxnSpPr>
              <p:nvPr/>
            </p:nvCxnSpPr>
            <p:spPr bwMode="auto">
              <a:xfrm>
                <a:off x="4575" y="7773"/>
                <a:ext cx="375" cy="81"/>
              </a:xfrm>
              <a:prstGeom prst="straightConnector1">
                <a:avLst/>
              </a:prstGeom>
              <a:noFill/>
              <a:ln w="25400">
                <a:solidFill>
                  <a:srgbClr val="8DB3E2"/>
                </a:solidFill>
                <a:round/>
                <a:headEnd/>
                <a:tailEnd/>
              </a:ln>
              <a:extLst>
                <a:ext uri="{909E8E84-426E-40DD-AFC4-6F175D3DCCD1}">
                  <a14:hiddenFill xmlns:a14="http://schemas.microsoft.com/office/drawing/2010/main">
                    <a:noFill/>
                  </a14:hiddenFill>
                </a:ext>
              </a:extLst>
            </p:spPr>
          </p:cxnSp>
          <p:cxnSp>
            <p:nvCxnSpPr>
              <p:cNvPr id="22" name="AutoShape 26"/>
              <p:cNvCxnSpPr>
                <a:cxnSpLocks noChangeShapeType="1"/>
              </p:cNvCxnSpPr>
              <p:nvPr/>
            </p:nvCxnSpPr>
            <p:spPr bwMode="auto">
              <a:xfrm flipH="1">
                <a:off x="4500" y="7195"/>
                <a:ext cx="315" cy="81"/>
              </a:xfrm>
              <a:prstGeom prst="straightConnector1">
                <a:avLst/>
              </a:prstGeom>
              <a:noFill/>
              <a:ln w="25400">
                <a:solidFill>
                  <a:srgbClr val="8DB3E2"/>
                </a:solidFill>
                <a:round/>
                <a:headEnd/>
                <a:tailEnd/>
              </a:ln>
              <a:extLst>
                <a:ext uri="{909E8E84-426E-40DD-AFC4-6F175D3DCCD1}">
                  <a14:hiddenFill xmlns:a14="http://schemas.microsoft.com/office/drawing/2010/main">
                    <a:noFill/>
                  </a14:hiddenFill>
                </a:ext>
              </a:extLst>
            </p:spPr>
          </p:cxnSp>
          <p:cxnSp>
            <p:nvCxnSpPr>
              <p:cNvPr id="23" name="AutoShape 27"/>
              <p:cNvCxnSpPr>
                <a:cxnSpLocks noChangeShapeType="1"/>
              </p:cNvCxnSpPr>
              <p:nvPr/>
            </p:nvCxnSpPr>
            <p:spPr bwMode="auto">
              <a:xfrm flipH="1">
                <a:off x="4725" y="7854"/>
                <a:ext cx="195" cy="81"/>
              </a:xfrm>
              <a:prstGeom prst="straightConnector1">
                <a:avLst/>
              </a:prstGeom>
              <a:noFill/>
              <a:ln w="25400">
                <a:solidFill>
                  <a:srgbClr val="8DB3E2"/>
                </a:solidFill>
                <a:round/>
                <a:headEnd/>
                <a:tailEnd/>
              </a:ln>
              <a:extLst>
                <a:ext uri="{909E8E84-426E-40DD-AFC4-6F175D3DCCD1}">
                  <a14:hiddenFill xmlns:a14="http://schemas.microsoft.com/office/drawing/2010/main">
                    <a:noFill/>
                  </a14:hiddenFill>
                </a:ext>
              </a:extLst>
            </p:spPr>
          </p:cxnSp>
          <p:cxnSp>
            <p:nvCxnSpPr>
              <p:cNvPr id="24" name="AutoShape 28"/>
              <p:cNvCxnSpPr>
                <a:cxnSpLocks noChangeShapeType="1"/>
              </p:cNvCxnSpPr>
              <p:nvPr/>
            </p:nvCxnSpPr>
            <p:spPr bwMode="auto">
              <a:xfrm>
                <a:off x="4725" y="7935"/>
                <a:ext cx="0" cy="1091"/>
              </a:xfrm>
              <a:prstGeom prst="straightConnector1">
                <a:avLst/>
              </a:prstGeom>
              <a:noFill/>
              <a:ln w="25400">
                <a:solidFill>
                  <a:srgbClr val="8DB3E2"/>
                </a:solidFill>
                <a:round/>
                <a:headEnd/>
                <a:tailEnd/>
              </a:ln>
              <a:extLst>
                <a:ext uri="{909E8E84-426E-40DD-AFC4-6F175D3DCCD1}">
                  <a14:hiddenFill xmlns:a14="http://schemas.microsoft.com/office/drawing/2010/main">
                    <a:noFill/>
                  </a14:hiddenFill>
                </a:ext>
              </a:extLst>
            </p:spPr>
          </p:cxnSp>
          <p:cxnSp>
            <p:nvCxnSpPr>
              <p:cNvPr id="25" name="AutoShape 29"/>
              <p:cNvCxnSpPr>
                <a:cxnSpLocks noChangeShapeType="1"/>
              </p:cNvCxnSpPr>
              <p:nvPr/>
            </p:nvCxnSpPr>
            <p:spPr bwMode="auto">
              <a:xfrm>
                <a:off x="4816" y="2475"/>
                <a:ext cx="0" cy="4717"/>
              </a:xfrm>
              <a:prstGeom prst="straightConnector1">
                <a:avLst/>
              </a:prstGeom>
              <a:noFill/>
              <a:ln w="25400">
                <a:solidFill>
                  <a:srgbClr val="8DB3E2"/>
                </a:solidFill>
                <a:round/>
                <a:headEnd/>
                <a:tailEnd/>
              </a:ln>
              <a:extLst>
                <a:ext uri="{909E8E84-426E-40DD-AFC4-6F175D3DCCD1}">
                  <a14:hiddenFill xmlns:a14="http://schemas.microsoft.com/office/drawing/2010/main">
                    <a:noFill/>
                  </a14:hiddenFill>
                </a:ext>
              </a:extLst>
            </p:spPr>
          </p:cxnSp>
        </p:grpSp>
        <p:pic>
          <p:nvPicPr>
            <p:cNvPr id="13" name="圖片 29" descr="Thu_logo.gif"/>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20" y="3711"/>
              <a:ext cx="570" cy="5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 name="Picture 3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12" y="3866"/>
              <a:ext cx="2269" cy="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8194" name="Rectangle 2"/>
          <p:cNvSpPr>
            <a:spLocks noGrp="1" noChangeArrowheads="1"/>
          </p:cNvSpPr>
          <p:nvPr>
            <p:ph type="ctrTitle"/>
          </p:nvPr>
        </p:nvSpPr>
        <p:spPr>
          <a:xfrm>
            <a:off x="900113" y="1916113"/>
            <a:ext cx="7772400" cy="1470025"/>
          </a:xfrm>
        </p:spPr>
        <p:txBody>
          <a:bodyPr/>
          <a:lstStyle>
            <a:lvl1pPr algn="ctr">
              <a:defRPr sz="3600">
                <a:latin typeface="Times New Roman" pitchFamily="18" charset="0"/>
                <a:cs typeface="Times New Roman" pitchFamily="18" charset="0"/>
              </a:defRPr>
            </a:lvl1pPr>
          </a:lstStyle>
          <a:p>
            <a:r>
              <a:rPr lang="zh-TW" altLang="en-US" smtClean="0"/>
              <a:t>按一下以編輯母片標題樣式</a:t>
            </a:r>
            <a:endParaRPr lang="zh-TW" altLang="en-US" dirty="0"/>
          </a:p>
        </p:txBody>
      </p:sp>
      <p:sp>
        <p:nvSpPr>
          <p:cNvPr id="8195" name="Rectangle 3"/>
          <p:cNvSpPr>
            <a:spLocks noGrp="1" noChangeArrowheads="1"/>
          </p:cNvSpPr>
          <p:nvPr>
            <p:ph type="subTitle" idx="1"/>
          </p:nvPr>
        </p:nvSpPr>
        <p:spPr>
          <a:xfrm>
            <a:off x="1763713" y="4076700"/>
            <a:ext cx="6335712" cy="1198563"/>
          </a:xfrm>
        </p:spPr>
        <p:txBody>
          <a:bodyPr/>
          <a:lstStyle>
            <a:lvl1pPr marL="0" indent="0" algn="ctr">
              <a:buFont typeface="Arial" charset="0"/>
              <a:buNone/>
              <a:defRPr sz="2800">
                <a:solidFill>
                  <a:srgbClr val="777777"/>
                </a:solidFill>
                <a:latin typeface="Times New Roman" pitchFamily="18" charset="0"/>
                <a:cs typeface="Times New Roman" pitchFamily="18" charset="0"/>
              </a:defRPr>
            </a:lvl1pPr>
          </a:lstStyle>
          <a:p>
            <a:r>
              <a:rPr lang="zh-TW" altLang="en-US" smtClean="0"/>
              <a:t>按一下以編輯母片副標題樣式</a:t>
            </a:r>
            <a:endParaRPr lang="zh-TW" altLang="en-US" dirty="0"/>
          </a:p>
        </p:txBody>
      </p:sp>
      <p:sp>
        <p:nvSpPr>
          <p:cNvPr id="30" name="Rectangle 4"/>
          <p:cNvSpPr>
            <a:spLocks noGrp="1" noChangeArrowheads="1"/>
          </p:cNvSpPr>
          <p:nvPr>
            <p:ph type="dt" sz="half" idx="10"/>
          </p:nvPr>
        </p:nvSpPr>
        <p:spPr bwMode="auto">
          <a:xfrm>
            <a:off x="6659563" y="6245225"/>
            <a:ext cx="2133600" cy="476250"/>
          </a:xfrm>
          <a:prstGeom prst="rect">
            <a:avLst/>
          </a:prstGeom>
          <a:ln>
            <a:miter lim="800000"/>
            <a:headEnd/>
            <a:tailEnd/>
          </a:ln>
        </p:spPr>
        <p:txBody>
          <a:bodyPr vert="horz" wrap="square" lIns="91440" tIns="45720" rIns="91440" bIns="45720" numCol="1" anchor="t" anchorCtr="0" compatLnSpc="1">
            <a:prstTxWarp prst="textNoShape">
              <a:avLst/>
            </a:prstTxWarp>
          </a:bodyPr>
          <a:lstStyle>
            <a:lvl1pPr algn="r">
              <a:defRPr sz="1600">
                <a:latin typeface="Goudy Old Style" pitchFamily="18" charset="0"/>
                <a:ea typeface="+mn-ea"/>
              </a:defRPr>
            </a:lvl1pPr>
          </a:lstStyle>
          <a:p>
            <a:fld id="{888DC6C0-79B3-446E-9635-42775C1D5AFC}" type="datetime1">
              <a:rPr lang="zh-TW" altLang="en-US" smtClean="0"/>
              <a:t>2023/4/2</a:t>
            </a:fld>
            <a:endParaRPr lang="zh-TW" altLang="en-US"/>
          </a:p>
        </p:txBody>
      </p:sp>
    </p:spTree>
    <p:extLst>
      <p:ext uri="{BB962C8B-B14F-4D97-AF65-F5344CB8AC3E}">
        <p14:creationId xmlns:p14="http://schemas.microsoft.com/office/powerpoint/2010/main" val="24474257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idx="1"/>
          </p:nvPr>
        </p:nvSpPr>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Rectangle 27"/>
          <p:cNvSpPr>
            <a:spLocks noGrp="1" noChangeArrowheads="1"/>
          </p:cNvSpPr>
          <p:nvPr>
            <p:ph type="sldNum" sz="quarter" idx="10"/>
          </p:nvPr>
        </p:nvSpPr>
        <p:spPr>
          <a:ln/>
        </p:spPr>
        <p:txBody>
          <a:bodyPr/>
          <a:lstStyle>
            <a:lvl1pPr>
              <a:defRPr/>
            </a:lvl1pPr>
          </a:lstStyle>
          <a:p>
            <a:fld id="{5DDC22FF-AB65-4D90-9AB8-E808153956B4}" type="slidenum">
              <a:rPr lang="zh-TW" altLang="en-US" smtClean="0"/>
              <a:pPr/>
              <a:t>‹#›</a:t>
            </a:fld>
            <a:endParaRPr lang="zh-TW" altLang="en-US"/>
          </a:p>
        </p:txBody>
      </p:sp>
    </p:spTree>
    <p:extLst>
      <p:ext uri="{BB962C8B-B14F-4D97-AF65-F5344CB8AC3E}">
        <p14:creationId xmlns:p14="http://schemas.microsoft.com/office/powerpoint/2010/main" val="35409479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p:spPr>
        <p:txBody>
          <a:bodyPr anchor="t"/>
          <a:lstStyle>
            <a:lvl1pPr algn="l">
              <a:defRPr sz="4000" b="1" cap="all"/>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TW" altLang="en-US" smtClean="0"/>
              <a:t>按一下以編輯母片文字樣式</a:t>
            </a:r>
          </a:p>
        </p:txBody>
      </p:sp>
      <p:sp>
        <p:nvSpPr>
          <p:cNvPr id="4" name="Rectangle 27"/>
          <p:cNvSpPr>
            <a:spLocks noGrp="1" noChangeArrowheads="1"/>
          </p:cNvSpPr>
          <p:nvPr>
            <p:ph type="sldNum" sz="quarter" idx="10"/>
          </p:nvPr>
        </p:nvSpPr>
        <p:spPr>
          <a:ln/>
        </p:spPr>
        <p:txBody>
          <a:bodyPr/>
          <a:lstStyle>
            <a:lvl1pPr>
              <a:defRPr/>
            </a:lvl1pPr>
          </a:lstStyle>
          <a:p>
            <a:fld id="{5DDC22FF-AB65-4D90-9AB8-E808153956B4}" type="slidenum">
              <a:rPr lang="zh-TW" altLang="en-US" smtClean="0"/>
              <a:pPr/>
              <a:t>‹#›</a:t>
            </a:fld>
            <a:endParaRPr lang="zh-TW" altLang="en-US"/>
          </a:p>
        </p:txBody>
      </p:sp>
    </p:spTree>
    <p:extLst>
      <p:ext uri="{BB962C8B-B14F-4D97-AF65-F5344CB8AC3E}">
        <p14:creationId xmlns:p14="http://schemas.microsoft.com/office/powerpoint/2010/main" val="16779421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sz="half" idx="1"/>
          </p:nvPr>
        </p:nvSpPr>
        <p:spPr>
          <a:xfrm>
            <a:off x="395288" y="1600200"/>
            <a:ext cx="417195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內容版面配置區 3"/>
          <p:cNvSpPr>
            <a:spLocks noGrp="1"/>
          </p:cNvSpPr>
          <p:nvPr>
            <p:ph sz="half" idx="2"/>
          </p:nvPr>
        </p:nvSpPr>
        <p:spPr>
          <a:xfrm>
            <a:off x="4719638" y="1600200"/>
            <a:ext cx="4173537"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Rectangle 27"/>
          <p:cNvSpPr>
            <a:spLocks noGrp="1" noChangeArrowheads="1"/>
          </p:cNvSpPr>
          <p:nvPr>
            <p:ph type="sldNum" sz="quarter" idx="10"/>
          </p:nvPr>
        </p:nvSpPr>
        <p:spPr>
          <a:ln/>
        </p:spPr>
        <p:txBody>
          <a:bodyPr/>
          <a:lstStyle>
            <a:lvl1pPr>
              <a:defRPr/>
            </a:lvl1pPr>
          </a:lstStyle>
          <a:p>
            <a:fld id="{5DDC22FF-AB65-4D90-9AB8-E808153956B4}" type="slidenum">
              <a:rPr lang="zh-TW" altLang="en-US" smtClean="0"/>
              <a:pPr/>
              <a:t>‹#›</a:t>
            </a:fld>
            <a:endParaRPr lang="zh-TW" altLang="en-US"/>
          </a:p>
        </p:txBody>
      </p:sp>
    </p:spTree>
    <p:extLst>
      <p:ext uri="{BB962C8B-B14F-4D97-AF65-F5344CB8AC3E}">
        <p14:creationId xmlns:p14="http://schemas.microsoft.com/office/powerpoint/2010/main" val="11553630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1143000"/>
          </a:xfrm>
        </p:spPr>
        <p:txBody>
          <a:bodyPr/>
          <a:lstStyle>
            <a:lvl1pPr>
              <a:defRPr/>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4" name="內容版面配置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文字版面配置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6" name="內容版面配置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7" name="Rectangle 27"/>
          <p:cNvSpPr>
            <a:spLocks noGrp="1" noChangeArrowheads="1"/>
          </p:cNvSpPr>
          <p:nvPr>
            <p:ph type="sldNum" sz="quarter" idx="10"/>
          </p:nvPr>
        </p:nvSpPr>
        <p:spPr>
          <a:ln/>
        </p:spPr>
        <p:txBody>
          <a:bodyPr/>
          <a:lstStyle>
            <a:lvl1pPr>
              <a:defRPr/>
            </a:lvl1pPr>
          </a:lstStyle>
          <a:p>
            <a:fld id="{5DDC22FF-AB65-4D90-9AB8-E808153956B4}" type="slidenum">
              <a:rPr lang="zh-TW" altLang="en-US" smtClean="0"/>
              <a:pPr/>
              <a:t>‹#›</a:t>
            </a:fld>
            <a:endParaRPr lang="zh-TW" altLang="en-US"/>
          </a:p>
        </p:txBody>
      </p:sp>
    </p:spTree>
    <p:extLst>
      <p:ext uri="{BB962C8B-B14F-4D97-AF65-F5344CB8AC3E}">
        <p14:creationId xmlns:p14="http://schemas.microsoft.com/office/powerpoint/2010/main" val="26776833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Rectangle 27"/>
          <p:cNvSpPr>
            <a:spLocks noGrp="1" noChangeArrowheads="1"/>
          </p:cNvSpPr>
          <p:nvPr>
            <p:ph type="sldNum" sz="quarter" idx="10"/>
          </p:nvPr>
        </p:nvSpPr>
        <p:spPr>
          <a:ln/>
        </p:spPr>
        <p:txBody>
          <a:bodyPr/>
          <a:lstStyle>
            <a:lvl1pPr>
              <a:defRPr/>
            </a:lvl1pPr>
          </a:lstStyle>
          <a:p>
            <a:fld id="{5DDC22FF-AB65-4D90-9AB8-E808153956B4}" type="slidenum">
              <a:rPr lang="zh-TW" altLang="en-US" smtClean="0"/>
              <a:pPr/>
              <a:t>‹#›</a:t>
            </a:fld>
            <a:endParaRPr lang="zh-TW" altLang="en-US"/>
          </a:p>
        </p:txBody>
      </p:sp>
    </p:spTree>
    <p:extLst>
      <p:ext uri="{BB962C8B-B14F-4D97-AF65-F5344CB8AC3E}">
        <p14:creationId xmlns:p14="http://schemas.microsoft.com/office/powerpoint/2010/main" val="33931836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27"/>
          <p:cNvSpPr>
            <a:spLocks noGrp="1" noChangeArrowheads="1"/>
          </p:cNvSpPr>
          <p:nvPr>
            <p:ph type="sldNum" sz="quarter" idx="10"/>
          </p:nvPr>
        </p:nvSpPr>
        <p:spPr>
          <a:ln/>
        </p:spPr>
        <p:txBody>
          <a:bodyPr/>
          <a:lstStyle>
            <a:lvl1pPr>
              <a:defRPr/>
            </a:lvl1pPr>
          </a:lstStyle>
          <a:p>
            <a:fld id="{5DDC22FF-AB65-4D90-9AB8-E808153956B4}" type="slidenum">
              <a:rPr lang="zh-TW" altLang="en-US" smtClean="0"/>
              <a:pPr/>
              <a:t>‹#›</a:t>
            </a:fld>
            <a:endParaRPr lang="zh-TW" altLang="en-US"/>
          </a:p>
        </p:txBody>
      </p:sp>
    </p:spTree>
    <p:extLst>
      <p:ext uri="{BB962C8B-B14F-4D97-AF65-F5344CB8AC3E}">
        <p14:creationId xmlns:p14="http://schemas.microsoft.com/office/powerpoint/2010/main" val="5813161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3008313" cy="1162050"/>
          </a:xfrm>
        </p:spPr>
        <p:txBody>
          <a:bodyPr anchor="b"/>
          <a:lstStyle>
            <a:lvl1pPr algn="l">
              <a:defRPr sz="2000" b="1"/>
            </a:lvl1pPr>
          </a:lstStyle>
          <a:p>
            <a:r>
              <a:rPr lang="zh-TW" altLang="en-US" smtClean="0"/>
              <a:t>按一下以編輯母片標題樣式</a:t>
            </a:r>
            <a:endParaRPr lang="zh-TW" altLang="en-US"/>
          </a:p>
        </p:txBody>
      </p:sp>
      <p:sp>
        <p:nvSpPr>
          <p:cNvPr id="3" name="內容版面配置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文字版面配置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Rectangle 27"/>
          <p:cNvSpPr>
            <a:spLocks noGrp="1" noChangeArrowheads="1"/>
          </p:cNvSpPr>
          <p:nvPr>
            <p:ph type="sldNum" sz="quarter" idx="10"/>
          </p:nvPr>
        </p:nvSpPr>
        <p:spPr>
          <a:ln/>
        </p:spPr>
        <p:txBody>
          <a:bodyPr/>
          <a:lstStyle>
            <a:lvl1pPr>
              <a:defRPr/>
            </a:lvl1pPr>
          </a:lstStyle>
          <a:p>
            <a:fld id="{5DDC22FF-AB65-4D90-9AB8-E808153956B4}" type="slidenum">
              <a:rPr lang="zh-TW" altLang="en-US" smtClean="0"/>
              <a:pPr/>
              <a:t>‹#›</a:t>
            </a:fld>
            <a:endParaRPr lang="zh-TW" altLang="en-US"/>
          </a:p>
        </p:txBody>
      </p:sp>
    </p:spTree>
    <p:extLst>
      <p:ext uri="{BB962C8B-B14F-4D97-AF65-F5344CB8AC3E}">
        <p14:creationId xmlns:p14="http://schemas.microsoft.com/office/powerpoint/2010/main" val="39393586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p:spPr>
        <p:txBody>
          <a:bodyPr anchor="b"/>
          <a:lstStyle>
            <a:lvl1pPr algn="l">
              <a:defRPr sz="2000" b="1"/>
            </a:lvl1pPr>
          </a:lstStyle>
          <a:p>
            <a:r>
              <a:rPr lang="zh-TW" altLang="en-US" smtClean="0"/>
              <a:t>按一下以編輯母片標題樣式</a:t>
            </a:r>
            <a:endParaRPr lang="zh-TW" altLang="en-US"/>
          </a:p>
        </p:txBody>
      </p:sp>
      <p:sp>
        <p:nvSpPr>
          <p:cNvPr id="3" name="圖片版面配置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TW" altLang="en-US" noProof="0" smtClean="0"/>
              <a:t>按一下圖示以新增圖片</a:t>
            </a:r>
          </a:p>
        </p:txBody>
      </p:sp>
      <p:sp>
        <p:nvSpPr>
          <p:cNvPr id="4" name="文字版面配置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Rectangle 27"/>
          <p:cNvSpPr>
            <a:spLocks noGrp="1" noChangeArrowheads="1"/>
          </p:cNvSpPr>
          <p:nvPr>
            <p:ph type="sldNum" sz="quarter" idx="10"/>
          </p:nvPr>
        </p:nvSpPr>
        <p:spPr>
          <a:ln/>
        </p:spPr>
        <p:txBody>
          <a:bodyPr/>
          <a:lstStyle>
            <a:lvl1pPr>
              <a:defRPr/>
            </a:lvl1pPr>
          </a:lstStyle>
          <a:p>
            <a:fld id="{5DDC22FF-AB65-4D90-9AB8-E808153956B4}" type="slidenum">
              <a:rPr lang="zh-TW" altLang="en-US" smtClean="0"/>
              <a:pPr/>
              <a:t>‹#›</a:t>
            </a:fld>
            <a:endParaRPr lang="zh-TW" altLang="en-US"/>
          </a:p>
        </p:txBody>
      </p:sp>
    </p:spTree>
    <p:extLst>
      <p:ext uri="{BB962C8B-B14F-4D97-AF65-F5344CB8AC3E}">
        <p14:creationId xmlns:p14="http://schemas.microsoft.com/office/powerpoint/2010/main" val="301593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Rectangle 27"/>
          <p:cNvSpPr>
            <a:spLocks noGrp="1" noChangeArrowheads="1"/>
          </p:cNvSpPr>
          <p:nvPr>
            <p:ph type="sldNum" sz="quarter" idx="10"/>
          </p:nvPr>
        </p:nvSpPr>
        <p:spPr>
          <a:ln/>
        </p:spPr>
        <p:txBody>
          <a:bodyPr/>
          <a:lstStyle>
            <a:lvl1pPr>
              <a:defRPr/>
            </a:lvl1pPr>
          </a:lstStyle>
          <a:p>
            <a:fld id="{5DDC22FF-AB65-4D90-9AB8-E808153956B4}" type="slidenum">
              <a:rPr lang="zh-TW" altLang="en-US" smtClean="0"/>
              <a:pPr/>
              <a:t>‹#›</a:t>
            </a:fld>
            <a:endParaRPr lang="zh-TW" altLang="en-US"/>
          </a:p>
        </p:txBody>
      </p:sp>
    </p:spTree>
    <p:extLst>
      <p:ext uri="{BB962C8B-B14F-4D97-AF65-F5344CB8AC3E}">
        <p14:creationId xmlns:p14="http://schemas.microsoft.com/office/powerpoint/2010/main" val="2438862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769100" y="274638"/>
            <a:ext cx="2124075" cy="5851525"/>
          </a:xfrm>
        </p:spPr>
        <p:txBody>
          <a:bodyPr vert="eaVert"/>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a:xfrm>
            <a:off x="395288" y="274638"/>
            <a:ext cx="6221412" cy="5851525"/>
          </a:xfr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Rectangle 27"/>
          <p:cNvSpPr>
            <a:spLocks noGrp="1" noChangeArrowheads="1"/>
          </p:cNvSpPr>
          <p:nvPr>
            <p:ph type="sldNum" sz="quarter" idx="10"/>
          </p:nvPr>
        </p:nvSpPr>
        <p:spPr>
          <a:ln/>
        </p:spPr>
        <p:txBody>
          <a:bodyPr/>
          <a:lstStyle>
            <a:lvl1pPr>
              <a:defRPr/>
            </a:lvl1pPr>
          </a:lstStyle>
          <a:p>
            <a:fld id="{5DDC22FF-AB65-4D90-9AB8-E808153956B4}" type="slidenum">
              <a:rPr lang="zh-TW" altLang="en-US" smtClean="0"/>
              <a:pPr/>
              <a:t>‹#›</a:t>
            </a:fld>
            <a:endParaRPr lang="zh-TW" altLang="en-US"/>
          </a:p>
        </p:txBody>
      </p:sp>
    </p:spTree>
    <p:extLst>
      <p:ext uri="{BB962C8B-B14F-4D97-AF65-F5344CB8AC3E}">
        <p14:creationId xmlns:p14="http://schemas.microsoft.com/office/powerpoint/2010/main" val="217484350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標題及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文字版面配置區 2"/>
          <p:cNvSpPr>
            <a:spLocks noGrp="1"/>
          </p:cNvSpPr>
          <p:nvPr>
            <p:ph type="body" idx="1"/>
          </p:nvPr>
        </p:nvSpPr>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a:xfrm>
            <a:off x="457200" y="6356350"/>
            <a:ext cx="2133600" cy="365125"/>
          </a:xfrm>
          <a:prstGeom prst="rect">
            <a:avLst/>
          </a:prstGeom>
        </p:spPr>
        <p:txBody>
          <a:bodyPr/>
          <a:lstStyle/>
          <a:p>
            <a:fld id="{ECE0CA9B-E3E2-4731-AB05-2608E5B8D6E5}" type="datetime1">
              <a:rPr lang="zh-TW" altLang="en-US" smtClean="0"/>
              <a:t>2023/4/2</a:t>
            </a:fld>
            <a:endParaRPr lang="zh-TW" altLang="en-US"/>
          </a:p>
        </p:txBody>
      </p:sp>
      <p:sp>
        <p:nvSpPr>
          <p:cNvPr id="5" name="頁尾版面配置區 4"/>
          <p:cNvSpPr>
            <a:spLocks noGrp="1"/>
          </p:cNvSpPr>
          <p:nvPr>
            <p:ph type="ftr" sz="quarter" idx="11"/>
          </p:nvPr>
        </p:nvSpPr>
        <p:spPr>
          <a:xfrm>
            <a:off x="3124200" y="6356350"/>
            <a:ext cx="2895600" cy="365125"/>
          </a:xfrm>
          <a:prstGeom prst="rect">
            <a:avLst/>
          </a:prstGeom>
        </p:spPr>
        <p:txBody>
          <a:bodyPr/>
          <a:lstStyle/>
          <a:p>
            <a:endParaRPr lang="zh-TW" altLang="en-US"/>
          </a:p>
        </p:txBody>
      </p:sp>
      <p:sp>
        <p:nvSpPr>
          <p:cNvPr id="6" name="投影片編號版面配置區 5"/>
          <p:cNvSpPr>
            <a:spLocks noGrp="1"/>
          </p:cNvSpPr>
          <p:nvPr>
            <p:ph type="sldNum" sz="quarter" idx="12"/>
          </p:nvPr>
        </p:nvSpPr>
        <p:spPr/>
        <p:txBody>
          <a:bodyPr/>
          <a:lstStyle/>
          <a:p>
            <a:fld id="{5DDC22FF-AB65-4D90-9AB8-E808153956B4}" type="slidenum">
              <a:rPr lang="zh-TW" altLang="en-US" smtClean="0"/>
              <a:pPr/>
              <a:t>‹#›</a:t>
            </a:fld>
            <a:endParaRPr lang="zh-TW" altLang="en-US"/>
          </a:p>
        </p:txBody>
      </p:sp>
    </p:spTree>
    <p:extLst>
      <p:ext uri="{BB962C8B-B14F-4D97-AF65-F5344CB8AC3E}">
        <p14:creationId xmlns:p14="http://schemas.microsoft.com/office/powerpoint/2010/main" val="5190406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4.png"/><Relationship Id="rId2" Type="http://schemas.openxmlformats.org/officeDocument/2006/relationships/slideLayout" Target="../slideLayouts/slideLayout2.xml"/><Relationship Id="rId16"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pSp>
        <p:nvGrpSpPr>
          <p:cNvPr id="1026" name="Group 8"/>
          <p:cNvGrpSpPr>
            <a:grpSpLocks/>
          </p:cNvGrpSpPr>
          <p:nvPr/>
        </p:nvGrpSpPr>
        <p:grpSpPr bwMode="auto">
          <a:xfrm>
            <a:off x="0" y="241300"/>
            <a:ext cx="9028113" cy="6621463"/>
            <a:chOff x="0" y="152"/>
            <a:chExt cx="5687" cy="4171"/>
          </a:xfrm>
        </p:grpSpPr>
        <p:pic>
          <p:nvPicPr>
            <p:cNvPr id="1030" name="Picture 2"/>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0" y="3782"/>
              <a:ext cx="703" cy="5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31" name="Group 18"/>
            <p:cNvGrpSpPr>
              <a:grpSpLocks/>
            </p:cNvGrpSpPr>
            <p:nvPr/>
          </p:nvGrpSpPr>
          <p:grpSpPr bwMode="auto">
            <a:xfrm rot="5400000">
              <a:off x="2980" y="1897"/>
              <a:ext cx="300" cy="4399"/>
              <a:chOff x="4380" y="2475"/>
              <a:chExt cx="750" cy="6551"/>
            </a:xfrm>
          </p:grpSpPr>
          <p:cxnSp>
            <p:nvCxnSpPr>
              <p:cNvPr id="1037" name="AutoShape 19"/>
              <p:cNvCxnSpPr>
                <a:cxnSpLocks noChangeShapeType="1"/>
              </p:cNvCxnSpPr>
              <p:nvPr/>
            </p:nvCxnSpPr>
            <p:spPr bwMode="auto">
              <a:xfrm>
                <a:off x="4500" y="7276"/>
                <a:ext cx="450" cy="104"/>
              </a:xfrm>
              <a:prstGeom prst="straightConnector1">
                <a:avLst/>
              </a:prstGeom>
              <a:noFill/>
              <a:ln w="25400">
                <a:solidFill>
                  <a:srgbClr val="8DB3E2"/>
                </a:solidFill>
                <a:round/>
                <a:headEnd/>
                <a:tailEnd/>
              </a:ln>
              <a:extLst>
                <a:ext uri="{909E8E84-426E-40DD-AFC4-6F175D3DCCD1}">
                  <a14:hiddenFill xmlns:a14="http://schemas.microsoft.com/office/drawing/2010/main">
                    <a:noFill/>
                  </a14:hiddenFill>
                </a:ext>
              </a:extLst>
            </p:spPr>
          </p:cxnSp>
          <p:cxnSp>
            <p:nvCxnSpPr>
              <p:cNvPr id="1038" name="AutoShape 20"/>
              <p:cNvCxnSpPr>
                <a:cxnSpLocks noChangeShapeType="1"/>
              </p:cNvCxnSpPr>
              <p:nvPr/>
            </p:nvCxnSpPr>
            <p:spPr bwMode="auto">
              <a:xfrm flipH="1">
                <a:off x="4380" y="7380"/>
                <a:ext cx="570" cy="69"/>
              </a:xfrm>
              <a:prstGeom prst="straightConnector1">
                <a:avLst/>
              </a:prstGeom>
              <a:noFill/>
              <a:ln w="25400">
                <a:solidFill>
                  <a:srgbClr val="8DB3E2"/>
                </a:solidFill>
                <a:round/>
                <a:headEnd/>
                <a:tailEnd/>
              </a:ln>
              <a:extLst>
                <a:ext uri="{909E8E84-426E-40DD-AFC4-6F175D3DCCD1}">
                  <a14:hiddenFill xmlns:a14="http://schemas.microsoft.com/office/drawing/2010/main">
                    <a:noFill/>
                  </a14:hiddenFill>
                </a:ext>
              </a:extLst>
            </p:spPr>
          </p:cxnSp>
          <p:cxnSp>
            <p:nvCxnSpPr>
              <p:cNvPr id="1039" name="AutoShape 21"/>
              <p:cNvCxnSpPr>
                <a:cxnSpLocks noChangeShapeType="1"/>
              </p:cNvCxnSpPr>
              <p:nvPr/>
            </p:nvCxnSpPr>
            <p:spPr bwMode="auto">
              <a:xfrm>
                <a:off x="4380" y="7449"/>
                <a:ext cx="750" cy="81"/>
              </a:xfrm>
              <a:prstGeom prst="straightConnector1">
                <a:avLst/>
              </a:prstGeom>
              <a:noFill/>
              <a:ln w="25400">
                <a:solidFill>
                  <a:srgbClr val="8DB3E2"/>
                </a:solidFill>
                <a:round/>
                <a:headEnd/>
                <a:tailEnd/>
              </a:ln>
              <a:extLst>
                <a:ext uri="{909E8E84-426E-40DD-AFC4-6F175D3DCCD1}">
                  <a14:hiddenFill xmlns:a14="http://schemas.microsoft.com/office/drawing/2010/main">
                    <a:noFill/>
                  </a14:hiddenFill>
                </a:ext>
              </a:extLst>
            </p:spPr>
          </p:cxnSp>
          <p:cxnSp>
            <p:nvCxnSpPr>
              <p:cNvPr id="1040" name="AutoShape 22"/>
              <p:cNvCxnSpPr>
                <a:cxnSpLocks noChangeShapeType="1"/>
              </p:cNvCxnSpPr>
              <p:nvPr/>
            </p:nvCxnSpPr>
            <p:spPr bwMode="auto">
              <a:xfrm flipH="1">
                <a:off x="4500" y="7530"/>
                <a:ext cx="630" cy="81"/>
              </a:xfrm>
              <a:prstGeom prst="straightConnector1">
                <a:avLst/>
              </a:prstGeom>
              <a:noFill/>
              <a:ln w="25400">
                <a:solidFill>
                  <a:srgbClr val="8DB3E2"/>
                </a:solidFill>
                <a:round/>
                <a:headEnd/>
                <a:tailEnd/>
              </a:ln>
              <a:extLst>
                <a:ext uri="{909E8E84-426E-40DD-AFC4-6F175D3DCCD1}">
                  <a14:hiddenFill xmlns:a14="http://schemas.microsoft.com/office/drawing/2010/main">
                    <a:noFill/>
                  </a14:hiddenFill>
                </a:ext>
              </a:extLst>
            </p:spPr>
          </p:cxnSp>
          <p:cxnSp>
            <p:nvCxnSpPr>
              <p:cNvPr id="1041" name="AutoShape 23"/>
              <p:cNvCxnSpPr>
                <a:cxnSpLocks noChangeShapeType="1"/>
              </p:cNvCxnSpPr>
              <p:nvPr/>
            </p:nvCxnSpPr>
            <p:spPr bwMode="auto">
              <a:xfrm>
                <a:off x="4500" y="7611"/>
                <a:ext cx="420" cy="80"/>
              </a:xfrm>
              <a:prstGeom prst="straightConnector1">
                <a:avLst/>
              </a:prstGeom>
              <a:noFill/>
              <a:ln w="25400">
                <a:solidFill>
                  <a:srgbClr val="8DB3E2"/>
                </a:solidFill>
                <a:round/>
                <a:headEnd/>
                <a:tailEnd/>
              </a:ln>
              <a:extLst>
                <a:ext uri="{909E8E84-426E-40DD-AFC4-6F175D3DCCD1}">
                  <a14:hiddenFill xmlns:a14="http://schemas.microsoft.com/office/drawing/2010/main">
                    <a:noFill/>
                  </a14:hiddenFill>
                </a:ext>
              </a:extLst>
            </p:spPr>
          </p:cxnSp>
          <p:cxnSp>
            <p:nvCxnSpPr>
              <p:cNvPr id="1042" name="AutoShape 24"/>
              <p:cNvCxnSpPr>
                <a:cxnSpLocks noChangeShapeType="1"/>
              </p:cNvCxnSpPr>
              <p:nvPr/>
            </p:nvCxnSpPr>
            <p:spPr bwMode="auto">
              <a:xfrm flipH="1">
                <a:off x="4575" y="7691"/>
                <a:ext cx="345" cy="82"/>
              </a:xfrm>
              <a:prstGeom prst="straightConnector1">
                <a:avLst/>
              </a:prstGeom>
              <a:noFill/>
              <a:ln w="25400">
                <a:solidFill>
                  <a:srgbClr val="8DB3E2"/>
                </a:solidFill>
                <a:round/>
                <a:headEnd/>
                <a:tailEnd/>
              </a:ln>
              <a:extLst>
                <a:ext uri="{909E8E84-426E-40DD-AFC4-6F175D3DCCD1}">
                  <a14:hiddenFill xmlns:a14="http://schemas.microsoft.com/office/drawing/2010/main">
                    <a:noFill/>
                  </a14:hiddenFill>
                </a:ext>
              </a:extLst>
            </p:spPr>
          </p:cxnSp>
          <p:cxnSp>
            <p:nvCxnSpPr>
              <p:cNvPr id="1043" name="AutoShape 25"/>
              <p:cNvCxnSpPr>
                <a:cxnSpLocks noChangeShapeType="1"/>
              </p:cNvCxnSpPr>
              <p:nvPr/>
            </p:nvCxnSpPr>
            <p:spPr bwMode="auto">
              <a:xfrm>
                <a:off x="4575" y="7773"/>
                <a:ext cx="375" cy="81"/>
              </a:xfrm>
              <a:prstGeom prst="straightConnector1">
                <a:avLst/>
              </a:prstGeom>
              <a:noFill/>
              <a:ln w="25400">
                <a:solidFill>
                  <a:srgbClr val="8DB3E2"/>
                </a:solidFill>
                <a:round/>
                <a:headEnd/>
                <a:tailEnd/>
              </a:ln>
              <a:extLst>
                <a:ext uri="{909E8E84-426E-40DD-AFC4-6F175D3DCCD1}">
                  <a14:hiddenFill xmlns:a14="http://schemas.microsoft.com/office/drawing/2010/main">
                    <a:noFill/>
                  </a14:hiddenFill>
                </a:ext>
              </a:extLst>
            </p:spPr>
          </p:cxnSp>
          <p:cxnSp>
            <p:nvCxnSpPr>
              <p:cNvPr id="1044" name="AutoShape 26"/>
              <p:cNvCxnSpPr>
                <a:cxnSpLocks noChangeShapeType="1"/>
              </p:cNvCxnSpPr>
              <p:nvPr/>
            </p:nvCxnSpPr>
            <p:spPr bwMode="auto">
              <a:xfrm flipH="1">
                <a:off x="4500" y="7195"/>
                <a:ext cx="315" cy="81"/>
              </a:xfrm>
              <a:prstGeom prst="straightConnector1">
                <a:avLst/>
              </a:prstGeom>
              <a:noFill/>
              <a:ln w="25400">
                <a:solidFill>
                  <a:srgbClr val="8DB3E2"/>
                </a:solidFill>
                <a:round/>
                <a:headEnd/>
                <a:tailEnd/>
              </a:ln>
              <a:extLst>
                <a:ext uri="{909E8E84-426E-40DD-AFC4-6F175D3DCCD1}">
                  <a14:hiddenFill xmlns:a14="http://schemas.microsoft.com/office/drawing/2010/main">
                    <a:noFill/>
                  </a14:hiddenFill>
                </a:ext>
              </a:extLst>
            </p:spPr>
          </p:cxnSp>
          <p:cxnSp>
            <p:nvCxnSpPr>
              <p:cNvPr id="1045" name="AutoShape 27"/>
              <p:cNvCxnSpPr>
                <a:cxnSpLocks noChangeShapeType="1"/>
              </p:cNvCxnSpPr>
              <p:nvPr/>
            </p:nvCxnSpPr>
            <p:spPr bwMode="auto">
              <a:xfrm flipH="1">
                <a:off x="4725" y="7854"/>
                <a:ext cx="195" cy="81"/>
              </a:xfrm>
              <a:prstGeom prst="straightConnector1">
                <a:avLst/>
              </a:prstGeom>
              <a:noFill/>
              <a:ln w="25400">
                <a:solidFill>
                  <a:srgbClr val="8DB3E2"/>
                </a:solidFill>
                <a:round/>
                <a:headEnd/>
                <a:tailEnd/>
              </a:ln>
              <a:extLst>
                <a:ext uri="{909E8E84-426E-40DD-AFC4-6F175D3DCCD1}">
                  <a14:hiddenFill xmlns:a14="http://schemas.microsoft.com/office/drawing/2010/main">
                    <a:noFill/>
                  </a14:hiddenFill>
                </a:ext>
              </a:extLst>
            </p:spPr>
          </p:cxnSp>
          <p:cxnSp>
            <p:nvCxnSpPr>
              <p:cNvPr id="1046" name="AutoShape 28"/>
              <p:cNvCxnSpPr>
                <a:cxnSpLocks noChangeShapeType="1"/>
              </p:cNvCxnSpPr>
              <p:nvPr/>
            </p:nvCxnSpPr>
            <p:spPr bwMode="auto">
              <a:xfrm>
                <a:off x="4725" y="7935"/>
                <a:ext cx="0" cy="1091"/>
              </a:xfrm>
              <a:prstGeom prst="straightConnector1">
                <a:avLst/>
              </a:prstGeom>
              <a:noFill/>
              <a:ln w="25400">
                <a:solidFill>
                  <a:srgbClr val="8DB3E2"/>
                </a:solidFill>
                <a:round/>
                <a:headEnd/>
                <a:tailEnd/>
              </a:ln>
              <a:extLst>
                <a:ext uri="{909E8E84-426E-40DD-AFC4-6F175D3DCCD1}">
                  <a14:hiddenFill xmlns:a14="http://schemas.microsoft.com/office/drawing/2010/main">
                    <a:noFill/>
                  </a14:hiddenFill>
                </a:ext>
              </a:extLst>
            </p:spPr>
          </p:cxnSp>
          <p:cxnSp>
            <p:nvCxnSpPr>
              <p:cNvPr id="1047" name="AutoShape 29"/>
              <p:cNvCxnSpPr>
                <a:cxnSpLocks noChangeShapeType="1"/>
              </p:cNvCxnSpPr>
              <p:nvPr/>
            </p:nvCxnSpPr>
            <p:spPr bwMode="auto">
              <a:xfrm>
                <a:off x="4816" y="2475"/>
                <a:ext cx="0" cy="4717"/>
              </a:xfrm>
              <a:prstGeom prst="straightConnector1">
                <a:avLst/>
              </a:prstGeom>
              <a:noFill/>
              <a:ln w="25400">
                <a:solidFill>
                  <a:srgbClr val="8DB3E2"/>
                </a:solidFill>
                <a:round/>
                <a:headEnd/>
                <a:tailEnd/>
              </a:ln>
              <a:extLst>
                <a:ext uri="{909E8E84-426E-40DD-AFC4-6F175D3DCCD1}">
                  <a14:hiddenFill xmlns:a14="http://schemas.microsoft.com/office/drawing/2010/main">
                    <a:noFill/>
                  </a14:hiddenFill>
                </a:ext>
              </a:extLst>
            </p:spPr>
          </p:cxnSp>
        </p:grpSp>
        <p:pic>
          <p:nvPicPr>
            <p:cNvPr id="1032" name="Picture 34"/>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107" y="4133"/>
              <a:ext cx="2148" cy="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3" name="Picture 2"/>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5267" y="3906"/>
              <a:ext cx="420" cy="4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 name="Rectangle 2"/>
            <p:cNvSpPr>
              <a:spLocks noChangeArrowheads="1"/>
            </p:cNvSpPr>
            <p:nvPr/>
          </p:nvSpPr>
          <p:spPr bwMode="auto">
            <a:xfrm>
              <a:off x="204" y="152"/>
              <a:ext cx="5398" cy="735"/>
            </a:xfrm>
            <a:prstGeom prst="rect">
              <a:avLst/>
            </a:prstGeom>
            <a:gradFill rotWithShape="0">
              <a:gsLst>
                <a:gs pos="0">
                  <a:srgbClr val="CCFFFF"/>
                </a:gs>
                <a:gs pos="100000">
                  <a:srgbClr val="FFFFFF"/>
                </a:gs>
              </a:gsLst>
              <a:lin ang="5400000" scaled="1"/>
            </a:gradFill>
            <a:ln w="9525">
              <a:noFill/>
              <a:miter lim="800000"/>
              <a:headEnd/>
              <a:tailEnd/>
            </a:ln>
            <a:effectLst>
              <a:outerShdw dist="35921" dir="2700000" algn="ctr" rotWithShape="0">
                <a:srgbClr val="DAEEF3"/>
              </a:outerShdw>
            </a:effectLst>
          </p:spPr>
          <p:txBody>
            <a:bodyPr/>
            <a:lstStyle/>
            <a:p>
              <a:pPr fontAlgn="auto">
                <a:spcBef>
                  <a:spcPts val="0"/>
                </a:spcBef>
                <a:spcAft>
                  <a:spcPts val="0"/>
                </a:spcAft>
                <a:defRPr/>
              </a:pPr>
              <a:endParaRPr kumimoji="0" lang="zh-TW" altLang="en-US">
                <a:latin typeface="+mn-lt"/>
                <a:ea typeface="+mn-ea"/>
              </a:endParaRPr>
            </a:p>
          </p:txBody>
        </p:sp>
        <p:sp>
          <p:nvSpPr>
            <p:cNvPr id="24" name="Rectangle 7"/>
            <p:cNvSpPr>
              <a:spLocks noChangeArrowheads="1"/>
            </p:cNvSpPr>
            <p:nvPr/>
          </p:nvSpPr>
          <p:spPr bwMode="auto">
            <a:xfrm>
              <a:off x="204" y="935"/>
              <a:ext cx="5398" cy="2903"/>
            </a:xfrm>
            <a:prstGeom prst="rect">
              <a:avLst/>
            </a:prstGeom>
            <a:gradFill rotWithShape="1">
              <a:gsLst>
                <a:gs pos="0">
                  <a:srgbClr val="E7FFFD"/>
                </a:gs>
                <a:gs pos="50000">
                  <a:srgbClr val="FFFFFF"/>
                </a:gs>
                <a:gs pos="100000">
                  <a:srgbClr val="E7FFFD"/>
                </a:gs>
              </a:gsLst>
              <a:lin ang="5400000" scaled="1"/>
            </a:gradFill>
            <a:ln w="9525">
              <a:solidFill>
                <a:srgbClr val="FFFFFF"/>
              </a:solidFill>
              <a:miter lim="800000"/>
              <a:headEnd/>
              <a:tailEnd/>
            </a:ln>
            <a:effectLst>
              <a:outerShdw dist="35921" dir="2700000" algn="ctr" rotWithShape="0">
                <a:srgbClr val="DAEEF3"/>
              </a:outerShdw>
            </a:effectLst>
          </p:spPr>
          <p:txBody>
            <a:bodyPr/>
            <a:lstStyle/>
            <a:p>
              <a:pPr fontAlgn="auto">
                <a:spcBef>
                  <a:spcPts val="0"/>
                </a:spcBef>
                <a:spcAft>
                  <a:spcPts val="0"/>
                </a:spcAft>
                <a:defRPr/>
              </a:pPr>
              <a:endParaRPr kumimoji="0" lang="zh-TW" altLang="en-US">
                <a:latin typeface="+mn-lt"/>
                <a:ea typeface="+mn-ea"/>
              </a:endParaRPr>
            </a:p>
          </p:txBody>
        </p:sp>
        <p:pic>
          <p:nvPicPr>
            <p:cNvPr id="1036" name="Picture 26"/>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2311" y="3942"/>
              <a:ext cx="2928" cy="1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027" name="Rectangle 2"/>
          <p:cNvSpPr>
            <a:spLocks noGrp="1" noChangeArrowheads="1"/>
          </p:cNvSpPr>
          <p:nvPr>
            <p:ph type="title"/>
          </p:nvPr>
        </p:nvSpPr>
        <p:spPr bwMode="auto">
          <a:xfrm>
            <a:off x="395288" y="274638"/>
            <a:ext cx="8435975"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TW" altLang="en-US" smtClean="0"/>
              <a:t>按一下以編輯母片標題樣式</a:t>
            </a:r>
          </a:p>
        </p:txBody>
      </p:sp>
      <p:sp>
        <p:nvSpPr>
          <p:cNvPr id="1028" name="Rectangle 3"/>
          <p:cNvSpPr>
            <a:spLocks noGrp="1" noChangeArrowheads="1"/>
          </p:cNvSpPr>
          <p:nvPr>
            <p:ph type="body" idx="1"/>
          </p:nvPr>
        </p:nvSpPr>
        <p:spPr bwMode="auto">
          <a:xfrm>
            <a:off x="395288" y="1600200"/>
            <a:ext cx="8497887"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TW" altLang="en-US" smtClean="0"/>
              <a:t>按一下以編輯母片</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p>
        </p:txBody>
      </p:sp>
      <p:sp>
        <p:nvSpPr>
          <p:cNvPr id="1051" name="Rectangle 27"/>
          <p:cNvSpPr>
            <a:spLocks noGrp="1" noChangeArrowheads="1"/>
          </p:cNvSpPr>
          <p:nvPr>
            <p:ph type="sldNum" sz="quarter" idx="4"/>
          </p:nvPr>
        </p:nvSpPr>
        <p:spPr bwMode="auto">
          <a:xfrm>
            <a:off x="1547813" y="6453188"/>
            <a:ext cx="477837" cy="404812"/>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600">
                <a:latin typeface="Goudy Old Style" panose="02020502050305020303" pitchFamily="18" charset="0"/>
              </a:defRPr>
            </a:lvl1pPr>
          </a:lstStyle>
          <a:p>
            <a:fld id="{5DDC22FF-AB65-4D90-9AB8-E808153956B4}" type="slidenum">
              <a:rPr lang="zh-TW" altLang="en-US" smtClean="0"/>
              <a:pPr/>
              <a:t>‹#›</a:t>
            </a:fld>
            <a:endParaRPr lang="zh-TW" altLang="en-US"/>
          </a:p>
        </p:txBody>
      </p:sp>
    </p:spTree>
    <p:extLst>
      <p:ext uri="{BB962C8B-B14F-4D97-AF65-F5344CB8AC3E}">
        <p14:creationId xmlns:p14="http://schemas.microsoft.com/office/powerpoint/2010/main" val="3199265951"/>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hf hdr="0" ftr="0"/>
  <p:txStyles>
    <p:titleStyle>
      <a:lvl1pPr algn="l" rtl="0" eaLnBrk="1" fontAlgn="base" hangingPunct="1">
        <a:spcBef>
          <a:spcPct val="0"/>
        </a:spcBef>
        <a:spcAft>
          <a:spcPct val="0"/>
        </a:spcAft>
        <a:defRPr kumimoji="1" sz="3600">
          <a:solidFill>
            <a:schemeClr val="tx2"/>
          </a:solidFill>
          <a:latin typeface="Times New Roman" pitchFamily="18" charset="0"/>
          <a:ea typeface="+mj-ea"/>
          <a:cs typeface="Times New Roman" pitchFamily="18" charset="0"/>
        </a:defRPr>
      </a:lvl1pPr>
      <a:lvl2pPr algn="l" rtl="0" eaLnBrk="1" fontAlgn="base" hangingPunct="1">
        <a:spcBef>
          <a:spcPct val="0"/>
        </a:spcBef>
        <a:spcAft>
          <a:spcPct val="0"/>
        </a:spcAft>
        <a:defRPr kumimoji="1" sz="3600">
          <a:solidFill>
            <a:schemeClr val="tx2"/>
          </a:solidFill>
          <a:latin typeface="Times New Roman" pitchFamily="18" charset="0"/>
          <a:ea typeface="標楷體" pitchFamily="65" charset="-120"/>
          <a:cs typeface="Times New Roman" pitchFamily="18" charset="0"/>
        </a:defRPr>
      </a:lvl2pPr>
      <a:lvl3pPr algn="l" rtl="0" eaLnBrk="1" fontAlgn="base" hangingPunct="1">
        <a:spcBef>
          <a:spcPct val="0"/>
        </a:spcBef>
        <a:spcAft>
          <a:spcPct val="0"/>
        </a:spcAft>
        <a:defRPr kumimoji="1" sz="3600">
          <a:solidFill>
            <a:schemeClr val="tx2"/>
          </a:solidFill>
          <a:latin typeface="Times New Roman" pitchFamily="18" charset="0"/>
          <a:ea typeface="標楷體" pitchFamily="65" charset="-120"/>
          <a:cs typeface="Times New Roman" pitchFamily="18" charset="0"/>
        </a:defRPr>
      </a:lvl3pPr>
      <a:lvl4pPr algn="l" rtl="0" eaLnBrk="1" fontAlgn="base" hangingPunct="1">
        <a:spcBef>
          <a:spcPct val="0"/>
        </a:spcBef>
        <a:spcAft>
          <a:spcPct val="0"/>
        </a:spcAft>
        <a:defRPr kumimoji="1" sz="3600">
          <a:solidFill>
            <a:schemeClr val="tx2"/>
          </a:solidFill>
          <a:latin typeface="Times New Roman" pitchFamily="18" charset="0"/>
          <a:ea typeface="標楷體" pitchFamily="65" charset="-120"/>
          <a:cs typeface="Times New Roman" pitchFamily="18" charset="0"/>
        </a:defRPr>
      </a:lvl4pPr>
      <a:lvl5pPr algn="l" rtl="0" eaLnBrk="1" fontAlgn="base" hangingPunct="1">
        <a:spcBef>
          <a:spcPct val="0"/>
        </a:spcBef>
        <a:spcAft>
          <a:spcPct val="0"/>
        </a:spcAft>
        <a:defRPr kumimoji="1" sz="3600">
          <a:solidFill>
            <a:schemeClr val="tx2"/>
          </a:solidFill>
          <a:latin typeface="Times New Roman" pitchFamily="18" charset="0"/>
          <a:ea typeface="標楷體" pitchFamily="65" charset="-120"/>
          <a:cs typeface="Times New Roman" pitchFamily="18" charset="0"/>
        </a:defRPr>
      </a:lvl5pPr>
      <a:lvl6pPr marL="457200" algn="l" rtl="0" eaLnBrk="1" fontAlgn="base" hangingPunct="1">
        <a:spcBef>
          <a:spcPct val="0"/>
        </a:spcBef>
        <a:spcAft>
          <a:spcPct val="0"/>
        </a:spcAft>
        <a:defRPr kumimoji="1" sz="4400">
          <a:solidFill>
            <a:schemeClr val="tx2"/>
          </a:solidFill>
          <a:latin typeface="Arial" charset="0"/>
          <a:ea typeface="標楷體" pitchFamily="65" charset="-120"/>
        </a:defRPr>
      </a:lvl6pPr>
      <a:lvl7pPr marL="914400" algn="l" rtl="0" eaLnBrk="1" fontAlgn="base" hangingPunct="1">
        <a:spcBef>
          <a:spcPct val="0"/>
        </a:spcBef>
        <a:spcAft>
          <a:spcPct val="0"/>
        </a:spcAft>
        <a:defRPr kumimoji="1" sz="4400">
          <a:solidFill>
            <a:schemeClr val="tx2"/>
          </a:solidFill>
          <a:latin typeface="Arial" charset="0"/>
          <a:ea typeface="標楷體" pitchFamily="65" charset="-120"/>
        </a:defRPr>
      </a:lvl7pPr>
      <a:lvl8pPr marL="1371600" algn="l" rtl="0" eaLnBrk="1" fontAlgn="base" hangingPunct="1">
        <a:spcBef>
          <a:spcPct val="0"/>
        </a:spcBef>
        <a:spcAft>
          <a:spcPct val="0"/>
        </a:spcAft>
        <a:defRPr kumimoji="1" sz="4400">
          <a:solidFill>
            <a:schemeClr val="tx2"/>
          </a:solidFill>
          <a:latin typeface="Arial" charset="0"/>
          <a:ea typeface="標楷體" pitchFamily="65" charset="-120"/>
        </a:defRPr>
      </a:lvl8pPr>
      <a:lvl9pPr marL="1828800" algn="l" rtl="0" eaLnBrk="1" fontAlgn="base" hangingPunct="1">
        <a:spcBef>
          <a:spcPct val="0"/>
        </a:spcBef>
        <a:spcAft>
          <a:spcPct val="0"/>
        </a:spcAft>
        <a:defRPr kumimoji="1" sz="4400">
          <a:solidFill>
            <a:schemeClr val="tx2"/>
          </a:solidFill>
          <a:latin typeface="Arial" charset="0"/>
          <a:ea typeface="標楷體" pitchFamily="65" charset="-120"/>
        </a:defRPr>
      </a:lvl9pPr>
    </p:titleStyle>
    <p:bodyStyle>
      <a:lvl1pPr marL="342900" indent="-342900" algn="l" rtl="0" eaLnBrk="1" fontAlgn="base" hangingPunct="1">
        <a:spcBef>
          <a:spcPct val="20000"/>
        </a:spcBef>
        <a:spcAft>
          <a:spcPct val="0"/>
        </a:spcAft>
        <a:buClr>
          <a:srgbClr val="8EB4E3"/>
        </a:buClr>
        <a:buFont typeface="Arial" panose="020B0604020202020204" pitchFamily="34" charset="0"/>
        <a:buChar char="●"/>
        <a:defRPr kumimoji="1" sz="2800">
          <a:solidFill>
            <a:schemeClr val="tx1"/>
          </a:solidFill>
          <a:latin typeface="Times New Roman" pitchFamily="18" charset="0"/>
          <a:ea typeface="+mn-ea"/>
          <a:cs typeface="Times New Roman" pitchFamily="18" charset="0"/>
        </a:defRPr>
      </a:lvl1pPr>
      <a:lvl2pPr marL="742950" indent="-285750" algn="l" rtl="0" eaLnBrk="1" fontAlgn="base" hangingPunct="1">
        <a:spcBef>
          <a:spcPct val="20000"/>
        </a:spcBef>
        <a:spcAft>
          <a:spcPct val="0"/>
        </a:spcAft>
        <a:buClr>
          <a:srgbClr val="8EB4E3"/>
        </a:buClr>
        <a:buFont typeface="Arial" panose="020B0604020202020204" pitchFamily="34" charset="0"/>
        <a:buChar char="●"/>
        <a:defRPr kumimoji="1" sz="2400">
          <a:solidFill>
            <a:schemeClr val="tx1"/>
          </a:solidFill>
          <a:latin typeface="Times New Roman" pitchFamily="18" charset="0"/>
          <a:ea typeface="+mn-ea"/>
          <a:cs typeface="Times New Roman" pitchFamily="18" charset="0"/>
        </a:defRPr>
      </a:lvl2pPr>
      <a:lvl3pPr marL="1143000" indent="-228600" algn="l" rtl="0" eaLnBrk="1" fontAlgn="base" hangingPunct="1">
        <a:spcBef>
          <a:spcPct val="20000"/>
        </a:spcBef>
        <a:spcAft>
          <a:spcPct val="0"/>
        </a:spcAft>
        <a:buClr>
          <a:srgbClr val="8EB4E3"/>
        </a:buClr>
        <a:buFont typeface="Arial" panose="020B0604020202020204" pitchFamily="34" charset="0"/>
        <a:buChar char="●"/>
        <a:defRPr kumimoji="1" sz="2000">
          <a:solidFill>
            <a:schemeClr val="tx1"/>
          </a:solidFill>
          <a:latin typeface="Times New Roman" pitchFamily="18" charset="0"/>
          <a:ea typeface="+mn-ea"/>
          <a:cs typeface="Times New Roman" pitchFamily="18" charset="0"/>
        </a:defRPr>
      </a:lvl3pPr>
      <a:lvl4pPr marL="1600200" indent="-228600" algn="l" rtl="0" eaLnBrk="1" fontAlgn="base" hangingPunct="1">
        <a:spcBef>
          <a:spcPct val="20000"/>
        </a:spcBef>
        <a:spcAft>
          <a:spcPct val="0"/>
        </a:spcAft>
        <a:buClr>
          <a:srgbClr val="8EB4E3"/>
        </a:buClr>
        <a:buFont typeface="Arial" panose="020B0604020202020204" pitchFamily="34" charset="0"/>
        <a:buChar char="●"/>
        <a:defRPr kumimoji="1">
          <a:solidFill>
            <a:schemeClr val="tx1"/>
          </a:solidFill>
          <a:latin typeface="Times New Roman" pitchFamily="18" charset="0"/>
          <a:ea typeface="+mn-ea"/>
          <a:cs typeface="Times New Roman" pitchFamily="18" charset="0"/>
        </a:defRPr>
      </a:lvl4pPr>
      <a:lvl5pPr marL="2057400" indent="-228600" algn="l" rtl="0" eaLnBrk="1" fontAlgn="base" hangingPunct="1">
        <a:spcBef>
          <a:spcPct val="20000"/>
        </a:spcBef>
        <a:spcAft>
          <a:spcPct val="0"/>
        </a:spcAft>
        <a:buClr>
          <a:srgbClr val="8EB4E3"/>
        </a:buClr>
        <a:buFont typeface="Arial" panose="020B0604020202020204" pitchFamily="34" charset="0"/>
        <a:buChar char="●"/>
        <a:defRPr kumimoji="1">
          <a:solidFill>
            <a:schemeClr val="tx1"/>
          </a:solidFill>
          <a:latin typeface="Times New Roman" pitchFamily="18" charset="0"/>
          <a:ea typeface="+mn-ea"/>
          <a:cs typeface="Times New Roman" pitchFamily="18" charset="0"/>
        </a:defRPr>
      </a:lvl5pPr>
      <a:lvl6pPr marL="2514600" indent="-228600" algn="l" rtl="0" eaLnBrk="1" fontAlgn="base" hangingPunct="1">
        <a:spcBef>
          <a:spcPct val="20000"/>
        </a:spcBef>
        <a:spcAft>
          <a:spcPct val="0"/>
        </a:spcAft>
        <a:buClr>
          <a:srgbClr val="8EB4E3"/>
        </a:buClr>
        <a:buFont typeface="Arial" charset="0"/>
        <a:buChar char="●"/>
        <a:defRPr kumimoji="1" sz="2000">
          <a:solidFill>
            <a:schemeClr val="tx1"/>
          </a:solidFill>
          <a:latin typeface="+mn-lt"/>
          <a:ea typeface="+mn-ea"/>
        </a:defRPr>
      </a:lvl6pPr>
      <a:lvl7pPr marL="2971800" indent="-228600" algn="l" rtl="0" eaLnBrk="1" fontAlgn="base" hangingPunct="1">
        <a:spcBef>
          <a:spcPct val="20000"/>
        </a:spcBef>
        <a:spcAft>
          <a:spcPct val="0"/>
        </a:spcAft>
        <a:buClr>
          <a:srgbClr val="8EB4E3"/>
        </a:buClr>
        <a:buFont typeface="Arial" charset="0"/>
        <a:buChar char="●"/>
        <a:defRPr kumimoji="1" sz="2000">
          <a:solidFill>
            <a:schemeClr val="tx1"/>
          </a:solidFill>
          <a:latin typeface="+mn-lt"/>
          <a:ea typeface="+mn-ea"/>
        </a:defRPr>
      </a:lvl7pPr>
      <a:lvl8pPr marL="3429000" indent="-228600" algn="l" rtl="0" eaLnBrk="1" fontAlgn="base" hangingPunct="1">
        <a:spcBef>
          <a:spcPct val="20000"/>
        </a:spcBef>
        <a:spcAft>
          <a:spcPct val="0"/>
        </a:spcAft>
        <a:buClr>
          <a:srgbClr val="8EB4E3"/>
        </a:buClr>
        <a:buFont typeface="Arial" charset="0"/>
        <a:buChar char="●"/>
        <a:defRPr kumimoji="1" sz="2000">
          <a:solidFill>
            <a:schemeClr val="tx1"/>
          </a:solidFill>
          <a:latin typeface="+mn-lt"/>
          <a:ea typeface="+mn-ea"/>
        </a:defRPr>
      </a:lvl8pPr>
      <a:lvl9pPr marL="3886200" indent="-228600" algn="l" rtl="0" eaLnBrk="1" fontAlgn="base" hangingPunct="1">
        <a:spcBef>
          <a:spcPct val="20000"/>
        </a:spcBef>
        <a:spcAft>
          <a:spcPct val="0"/>
        </a:spcAft>
        <a:buClr>
          <a:srgbClr val="8EB4E3"/>
        </a:buClr>
        <a:buFont typeface="Arial" charset="0"/>
        <a:buChar char="●"/>
        <a:defRPr kumimoji="1" sz="2000">
          <a:solidFill>
            <a:schemeClr val="tx1"/>
          </a:solidFill>
          <a:latin typeface="+mn-lt"/>
          <a:ea typeface="+mn-ea"/>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7.xml"/><Relationship Id="rId1" Type="http://schemas.openxmlformats.org/officeDocument/2006/relationships/vmlDrawing" Target="../drawings/vmlDrawing1.vml"/><Relationship Id="rId4" Type="http://schemas.openxmlformats.org/officeDocument/2006/relationships/image" Target="../media/image14.emf"/></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p:txBody>
          <a:bodyPr/>
          <a:lstStyle/>
          <a:p>
            <a:r>
              <a:rPr lang="zh-TW" altLang="en-US" b="1" i="0" u="none" strike="noStrike" kern="2600" baseline="0" dirty="0" smtClean="0">
                <a:latin typeface="Arial"/>
                <a:ea typeface="標楷體"/>
              </a:rPr>
              <a:t>第</a:t>
            </a:r>
            <a:r>
              <a:rPr lang="en-US" altLang="zh-TW" b="1" i="0" u="none" strike="noStrike" kern="2600" baseline="0" dirty="0" smtClean="0">
                <a:latin typeface="Arial"/>
                <a:ea typeface="標楷體"/>
              </a:rPr>
              <a:t>04</a:t>
            </a:r>
            <a:r>
              <a:rPr lang="zh-TW" altLang="en-US" b="1" i="0" u="none" strike="noStrike" kern="2600" baseline="0" dirty="0" smtClean="0">
                <a:latin typeface="Arial"/>
                <a:ea typeface="標楷體"/>
              </a:rPr>
              <a:t>章 資訊安全法律與倫理</a:t>
            </a:r>
            <a:endParaRPr lang="zh-TW" altLang="en-US" dirty="0"/>
          </a:p>
        </p:txBody>
      </p:sp>
      <p:sp>
        <p:nvSpPr>
          <p:cNvPr id="3" name="副標題 2"/>
          <p:cNvSpPr>
            <a:spLocks noGrp="1"/>
          </p:cNvSpPr>
          <p:nvPr>
            <p:ph type="subTitle" idx="1"/>
          </p:nvPr>
        </p:nvSpPr>
        <p:spPr/>
        <p:txBody>
          <a:bodyPr/>
          <a:lstStyle/>
          <a:p>
            <a:endParaRPr lang="zh-TW" altLang="en-US"/>
          </a:p>
        </p:txBody>
      </p:sp>
    </p:spTree>
    <p:extLst>
      <p:ext uri="{BB962C8B-B14F-4D97-AF65-F5344CB8AC3E}">
        <p14:creationId xmlns:p14="http://schemas.microsoft.com/office/powerpoint/2010/main" val="22948953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b="1" i="0" u="none" strike="noStrike" kern="2600" baseline="0" dirty="0" smtClean="0">
                <a:latin typeface="Arial"/>
                <a:ea typeface="標楷體"/>
              </a:rPr>
              <a:t>第</a:t>
            </a:r>
            <a:r>
              <a:rPr lang="en-US" altLang="zh-TW" b="1" kern="2600" dirty="0" smtClean="0">
                <a:latin typeface="Arial"/>
                <a:ea typeface="標楷體"/>
              </a:rPr>
              <a:t>04</a:t>
            </a:r>
            <a:r>
              <a:rPr lang="zh-TW" altLang="en-US" b="1" i="0" u="none" strike="noStrike" kern="2600" baseline="0" dirty="0" smtClean="0">
                <a:latin typeface="Arial"/>
                <a:ea typeface="標楷體"/>
              </a:rPr>
              <a:t>章 資訊安全法律與倫理</a:t>
            </a:r>
            <a:endParaRPr lang="zh-TW" altLang="en-US" b="1" i="0" u="none" strike="noStrike" kern="2600" baseline="0" dirty="0" smtClean="0">
              <a:latin typeface="Times New Roman"/>
              <a:ea typeface="標楷體"/>
            </a:endParaRPr>
          </a:p>
        </p:txBody>
      </p:sp>
      <p:sp>
        <p:nvSpPr>
          <p:cNvPr id="3" name="文字版面配置區 2"/>
          <p:cNvSpPr>
            <a:spLocks noGrp="1"/>
          </p:cNvSpPr>
          <p:nvPr>
            <p:ph type="body" idx="1"/>
          </p:nvPr>
        </p:nvSpPr>
        <p:spPr/>
        <p:txBody>
          <a:bodyPr>
            <a:normAutofit/>
          </a:bodyPr>
          <a:lstStyle/>
          <a:p>
            <a:pPr marR="0" lvl="0" rtl="0"/>
            <a:r>
              <a:rPr lang="zh-TW" altLang="en-US" b="1" i="0" u="none" strike="noStrike" kern="100" baseline="0" dirty="0" smtClean="0">
                <a:latin typeface="Arial"/>
                <a:ea typeface="標楷體"/>
              </a:rPr>
              <a:t>本章介紹網路上涉及的法律問題，以及發生電腦犯罪案件時數位證據的蒐集和鑑識，並介紹資訊倫理相關議題。</a:t>
            </a:r>
          </a:p>
          <a:p>
            <a:pPr marR="0" lvl="0" rtl="0"/>
            <a:r>
              <a:rPr lang="en-US" altLang="zh-TW" b="1" i="0" u="none" strike="noStrike" kern="100" baseline="0" dirty="0" smtClean="0">
                <a:latin typeface="Arial"/>
                <a:ea typeface="標楷體"/>
              </a:rPr>
              <a:t>4.1.</a:t>
            </a:r>
            <a:r>
              <a:rPr lang="zh-TW" altLang="en-US" b="1" i="0" u="none" strike="noStrike" kern="100" baseline="0" dirty="0" smtClean="0">
                <a:latin typeface="Arial"/>
                <a:ea typeface="標楷體"/>
              </a:rPr>
              <a:t>	前言</a:t>
            </a:r>
          </a:p>
          <a:p>
            <a:pPr marR="0" lvl="0" rtl="0"/>
            <a:r>
              <a:rPr lang="en-US" altLang="zh-TW" b="1" i="0" u="none" strike="noStrike" kern="100" baseline="0" dirty="0" smtClean="0">
                <a:latin typeface="Arial"/>
                <a:ea typeface="標楷體"/>
              </a:rPr>
              <a:t>4.2.</a:t>
            </a:r>
            <a:r>
              <a:rPr lang="zh-TW" altLang="en-US" b="1" i="0" u="none" strike="noStrike" kern="100" baseline="0" dirty="0" smtClean="0">
                <a:latin typeface="Arial"/>
                <a:ea typeface="標楷體"/>
              </a:rPr>
              <a:t>	智慧財產權</a:t>
            </a:r>
          </a:p>
          <a:p>
            <a:pPr marR="0" lvl="0" rtl="0"/>
            <a:r>
              <a:rPr lang="en-US" altLang="zh-TW" b="1" i="0" u="none" strike="noStrike" kern="100" baseline="0" dirty="0" smtClean="0">
                <a:latin typeface="Arial"/>
                <a:ea typeface="標楷體"/>
              </a:rPr>
              <a:t>4.3.</a:t>
            </a:r>
            <a:r>
              <a:rPr lang="zh-TW" altLang="en-US" b="1" i="0" u="none" strike="noStrike" kern="100" baseline="0" dirty="0" smtClean="0">
                <a:latin typeface="Arial"/>
                <a:ea typeface="標楷體"/>
              </a:rPr>
              <a:t>	網際網路相關的法律</a:t>
            </a:r>
          </a:p>
          <a:p>
            <a:pPr marR="0" lvl="0" rtl="0"/>
            <a:r>
              <a:rPr lang="en-US" altLang="zh-TW" b="1" i="0" u="none" strike="noStrike" kern="100" baseline="0" dirty="0" smtClean="0">
                <a:latin typeface="Arial"/>
                <a:ea typeface="標楷體"/>
              </a:rPr>
              <a:t>4.4.</a:t>
            </a:r>
            <a:r>
              <a:rPr lang="zh-TW" altLang="en-US" b="1" i="0" u="none" strike="noStrike" kern="100" baseline="0" dirty="0" smtClean="0">
                <a:latin typeface="Arial"/>
                <a:ea typeface="標楷體"/>
              </a:rPr>
              <a:t>	電腦鑑識與數位證據</a:t>
            </a:r>
          </a:p>
          <a:p>
            <a:pPr marR="0" lvl="0" rtl="0"/>
            <a:r>
              <a:rPr lang="en-US" altLang="zh-TW" b="1" i="0" u="none" strike="noStrike" kern="100" baseline="0" dirty="0" smtClean="0">
                <a:latin typeface="Arial"/>
                <a:ea typeface="標楷體"/>
              </a:rPr>
              <a:t>4.5.</a:t>
            </a:r>
            <a:r>
              <a:rPr lang="zh-TW" altLang="en-US" b="1" i="0" u="none" strike="noStrike" kern="100" baseline="0" dirty="0" smtClean="0">
                <a:latin typeface="Arial"/>
                <a:ea typeface="標楷體"/>
              </a:rPr>
              <a:t>	資訊倫理</a:t>
            </a:r>
            <a:endParaRPr lang="zh-TW" altLang="en-US" b="1" i="0" u="none" strike="noStrike" kern="100" baseline="0" dirty="0" smtClean="0">
              <a:latin typeface="Times New Roman"/>
              <a:ea typeface="標楷體"/>
            </a:endParaRPr>
          </a:p>
        </p:txBody>
      </p:sp>
      <p:sp>
        <p:nvSpPr>
          <p:cNvPr id="4" name="日期版面配置區 3"/>
          <p:cNvSpPr>
            <a:spLocks noGrp="1"/>
          </p:cNvSpPr>
          <p:nvPr>
            <p:ph type="dt" sz="half" idx="10"/>
          </p:nvPr>
        </p:nvSpPr>
        <p:spPr/>
        <p:txBody>
          <a:bodyPr/>
          <a:lstStyle/>
          <a:p>
            <a:fld id="{E7AB163E-AD22-4123-AFB4-D7BEC9DFFB98}" type="datetime1">
              <a:rPr lang="zh-TW" altLang="en-US" smtClean="0"/>
              <a:t>2023/4/2</a:t>
            </a:fld>
            <a:endParaRPr lang="zh-TW" altLang="en-US"/>
          </a:p>
        </p:txBody>
      </p:sp>
      <p:sp>
        <p:nvSpPr>
          <p:cNvPr id="5" name="投影片編號版面配置區 4"/>
          <p:cNvSpPr>
            <a:spLocks noGrp="1"/>
          </p:cNvSpPr>
          <p:nvPr>
            <p:ph type="sldNum" sz="quarter" idx="12"/>
          </p:nvPr>
        </p:nvSpPr>
        <p:spPr/>
        <p:txBody>
          <a:bodyPr/>
          <a:lstStyle/>
          <a:p>
            <a:fld id="{5DDC22FF-AB65-4D90-9AB8-E808153956B4}" type="slidenum">
              <a:rPr lang="zh-TW" altLang="en-US" smtClean="0"/>
              <a:pPr/>
              <a:t>2</a:t>
            </a:fld>
            <a:endParaRPr lang="zh-TW" altLang="en-US"/>
          </a:p>
        </p:txBody>
      </p:sp>
    </p:spTree>
    <p:extLst>
      <p:ext uri="{BB962C8B-B14F-4D97-AF65-F5344CB8AC3E}">
        <p14:creationId xmlns:p14="http://schemas.microsoft.com/office/powerpoint/2010/main" val="10390328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marR="0" rtl="0"/>
            <a:r>
              <a:rPr lang="en-US" altLang="zh-TW" b="1" i="0" u="none" strike="noStrike" kern="2600" baseline="0" smtClean="0">
                <a:latin typeface="Arial"/>
                <a:ea typeface="標楷體"/>
              </a:rPr>
              <a:t>4.1 </a:t>
            </a:r>
            <a:r>
              <a:rPr lang="zh-TW" altLang="en-US" b="1" i="0" u="none" strike="noStrike" kern="2600" baseline="0" smtClean="0">
                <a:latin typeface="Arial"/>
                <a:ea typeface="標楷體"/>
              </a:rPr>
              <a:t>前言</a:t>
            </a:r>
            <a:endParaRPr lang="zh-TW" altLang="en-US" b="1" i="0" u="none" strike="noStrike" kern="2600" baseline="0" smtClean="0">
              <a:latin typeface="Times New Roman"/>
              <a:ea typeface="標楷體"/>
            </a:endParaRPr>
          </a:p>
        </p:txBody>
      </p:sp>
      <p:sp>
        <p:nvSpPr>
          <p:cNvPr id="3" name="文字版面配置區 2"/>
          <p:cNvSpPr>
            <a:spLocks noGrp="1"/>
          </p:cNvSpPr>
          <p:nvPr>
            <p:ph type="body" idx="1"/>
          </p:nvPr>
        </p:nvSpPr>
        <p:spPr/>
        <p:txBody>
          <a:bodyPr>
            <a:normAutofit/>
          </a:bodyPr>
          <a:lstStyle/>
          <a:p>
            <a:pPr marR="0" lvl="0" rtl="0"/>
            <a:r>
              <a:rPr lang="zh-TW" altLang="en-US" b="1" i="0" u="none" strike="noStrike" kern="100" baseline="0" dirty="0" smtClean="0">
                <a:latin typeface="Arial"/>
                <a:ea typeface="標楷體"/>
              </a:rPr>
              <a:t>網路的發展促使相關的法令也應運而生，例如，</a:t>
            </a:r>
            <a:r>
              <a:rPr lang="en-US" altLang="zh-TW" b="1" i="0" u="none" strike="noStrike" kern="100" baseline="0" dirty="0" smtClean="0">
                <a:latin typeface="Arial"/>
                <a:ea typeface="標楷體"/>
              </a:rPr>
              <a:t>『</a:t>
            </a:r>
            <a:r>
              <a:rPr lang="zh-TW" altLang="en-US" b="1" i="0" u="none" strike="noStrike" kern="100" baseline="0" dirty="0" smtClean="0">
                <a:latin typeface="Arial"/>
                <a:ea typeface="標楷體"/>
              </a:rPr>
              <a:t>電子簽章法</a:t>
            </a:r>
            <a:r>
              <a:rPr lang="en-US" altLang="zh-TW" b="1" i="0" u="none" strike="noStrike" kern="100" baseline="0" dirty="0" smtClean="0">
                <a:latin typeface="Arial"/>
                <a:ea typeface="標楷體"/>
              </a:rPr>
              <a:t>』</a:t>
            </a:r>
            <a:r>
              <a:rPr lang="zh-TW" altLang="en-US" b="1" i="0" u="none" strike="noStrike" kern="100" baseline="0" dirty="0" smtClean="0">
                <a:latin typeface="Arial"/>
                <a:ea typeface="標楷體"/>
              </a:rPr>
              <a:t>的立法與推動，賦予電子簽章的法律效力，有利於電子商務的發展。</a:t>
            </a:r>
          </a:p>
          <a:p>
            <a:pPr marR="0" lvl="0" rtl="0"/>
            <a:r>
              <a:rPr lang="zh-TW" altLang="en-US" b="1" i="0" u="none" strike="noStrike" kern="100" baseline="0" dirty="0" smtClean="0">
                <a:latin typeface="Arial"/>
                <a:ea typeface="標楷體"/>
              </a:rPr>
              <a:t>網路交易行為，例如購買股票，當買賣雙方有了交易爭議時，單單依靠交易歷史紀錄並不能當做法律證據，如有交易的電子簽章則可以作為法律之證據。</a:t>
            </a:r>
          </a:p>
          <a:p>
            <a:pPr marR="0" lvl="0" rtl="0"/>
            <a:r>
              <a:rPr lang="zh-TW" altLang="en-US" b="1" i="0" u="none" strike="noStrike" kern="100" baseline="0" dirty="0" smtClean="0">
                <a:latin typeface="Arial"/>
                <a:ea typeface="標楷體"/>
              </a:rPr>
              <a:t>美國電腦倫理協會 </a:t>
            </a:r>
            <a:r>
              <a:rPr lang="en-US" altLang="zh-TW" b="1" i="0" u="none" strike="noStrike" kern="100" baseline="0" dirty="0" smtClean="0">
                <a:latin typeface="Arial"/>
                <a:ea typeface="標楷體"/>
              </a:rPr>
              <a:t>( Computer Ethics Institute</a:t>
            </a:r>
            <a:r>
              <a:rPr lang="zh-TW" altLang="en-US" b="1" i="0" u="none" strike="noStrike" kern="100" baseline="0" dirty="0" smtClean="0">
                <a:latin typeface="Arial"/>
                <a:ea typeface="標楷體"/>
              </a:rPr>
              <a:t> </a:t>
            </a:r>
            <a:r>
              <a:rPr lang="en-US" altLang="zh-TW" b="1" i="0" u="none" strike="noStrike" kern="100" baseline="0" dirty="0" smtClean="0">
                <a:latin typeface="Arial"/>
                <a:ea typeface="標楷體"/>
              </a:rPr>
              <a:t>) </a:t>
            </a:r>
            <a:r>
              <a:rPr lang="zh-TW" altLang="en-US" b="1" i="0" u="none" strike="noStrike" kern="100" baseline="0" dirty="0" smtClean="0">
                <a:latin typeface="Arial"/>
                <a:ea typeface="標楷體"/>
              </a:rPr>
              <a:t>制定了</a:t>
            </a:r>
            <a:r>
              <a:rPr lang="en-US" altLang="zh-TW" b="1" i="0" u="none" strike="noStrike" kern="100" baseline="0" dirty="0" smtClean="0">
                <a:latin typeface="Arial"/>
                <a:ea typeface="標楷體"/>
              </a:rPr>
              <a:t>『</a:t>
            </a:r>
            <a:r>
              <a:rPr lang="zh-TW" altLang="en-US" b="1" i="0" u="none" strike="noStrike" kern="100" baseline="0" dirty="0" smtClean="0">
                <a:latin typeface="Arial"/>
                <a:ea typeface="標楷體"/>
              </a:rPr>
              <a:t>資訊十戒</a:t>
            </a:r>
            <a:r>
              <a:rPr lang="en-US" altLang="zh-TW" b="1" i="0" u="none" strike="noStrike" kern="100" baseline="0" dirty="0" smtClean="0">
                <a:latin typeface="Arial"/>
                <a:ea typeface="標楷體"/>
              </a:rPr>
              <a:t>』</a:t>
            </a:r>
            <a:r>
              <a:rPr lang="zh-TW" altLang="en-US" b="1" i="0" u="none" strike="noStrike" kern="100" baseline="0" dirty="0" smtClean="0">
                <a:latin typeface="Arial"/>
                <a:ea typeface="標楷體"/>
              </a:rPr>
              <a:t>，提醒每一位資訊科技的使用者要遵循相關的禮儀規範。</a:t>
            </a:r>
            <a:endParaRPr lang="zh-TW" altLang="en-US" b="1" i="0" u="none" strike="noStrike" kern="100" baseline="0" dirty="0" smtClean="0">
              <a:latin typeface="Times New Roman"/>
              <a:ea typeface="標楷體"/>
            </a:endParaRPr>
          </a:p>
        </p:txBody>
      </p:sp>
      <p:sp>
        <p:nvSpPr>
          <p:cNvPr id="4" name="日期版面配置區 3"/>
          <p:cNvSpPr>
            <a:spLocks noGrp="1"/>
          </p:cNvSpPr>
          <p:nvPr>
            <p:ph type="dt" sz="half" idx="10"/>
          </p:nvPr>
        </p:nvSpPr>
        <p:spPr/>
        <p:txBody>
          <a:bodyPr/>
          <a:lstStyle/>
          <a:p>
            <a:fld id="{6BFB04B5-35A4-477F-9936-314438D62716}" type="datetime1">
              <a:rPr lang="zh-TW" altLang="en-US" smtClean="0"/>
              <a:t>2023/4/2</a:t>
            </a:fld>
            <a:endParaRPr lang="zh-TW" altLang="en-US"/>
          </a:p>
        </p:txBody>
      </p:sp>
      <p:sp>
        <p:nvSpPr>
          <p:cNvPr id="5" name="投影片編號版面配置區 4"/>
          <p:cNvSpPr>
            <a:spLocks noGrp="1"/>
          </p:cNvSpPr>
          <p:nvPr>
            <p:ph type="sldNum" sz="quarter" idx="12"/>
          </p:nvPr>
        </p:nvSpPr>
        <p:spPr/>
        <p:txBody>
          <a:bodyPr/>
          <a:lstStyle/>
          <a:p>
            <a:fld id="{5DDC22FF-AB65-4D90-9AB8-E808153956B4}" type="slidenum">
              <a:rPr lang="zh-TW" altLang="en-US" smtClean="0"/>
              <a:pPr/>
              <a:t>3</a:t>
            </a:fld>
            <a:endParaRPr lang="zh-TW" altLang="en-US"/>
          </a:p>
        </p:txBody>
      </p:sp>
    </p:spTree>
    <p:extLst>
      <p:ext uri="{BB962C8B-B14F-4D97-AF65-F5344CB8AC3E}">
        <p14:creationId xmlns:p14="http://schemas.microsoft.com/office/powerpoint/2010/main" val="22552588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marR="0" rtl="0"/>
            <a:r>
              <a:rPr lang="en-US" altLang="zh-TW" b="1" i="0" u="none" strike="noStrike" kern="2600" baseline="0" smtClean="0">
                <a:latin typeface="Arial"/>
                <a:ea typeface="標楷體"/>
              </a:rPr>
              <a:t>4.2 </a:t>
            </a:r>
            <a:r>
              <a:rPr lang="zh-TW" altLang="en-US" b="1" i="0" u="none" strike="noStrike" kern="2600" baseline="0" smtClean="0">
                <a:latin typeface="Arial"/>
                <a:ea typeface="標楷體"/>
              </a:rPr>
              <a:t>智慧財產權</a:t>
            </a:r>
            <a:endParaRPr lang="zh-TW" altLang="en-US" b="1" i="0" u="none" strike="noStrike" kern="2600" baseline="0" smtClean="0">
              <a:latin typeface="Times New Roman"/>
              <a:ea typeface="標楷體"/>
            </a:endParaRPr>
          </a:p>
        </p:txBody>
      </p:sp>
      <p:sp>
        <p:nvSpPr>
          <p:cNvPr id="3" name="文字版面配置區 2"/>
          <p:cNvSpPr>
            <a:spLocks noGrp="1"/>
          </p:cNvSpPr>
          <p:nvPr>
            <p:ph type="body" idx="1"/>
          </p:nvPr>
        </p:nvSpPr>
        <p:spPr/>
        <p:txBody>
          <a:bodyPr/>
          <a:lstStyle/>
          <a:p>
            <a:pPr marR="0" lvl="0" rtl="0"/>
            <a:r>
              <a:rPr lang="zh-TW" altLang="en-US" b="1" i="0" u="none" strike="noStrike" kern="100" baseline="0" dirty="0" smtClean="0">
                <a:latin typeface="Arial"/>
                <a:ea typeface="標楷體"/>
              </a:rPr>
              <a:t>智慧財產權 </a:t>
            </a:r>
            <a:r>
              <a:rPr lang="en-US" altLang="zh-TW" b="1" i="0" u="none" strike="noStrike" kern="100" baseline="0" dirty="0" smtClean="0">
                <a:latin typeface="Arial"/>
                <a:ea typeface="標楷體"/>
              </a:rPr>
              <a:t>(</a:t>
            </a:r>
            <a:r>
              <a:rPr lang="zh-TW" altLang="en-US" b="1" i="0" u="none" strike="noStrike" kern="100" baseline="0" dirty="0" smtClean="0">
                <a:latin typeface="Arial"/>
                <a:ea typeface="標楷體"/>
              </a:rPr>
              <a:t> </a:t>
            </a:r>
            <a:r>
              <a:rPr lang="en-US" altLang="zh-TW" b="1" i="0" u="none" strike="noStrike" kern="100" baseline="0" dirty="0" smtClean="0">
                <a:latin typeface="Arial"/>
                <a:ea typeface="標楷體"/>
              </a:rPr>
              <a:t>intellectual property</a:t>
            </a:r>
            <a:r>
              <a:rPr lang="zh-TW" altLang="en-US" b="1" i="0" u="none" strike="noStrike" kern="100" baseline="0" dirty="0" smtClean="0">
                <a:latin typeface="Arial"/>
                <a:ea typeface="標楷體"/>
              </a:rPr>
              <a:t> </a:t>
            </a:r>
            <a:r>
              <a:rPr lang="en-US" altLang="zh-TW" b="1" i="0" u="none" strike="noStrike" kern="100" baseline="0" dirty="0" smtClean="0">
                <a:latin typeface="Arial"/>
                <a:ea typeface="標楷體"/>
              </a:rPr>
              <a:t>right</a:t>
            </a:r>
            <a:r>
              <a:rPr lang="zh-TW" altLang="en-US" b="1" i="0" u="none" strike="noStrike" kern="100" baseline="0" dirty="0" smtClean="0">
                <a:latin typeface="Arial"/>
                <a:ea typeface="標楷體"/>
              </a:rPr>
              <a:t>；</a:t>
            </a:r>
            <a:r>
              <a:rPr lang="en-US" altLang="zh-TW" b="1" i="0" u="none" strike="noStrike" kern="100" baseline="0" dirty="0" smtClean="0">
                <a:latin typeface="Arial"/>
                <a:ea typeface="標楷體"/>
              </a:rPr>
              <a:t>IPR</a:t>
            </a:r>
            <a:r>
              <a:rPr lang="zh-TW" altLang="en-US" b="1" i="0" u="none" strike="noStrike" kern="100" baseline="0" dirty="0" smtClean="0">
                <a:latin typeface="Arial"/>
                <a:ea typeface="標楷體"/>
              </a:rPr>
              <a:t>），如圖 </a:t>
            </a:r>
            <a:r>
              <a:rPr lang="en-US" altLang="zh-TW" b="1" i="0" u="none" strike="noStrike" kern="100" baseline="0" dirty="0" smtClean="0">
                <a:latin typeface="Arial"/>
                <a:ea typeface="標楷體"/>
              </a:rPr>
              <a:t>4-1</a:t>
            </a:r>
            <a:r>
              <a:rPr lang="zh-TW" altLang="en-US" b="1" i="0" u="none" strike="noStrike" kern="100" baseline="0" dirty="0" smtClean="0">
                <a:latin typeface="Arial"/>
                <a:ea typeface="標楷體"/>
              </a:rPr>
              <a:t>，包括</a:t>
            </a:r>
            <a:endParaRPr lang="en-US" altLang="zh-TW" b="1" i="0" u="none" strike="noStrike" kern="100" baseline="0" dirty="0" smtClean="0">
              <a:latin typeface="Arial"/>
              <a:ea typeface="標楷體"/>
            </a:endParaRPr>
          </a:p>
          <a:p>
            <a:pPr lvl="1"/>
            <a:r>
              <a:rPr lang="zh-TW" altLang="en-US" b="1" i="0" u="none" strike="noStrike" kern="100" baseline="0" dirty="0" smtClean="0">
                <a:latin typeface="Arial"/>
                <a:ea typeface="標楷體"/>
              </a:rPr>
              <a:t>商標權、專利權、著作權與營業</a:t>
            </a:r>
            <a:r>
              <a:rPr lang="zh-TW" altLang="en-US" b="1" i="0" u="none" strike="noStrike" kern="100" baseline="0" dirty="0" smtClean="0">
                <a:latin typeface="Arial"/>
                <a:ea typeface="標楷體"/>
              </a:rPr>
              <a:t>秘密等</a:t>
            </a:r>
            <a:r>
              <a:rPr lang="zh-TW" altLang="en-US" b="1" i="0" u="none" strike="noStrike" kern="100" baseline="0" dirty="0" smtClean="0">
                <a:latin typeface="Arial"/>
                <a:ea typeface="標楷體"/>
              </a:rPr>
              <a:t>，</a:t>
            </a:r>
            <a:endParaRPr lang="en-US" altLang="zh-TW" b="1" i="0" u="none" strike="noStrike" kern="100" baseline="0" dirty="0" smtClean="0">
              <a:latin typeface="Arial"/>
              <a:ea typeface="標楷體"/>
            </a:endParaRPr>
          </a:p>
          <a:p>
            <a:pPr lvl="1"/>
            <a:r>
              <a:rPr lang="zh-TW" altLang="en-US" b="1" i="0" u="none" strike="noStrike" kern="100" baseline="0" dirty="0" smtClean="0">
                <a:latin typeface="Arial"/>
                <a:ea typeface="標楷體"/>
              </a:rPr>
              <a:t>透過立法以保護這些人類精神智慧的產物，賦予創作人專屬享有之權利。</a:t>
            </a:r>
            <a:endParaRPr lang="zh-TW" altLang="en-US" b="1" i="0" u="none" strike="noStrike" kern="100" baseline="0" dirty="0" smtClean="0">
              <a:latin typeface="Times New Roman"/>
              <a:ea typeface="標楷體"/>
            </a:endParaRPr>
          </a:p>
        </p:txBody>
      </p:sp>
      <p:sp>
        <p:nvSpPr>
          <p:cNvPr id="4" name="日期版面配置區 3"/>
          <p:cNvSpPr>
            <a:spLocks noGrp="1"/>
          </p:cNvSpPr>
          <p:nvPr>
            <p:ph type="dt" sz="half" idx="10"/>
          </p:nvPr>
        </p:nvSpPr>
        <p:spPr/>
        <p:txBody>
          <a:bodyPr/>
          <a:lstStyle/>
          <a:p>
            <a:fld id="{849C67C3-7217-4458-8F22-D72A142B4D71}" type="datetime1">
              <a:rPr lang="zh-TW" altLang="en-US" smtClean="0"/>
              <a:t>2023/4/2</a:t>
            </a:fld>
            <a:endParaRPr lang="zh-TW" altLang="en-US"/>
          </a:p>
        </p:txBody>
      </p:sp>
      <p:sp>
        <p:nvSpPr>
          <p:cNvPr id="5" name="投影片編號版面配置區 4"/>
          <p:cNvSpPr>
            <a:spLocks noGrp="1"/>
          </p:cNvSpPr>
          <p:nvPr>
            <p:ph type="sldNum" sz="quarter" idx="12"/>
          </p:nvPr>
        </p:nvSpPr>
        <p:spPr/>
        <p:txBody>
          <a:bodyPr/>
          <a:lstStyle/>
          <a:p>
            <a:fld id="{5DDC22FF-AB65-4D90-9AB8-E808153956B4}" type="slidenum">
              <a:rPr lang="zh-TW" altLang="en-US" smtClean="0"/>
              <a:pPr/>
              <a:t>4</a:t>
            </a:fld>
            <a:endParaRPr lang="zh-TW" altLang="en-US"/>
          </a:p>
        </p:txBody>
      </p:sp>
    </p:spTree>
    <p:extLst>
      <p:ext uri="{BB962C8B-B14F-4D97-AF65-F5344CB8AC3E}">
        <p14:creationId xmlns:p14="http://schemas.microsoft.com/office/powerpoint/2010/main" val="13625759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TW" altLang="en-US"/>
          </a:p>
        </p:txBody>
      </p:sp>
      <p:sp>
        <p:nvSpPr>
          <p:cNvPr id="4" name="矩形 3"/>
          <p:cNvSpPr/>
          <p:nvPr/>
        </p:nvSpPr>
        <p:spPr>
          <a:xfrm>
            <a:off x="3779912" y="5310500"/>
            <a:ext cx="2659702" cy="369332"/>
          </a:xfrm>
          <a:prstGeom prst="rect">
            <a:avLst/>
          </a:prstGeom>
        </p:spPr>
        <p:txBody>
          <a:bodyPr wrap="none">
            <a:spAutoFit/>
          </a:bodyPr>
          <a:lstStyle/>
          <a:p>
            <a:r>
              <a:rPr lang="zh-TW" altLang="zh-TW" dirty="0"/>
              <a:t>圖</a:t>
            </a:r>
            <a:r>
              <a:rPr lang="en-US" altLang="zh-TW" dirty="0"/>
              <a:t>4-1 </a:t>
            </a:r>
            <a:r>
              <a:rPr lang="zh-TW" altLang="zh-TW" dirty="0"/>
              <a:t>智慧</a:t>
            </a:r>
            <a:r>
              <a:rPr lang="zh-TW" altLang="zh-TW" dirty="0" smtClean="0"/>
              <a:t>財產</a:t>
            </a:r>
            <a:r>
              <a:rPr lang="zh-TW" altLang="en-US" dirty="0" smtClean="0"/>
              <a:t>相關法律</a:t>
            </a:r>
            <a:endParaRPr lang="zh-TW" altLang="zh-TW" dirty="0"/>
          </a:p>
        </p:txBody>
      </p:sp>
      <p:sp>
        <p:nvSpPr>
          <p:cNvPr id="5" name="投影片編號版面配置區 4"/>
          <p:cNvSpPr>
            <a:spLocks noGrp="1"/>
          </p:cNvSpPr>
          <p:nvPr>
            <p:ph type="sldNum" sz="quarter" idx="10"/>
          </p:nvPr>
        </p:nvSpPr>
        <p:spPr/>
        <p:txBody>
          <a:bodyPr/>
          <a:lstStyle/>
          <a:p>
            <a:fld id="{5DDC22FF-AB65-4D90-9AB8-E808153956B4}" type="slidenum">
              <a:rPr lang="zh-TW" altLang="en-US" smtClean="0"/>
              <a:pPr/>
              <a:t>5</a:t>
            </a:fld>
            <a:endParaRPr lang="zh-TW" altLang="en-US"/>
          </a:p>
        </p:txBody>
      </p:sp>
      <p:pic>
        <p:nvPicPr>
          <p:cNvPr id="6" name="圖片 5"/>
          <p:cNvPicPr>
            <a:picLocks noChangeAspect="1"/>
          </p:cNvPicPr>
          <p:nvPr/>
        </p:nvPicPr>
        <p:blipFill>
          <a:blip r:embed="rId2"/>
          <a:stretch>
            <a:fillRect/>
          </a:stretch>
        </p:blipFill>
        <p:spPr>
          <a:xfrm>
            <a:off x="2483768" y="1484784"/>
            <a:ext cx="4324350" cy="2905125"/>
          </a:xfrm>
          <a:prstGeom prst="rect">
            <a:avLst/>
          </a:prstGeom>
        </p:spPr>
      </p:pic>
    </p:spTree>
    <p:extLst>
      <p:ext uri="{BB962C8B-B14F-4D97-AF65-F5344CB8AC3E}">
        <p14:creationId xmlns:p14="http://schemas.microsoft.com/office/powerpoint/2010/main" val="6338531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marR="0" rtl="0"/>
            <a:r>
              <a:rPr lang="en-US" altLang="zh-TW" b="1" i="0" u="none" strike="noStrike" kern="2600" baseline="0" smtClean="0">
                <a:latin typeface="Arial"/>
                <a:ea typeface="標楷體"/>
              </a:rPr>
              <a:t>4.2.1 </a:t>
            </a:r>
            <a:r>
              <a:rPr lang="zh-TW" altLang="en-US" b="1" i="0" u="none" strike="noStrike" kern="2600" baseline="0" smtClean="0">
                <a:latin typeface="Arial"/>
                <a:ea typeface="標楷體"/>
              </a:rPr>
              <a:t>著作權</a:t>
            </a:r>
            <a:endParaRPr lang="zh-TW" altLang="en-US" b="1" i="0" u="none" strike="noStrike" kern="2600" baseline="0" smtClean="0">
              <a:latin typeface="Times New Roman"/>
              <a:ea typeface="標楷體"/>
            </a:endParaRPr>
          </a:p>
        </p:txBody>
      </p:sp>
      <p:sp>
        <p:nvSpPr>
          <p:cNvPr id="3" name="文字版面配置區 2"/>
          <p:cNvSpPr>
            <a:spLocks noGrp="1"/>
          </p:cNvSpPr>
          <p:nvPr>
            <p:ph type="body" idx="1"/>
          </p:nvPr>
        </p:nvSpPr>
        <p:spPr/>
        <p:txBody>
          <a:bodyPr>
            <a:normAutofit fontScale="77500" lnSpcReduction="20000"/>
          </a:bodyPr>
          <a:lstStyle/>
          <a:p>
            <a:pPr marR="0" lvl="0" rtl="0"/>
            <a:r>
              <a:rPr lang="zh-TW" altLang="en-US" b="1" i="0" u="none" strike="noStrike" kern="100" baseline="0" dirty="0" smtClean="0">
                <a:latin typeface="Arial"/>
                <a:ea typeface="標楷體"/>
              </a:rPr>
              <a:t>著作權 </a:t>
            </a:r>
            <a:r>
              <a:rPr lang="en-US" altLang="zh-TW" b="1" i="0" u="none" strike="noStrike" kern="100" baseline="0" dirty="0" smtClean="0">
                <a:latin typeface="Arial"/>
                <a:ea typeface="標楷體"/>
              </a:rPr>
              <a:t>( literary property ) </a:t>
            </a:r>
            <a:r>
              <a:rPr lang="zh-TW" altLang="en-US" b="1" i="0" u="none" strike="noStrike" kern="100" baseline="0" dirty="0" smtClean="0">
                <a:latin typeface="Arial"/>
                <a:ea typeface="標楷體"/>
              </a:rPr>
              <a:t>是為了保護著作者的權益，未經授權不得任意複製與使用。</a:t>
            </a:r>
          </a:p>
          <a:p>
            <a:pPr marR="0" lvl="0" rtl="0"/>
            <a:r>
              <a:rPr lang="zh-TW" altLang="en-US" b="1" i="0" u="none" strike="noStrike" kern="100" baseline="0" dirty="0" smtClean="0">
                <a:latin typeface="Arial"/>
                <a:ea typeface="標楷體"/>
              </a:rPr>
              <a:t>原則上，著作者完成著作時即取得著作權，不需要任何形式之申請與聲明。例如圖</a:t>
            </a:r>
            <a:r>
              <a:rPr lang="en-US" altLang="zh-TW" b="1" i="0" u="none" strike="noStrike" kern="100" baseline="0" dirty="0" smtClean="0">
                <a:latin typeface="Arial"/>
                <a:ea typeface="標楷體"/>
              </a:rPr>
              <a:t>4-2</a:t>
            </a:r>
            <a:r>
              <a:rPr lang="zh-TW" altLang="en-US" b="1" i="0" u="none" strike="noStrike" kern="100" baseline="0" dirty="0" smtClean="0">
                <a:latin typeface="Arial"/>
                <a:ea typeface="標楷體"/>
              </a:rPr>
              <a:t>，完成著作即擁有著作權。</a:t>
            </a:r>
          </a:p>
          <a:p>
            <a:pPr marR="0" lvl="0" rtl="0"/>
            <a:r>
              <a:rPr lang="zh-TW" altLang="en-US" b="1" i="0" u="none" strike="noStrike" kern="100" baseline="0" dirty="0" smtClean="0">
                <a:latin typeface="Arial"/>
                <a:ea typeface="標楷體"/>
              </a:rPr>
              <a:t>電腦軟體的創作，包含在</a:t>
            </a:r>
            <a:r>
              <a:rPr lang="en-US" altLang="zh-TW" b="1" i="0" u="none" strike="noStrike" kern="100" baseline="0" dirty="0" smtClean="0">
                <a:latin typeface="Arial"/>
                <a:ea typeface="標楷體"/>
              </a:rPr>
              <a:t>『</a:t>
            </a:r>
            <a:r>
              <a:rPr lang="zh-TW" altLang="en-US" b="1" i="0" u="none" strike="noStrike" kern="100" baseline="0" dirty="0" smtClean="0">
                <a:latin typeface="Arial"/>
                <a:ea typeface="標楷體"/>
              </a:rPr>
              <a:t>著述作品</a:t>
            </a:r>
            <a:r>
              <a:rPr lang="en-US" altLang="zh-TW" b="1" i="0" u="none" strike="noStrike" kern="100" baseline="0" dirty="0" smtClean="0">
                <a:latin typeface="Arial"/>
                <a:ea typeface="標楷體"/>
              </a:rPr>
              <a:t>』</a:t>
            </a:r>
            <a:r>
              <a:rPr lang="zh-TW" altLang="en-US" b="1" i="0" u="none" strike="noStrike" kern="100" baseline="0" dirty="0" smtClean="0">
                <a:latin typeface="Arial"/>
                <a:ea typeface="標楷體"/>
              </a:rPr>
              <a:t>一類當中，對於電腦軟體著作，僅保護其軟體的原始程式碼 </a:t>
            </a:r>
            <a:r>
              <a:rPr lang="en-US" altLang="zh-TW" b="1" i="0" u="none" strike="noStrike" kern="100" baseline="0" dirty="0" smtClean="0">
                <a:latin typeface="Arial"/>
                <a:ea typeface="標楷體"/>
              </a:rPr>
              <a:t>(</a:t>
            </a:r>
            <a:r>
              <a:rPr lang="zh-TW" altLang="en-US" b="1" i="0" u="none" strike="noStrike" kern="100" baseline="0" dirty="0" smtClean="0">
                <a:latin typeface="Arial"/>
                <a:ea typeface="標楷體"/>
              </a:rPr>
              <a:t> </a:t>
            </a:r>
            <a:r>
              <a:rPr lang="en-US" altLang="zh-TW" b="1" i="0" u="none" strike="noStrike" kern="100" baseline="0" dirty="0" smtClean="0">
                <a:latin typeface="Arial"/>
                <a:ea typeface="標楷體"/>
              </a:rPr>
              <a:t>source code)</a:t>
            </a:r>
            <a:r>
              <a:rPr lang="zh-TW" altLang="en-US" b="1" i="0" u="none" strike="noStrike" kern="100" baseline="0" dirty="0" smtClean="0">
                <a:latin typeface="Arial"/>
                <a:ea typeface="標楷體"/>
              </a:rPr>
              <a:t>。電腦軟體開發完成時就擁有著作權，對於電腦軟體不能主張軟體之功能為保護對象。</a:t>
            </a:r>
          </a:p>
          <a:p>
            <a:pPr marR="0" lvl="0" rtl="0"/>
            <a:r>
              <a:rPr lang="zh-TW" altLang="en-US" b="1" i="0" u="none" strike="noStrike" kern="100" baseline="0" dirty="0" smtClean="0">
                <a:latin typeface="Arial"/>
                <a:ea typeface="標楷體"/>
              </a:rPr>
              <a:t>員工受雇於公司，在工作中所開發完成的軟體程式，其著作權是屬於雇主，並不屬於開發程式的員工。</a:t>
            </a:r>
          </a:p>
          <a:p>
            <a:pPr marR="0" lvl="0" rtl="0"/>
            <a:r>
              <a:rPr lang="zh-TW" altLang="en-US" b="1" i="0" u="none" strike="noStrike" kern="100" baseline="0" dirty="0" smtClean="0">
                <a:latin typeface="Arial"/>
                <a:ea typeface="標楷體"/>
              </a:rPr>
              <a:t>著作權分為</a:t>
            </a:r>
            <a:r>
              <a:rPr lang="en-US" altLang="zh-TW" b="1" i="0" u="none" strike="noStrike" kern="100" baseline="0" dirty="0" smtClean="0">
                <a:latin typeface="Arial"/>
                <a:ea typeface="標楷體"/>
              </a:rPr>
              <a:t>『</a:t>
            </a:r>
            <a:r>
              <a:rPr lang="zh-TW" altLang="en-US" b="1" i="0" u="none" strike="noStrike" kern="100" baseline="0" dirty="0" smtClean="0">
                <a:latin typeface="Arial"/>
                <a:ea typeface="標楷體"/>
              </a:rPr>
              <a:t>著作人格權</a:t>
            </a:r>
            <a:r>
              <a:rPr lang="en-US" altLang="zh-TW" b="1" i="0" u="none" strike="noStrike" kern="100" baseline="0" dirty="0" smtClean="0">
                <a:latin typeface="Arial"/>
                <a:ea typeface="標楷體"/>
              </a:rPr>
              <a:t>』</a:t>
            </a:r>
            <a:r>
              <a:rPr lang="zh-TW" altLang="en-US" b="1" i="0" u="none" strike="noStrike" kern="100" baseline="0" dirty="0" smtClean="0">
                <a:latin typeface="Arial"/>
                <a:ea typeface="標楷體"/>
              </a:rPr>
              <a:t>與</a:t>
            </a:r>
            <a:r>
              <a:rPr lang="en-US" altLang="zh-TW" b="1" i="0" u="none" strike="noStrike" kern="100" baseline="0" dirty="0" smtClean="0">
                <a:latin typeface="Arial"/>
                <a:ea typeface="標楷體"/>
              </a:rPr>
              <a:t>『</a:t>
            </a:r>
            <a:r>
              <a:rPr lang="zh-TW" altLang="en-US" b="1" i="0" u="none" strike="noStrike" kern="100" baseline="0" dirty="0" smtClean="0">
                <a:latin typeface="Arial"/>
                <a:ea typeface="標楷體"/>
              </a:rPr>
              <a:t>著作財產權</a:t>
            </a:r>
            <a:r>
              <a:rPr lang="en-US" altLang="zh-TW" b="1" i="0" u="none" strike="noStrike" kern="100" baseline="0" dirty="0" smtClean="0">
                <a:latin typeface="Arial"/>
                <a:ea typeface="標楷體"/>
              </a:rPr>
              <a:t>』</a:t>
            </a:r>
            <a:r>
              <a:rPr lang="zh-TW" altLang="en-US" b="1" i="0" u="none" strike="noStrike" kern="100" baseline="0" dirty="0" smtClean="0">
                <a:latin typeface="Arial"/>
                <a:ea typeface="標楷體"/>
              </a:rPr>
              <a:t>，如圖</a:t>
            </a:r>
            <a:r>
              <a:rPr lang="en-US" altLang="zh-TW" b="1" i="0" u="none" strike="noStrike" kern="100" baseline="0" dirty="0" smtClean="0">
                <a:latin typeface="Arial"/>
                <a:ea typeface="標楷體"/>
              </a:rPr>
              <a:t>4-3</a:t>
            </a:r>
            <a:r>
              <a:rPr lang="zh-TW" altLang="en-US" b="1" i="0" u="none" strike="noStrike" kern="100" baseline="0" dirty="0" smtClean="0">
                <a:latin typeface="Arial"/>
                <a:ea typeface="標楷體"/>
              </a:rPr>
              <a:t>。</a:t>
            </a:r>
          </a:p>
          <a:p>
            <a:pPr marR="0" lvl="0" rtl="0"/>
            <a:r>
              <a:rPr lang="zh-TW" altLang="en-US" b="1" i="0" u="none" strike="noStrike" kern="100" baseline="0" dirty="0" smtClean="0">
                <a:latin typeface="Arial"/>
                <a:ea typeface="標楷體"/>
              </a:rPr>
              <a:t>著作人格權即是著作人就其著作享有公開發表之權利。著作財產權是作品重製、表演、播送、散佈等權利。著作人格權隨著作者死亡而消滅，著作財產權則存續於著作者生存期間以及其死亡後五十年。</a:t>
            </a:r>
            <a:endParaRPr lang="zh-TW" altLang="en-US" b="1" i="0" u="none" strike="noStrike" kern="100" baseline="0" dirty="0" smtClean="0">
              <a:latin typeface="Times New Roman"/>
              <a:ea typeface="標楷體"/>
            </a:endParaRPr>
          </a:p>
        </p:txBody>
      </p:sp>
      <p:sp>
        <p:nvSpPr>
          <p:cNvPr id="4" name="日期版面配置區 3"/>
          <p:cNvSpPr>
            <a:spLocks noGrp="1"/>
          </p:cNvSpPr>
          <p:nvPr>
            <p:ph type="dt" sz="half" idx="10"/>
          </p:nvPr>
        </p:nvSpPr>
        <p:spPr/>
        <p:txBody>
          <a:bodyPr/>
          <a:lstStyle/>
          <a:p>
            <a:fld id="{79FA3F94-A652-4C53-B3A8-80673B041B56}" type="datetime1">
              <a:rPr lang="zh-TW" altLang="en-US" smtClean="0"/>
              <a:t>2023/4/2</a:t>
            </a:fld>
            <a:endParaRPr lang="zh-TW" altLang="en-US"/>
          </a:p>
        </p:txBody>
      </p:sp>
      <p:sp>
        <p:nvSpPr>
          <p:cNvPr id="5" name="投影片編號版面配置區 4"/>
          <p:cNvSpPr>
            <a:spLocks noGrp="1"/>
          </p:cNvSpPr>
          <p:nvPr>
            <p:ph type="sldNum" sz="quarter" idx="12"/>
          </p:nvPr>
        </p:nvSpPr>
        <p:spPr/>
        <p:txBody>
          <a:bodyPr/>
          <a:lstStyle/>
          <a:p>
            <a:fld id="{5DDC22FF-AB65-4D90-9AB8-E808153956B4}" type="slidenum">
              <a:rPr lang="zh-TW" altLang="en-US" smtClean="0"/>
              <a:pPr/>
              <a:t>6</a:t>
            </a:fld>
            <a:endParaRPr lang="zh-TW" altLang="en-US"/>
          </a:p>
        </p:txBody>
      </p:sp>
    </p:spTree>
    <p:extLst>
      <p:ext uri="{BB962C8B-B14F-4D97-AF65-F5344CB8AC3E}">
        <p14:creationId xmlns:p14="http://schemas.microsoft.com/office/powerpoint/2010/main" val="2650246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031353" y="5085184"/>
            <a:ext cx="3081293" cy="369332"/>
          </a:xfrm>
          <a:prstGeom prst="rect">
            <a:avLst/>
          </a:prstGeom>
        </p:spPr>
        <p:txBody>
          <a:bodyPr wrap="none">
            <a:spAutoFit/>
          </a:bodyPr>
          <a:lstStyle/>
          <a:p>
            <a:r>
              <a:rPr lang="zh-TW" altLang="zh-TW" dirty="0"/>
              <a:t>圖</a:t>
            </a:r>
            <a:r>
              <a:rPr lang="en-US" altLang="zh-TW" dirty="0"/>
              <a:t>4-2 </a:t>
            </a:r>
            <a:r>
              <a:rPr lang="zh-TW" altLang="zh-TW" dirty="0"/>
              <a:t>完成著作即擁有著作權</a:t>
            </a:r>
          </a:p>
        </p:txBody>
      </p:sp>
      <p:sp>
        <p:nvSpPr>
          <p:cNvPr id="3" name="投影片編號版面配置區 2"/>
          <p:cNvSpPr>
            <a:spLocks noGrp="1"/>
          </p:cNvSpPr>
          <p:nvPr>
            <p:ph type="sldNum" sz="quarter" idx="10"/>
          </p:nvPr>
        </p:nvSpPr>
        <p:spPr/>
        <p:txBody>
          <a:bodyPr/>
          <a:lstStyle/>
          <a:p>
            <a:fld id="{5DDC22FF-AB65-4D90-9AB8-E808153956B4}" type="slidenum">
              <a:rPr lang="zh-TW" altLang="en-US" smtClean="0"/>
              <a:pPr/>
              <a:t>7</a:t>
            </a:fld>
            <a:endParaRPr lang="zh-TW" altLang="en-US"/>
          </a:p>
        </p:txBody>
      </p:sp>
      <p:pic>
        <p:nvPicPr>
          <p:cNvPr id="4098" name="Picture 2" descr="F7805B"/>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23709" y="908720"/>
            <a:ext cx="2988937" cy="40347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035182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TW" altLang="en-US"/>
          </a:p>
        </p:txBody>
      </p:sp>
      <p:graphicFrame>
        <p:nvGraphicFramePr>
          <p:cNvPr id="3" name="物件 2"/>
          <p:cNvGraphicFramePr>
            <a:graphicFrameLocks noChangeAspect="1"/>
          </p:cNvGraphicFramePr>
          <p:nvPr>
            <p:extLst>
              <p:ext uri="{D42A27DB-BD31-4B8C-83A1-F6EECF244321}">
                <p14:modId xmlns:p14="http://schemas.microsoft.com/office/powerpoint/2010/main" val="1158000109"/>
              </p:ext>
            </p:extLst>
          </p:nvPr>
        </p:nvGraphicFramePr>
        <p:xfrm>
          <a:off x="1691680" y="1844824"/>
          <a:ext cx="5527806" cy="2448272"/>
        </p:xfrm>
        <a:graphic>
          <a:graphicData uri="http://schemas.openxmlformats.org/presentationml/2006/ole">
            <mc:AlternateContent xmlns:mc="http://schemas.openxmlformats.org/markup-compatibility/2006">
              <mc:Choice xmlns:v="urn:schemas-microsoft-com:vml" Requires="v">
                <p:oleObj spid="_x0000_s3120" r:id="rId3" imgW="6126480" imgH="2716530" progId="">
                  <p:embed/>
                </p:oleObj>
              </mc:Choice>
              <mc:Fallback>
                <p:oleObj r:id="rId3" imgW="6126480" imgH="2716530" progId="">
                  <p:embed/>
                  <p:pic>
                    <p:nvPicPr>
                      <p:cNvPr id="0" name="Picture 1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91680" y="1844824"/>
                        <a:ext cx="5527806" cy="244827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 name="矩形 3"/>
          <p:cNvSpPr/>
          <p:nvPr/>
        </p:nvSpPr>
        <p:spPr>
          <a:xfrm>
            <a:off x="3707904" y="5013176"/>
            <a:ext cx="2157963" cy="369332"/>
          </a:xfrm>
          <a:prstGeom prst="rect">
            <a:avLst/>
          </a:prstGeom>
        </p:spPr>
        <p:txBody>
          <a:bodyPr wrap="none">
            <a:spAutoFit/>
          </a:bodyPr>
          <a:lstStyle/>
          <a:p>
            <a:r>
              <a:rPr lang="zh-TW" altLang="zh-TW" dirty="0"/>
              <a:t>圖</a:t>
            </a:r>
            <a:r>
              <a:rPr lang="en-US" altLang="zh-TW" dirty="0"/>
              <a:t>4-3 </a:t>
            </a:r>
            <a:r>
              <a:rPr lang="zh-TW" altLang="zh-TW" dirty="0"/>
              <a:t>著作權的分類</a:t>
            </a:r>
          </a:p>
        </p:txBody>
      </p:sp>
      <p:sp>
        <p:nvSpPr>
          <p:cNvPr id="5" name="投影片編號版面配置區 4"/>
          <p:cNvSpPr>
            <a:spLocks noGrp="1"/>
          </p:cNvSpPr>
          <p:nvPr>
            <p:ph type="sldNum" sz="quarter" idx="10"/>
          </p:nvPr>
        </p:nvSpPr>
        <p:spPr/>
        <p:txBody>
          <a:bodyPr/>
          <a:lstStyle/>
          <a:p>
            <a:fld id="{5DDC22FF-AB65-4D90-9AB8-E808153956B4}" type="slidenum">
              <a:rPr lang="zh-TW" altLang="en-US" smtClean="0"/>
              <a:pPr/>
              <a:t>8</a:t>
            </a:fld>
            <a:endParaRPr lang="zh-TW" altLang="en-US"/>
          </a:p>
        </p:txBody>
      </p:sp>
    </p:spTree>
    <p:extLst>
      <p:ext uri="{BB962C8B-B14F-4D97-AF65-F5344CB8AC3E}">
        <p14:creationId xmlns:p14="http://schemas.microsoft.com/office/powerpoint/2010/main" val="14666008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marR="0" rtl="0"/>
            <a:r>
              <a:rPr lang="en-US" altLang="zh-TW" b="1" i="0" u="none" strike="noStrike" kern="2600" baseline="0" smtClean="0">
                <a:latin typeface="Arial"/>
                <a:ea typeface="標楷體"/>
              </a:rPr>
              <a:t>4.2.2 </a:t>
            </a:r>
            <a:r>
              <a:rPr lang="zh-TW" altLang="en-US" b="1" i="0" u="none" strike="noStrike" kern="2600" baseline="0" smtClean="0">
                <a:latin typeface="Arial"/>
                <a:ea typeface="標楷體"/>
              </a:rPr>
              <a:t>商標與商標權</a:t>
            </a:r>
            <a:endParaRPr lang="zh-TW" altLang="en-US" b="1" i="0" u="none" strike="noStrike" kern="2600" baseline="0" smtClean="0">
              <a:latin typeface="Times New Roman"/>
              <a:ea typeface="標楷體"/>
            </a:endParaRPr>
          </a:p>
        </p:txBody>
      </p:sp>
      <p:sp>
        <p:nvSpPr>
          <p:cNvPr id="3" name="文字版面配置區 2"/>
          <p:cNvSpPr>
            <a:spLocks noGrp="1"/>
          </p:cNvSpPr>
          <p:nvPr>
            <p:ph type="body" idx="1"/>
          </p:nvPr>
        </p:nvSpPr>
        <p:spPr/>
        <p:txBody>
          <a:bodyPr>
            <a:normAutofit lnSpcReduction="10000"/>
          </a:bodyPr>
          <a:lstStyle/>
          <a:p>
            <a:pPr marR="0" lvl="0" rtl="0"/>
            <a:r>
              <a:rPr lang="zh-TW" altLang="en-US" b="1" i="0" u="none" strike="noStrike" kern="100" baseline="0" smtClean="0">
                <a:latin typeface="Arial"/>
                <a:ea typeface="標楷體"/>
              </a:rPr>
              <a:t>商標 </a:t>
            </a:r>
            <a:r>
              <a:rPr lang="en-US" altLang="zh-TW" b="1" i="0" u="none" strike="noStrike" kern="100" baseline="0" smtClean="0">
                <a:latin typeface="Arial"/>
                <a:ea typeface="標楷體"/>
              </a:rPr>
              <a:t>(</a:t>
            </a:r>
            <a:r>
              <a:rPr lang="zh-TW" altLang="en-US" b="1" i="0" u="none" strike="noStrike" kern="100" baseline="0" smtClean="0">
                <a:latin typeface="Arial"/>
                <a:ea typeface="標楷體"/>
              </a:rPr>
              <a:t> </a:t>
            </a:r>
            <a:r>
              <a:rPr lang="en-US" altLang="zh-TW" b="1" i="0" u="none" strike="noStrike" kern="100" baseline="0" smtClean="0">
                <a:latin typeface="Arial"/>
                <a:ea typeface="標楷體"/>
              </a:rPr>
              <a:t>trademark</a:t>
            </a:r>
            <a:r>
              <a:rPr lang="zh-TW" altLang="en-US" b="1" i="0" u="none" strike="noStrike" kern="100" baseline="0" smtClean="0">
                <a:latin typeface="Arial"/>
                <a:ea typeface="標楷體"/>
              </a:rPr>
              <a:t> </a:t>
            </a:r>
            <a:r>
              <a:rPr lang="en-US" altLang="zh-TW" b="1" i="0" u="none" strike="noStrike" kern="100" baseline="0" smtClean="0">
                <a:latin typeface="Arial"/>
                <a:ea typeface="標楷體"/>
              </a:rPr>
              <a:t>) </a:t>
            </a:r>
            <a:r>
              <a:rPr lang="zh-TW" altLang="en-US" b="1" i="0" u="none" strike="noStrike" kern="100" baseline="0" smtClean="0">
                <a:latin typeface="Arial"/>
                <a:ea typeface="標楷體"/>
              </a:rPr>
              <a:t>是使用文字、標語、和標誌，去辨識公司、個人、產品、或服務，主要目的在使其商品或服務獲得肯定，達到經濟效益，並阻止假冒相同或類似標記，不正當之競爭。</a:t>
            </a:r>
          </a:p>
          <a:p>
            <a:pPr marR="0" lvl="0" rtl="0"/>
            <a:r>
              <a:rPr lang="zh-TW" altLang="en-US" b="1" i="0" u="none" strike="noStrike" kern="100" baseline="0" smtClean="0">
                <a:latin typeface="Arial"/>
                <a:ea typeface="標楷體"/>
              </a:rPr>
              <a:t>但因商標具有象徵的意義，因此就需要藉由商標法的保護，來讓相關的消費者在市場上能據以識別其來源、品質及商譽。</a:t>
            </a:r>
          </a:p>
          <a:p>
            <a:pPr marR="0" lvl="0" rtl="0"/>
            <a:r>
              <a:rPr lang="zh-TW" altLang="en-US" b="1" i="0" u="none" strike="noStrike" kern="100" baseline="0" smtClean="0">
                <a:latin typeface="Arial"/>
                <a:ea typeface="標楷體"/>
              </a:rPr>
              <a:t>此外，同一類或類似商品不可與他人構成相同或近似的商標名稱，也不可以他人著名的商標作為自己的商標名稱。</a:t>
            </a:r>
            <a:endParaRPr lang="zh-TW" altLang="en-US" b="1" i="0" u="none" strike="noStrike" kern="100" baseline="0" smtClean="0">
              <a:latin typeface="Times New Roman"/>
              <a:ea typeface="標楷體"/>
            </a:endParaRPr>
          </a:p>
        </p:txBody>
      </p:sp>
      <p:sp>
        <p:nvSpPr>
          <p:cNvPr id="4" name="日期版面配置區 3"/>
          <p:cNvSpPr>
            <a:spLocks noGrp="1"/>
          </p:cNvSpPr>
          <p:nvPr>
            <p:ph type="dt" sz="half" idx="10"/>
          </p:nvPr>
        </p:nvSpPr>
        <p:spPr/>
        <p:txBody>
          <a:bodyPr/>
          <a:lstStyle/>
          <a:p>
            <a:fld id="{AA57823D-B940-4DFD-AA69-88D863AD28DD}" type="datetime1">
              <a:rPr lang="zh-TW" altLang="en-US" smtClean="0"/>
              <a:t>2023/4/2</a:t>
            </a:fld>
            <a:endParaRPr lang="zh-TW" altLang="en-US"/>
          </a:p>
        </p:txBody>
      </p:sp>
      <p:sp>
        <p:nvSpPr>
          <p:cNvPr id="5" name="投影片編號版面配置區 4"/>
          <p:cNvSpPr>
            <a:spLocks noGrp="1"/>
          </p:cNvSpPr>
          <p:nvPr>
            <p:ph type="sldNum" sz="quarter" idx="12"/>
          </p:nvPr>
        </p:nvSpPr>
        <p:spPr/>
        <p:txBody>
          <a:bodyPr/>
          <a:lstStyle/>
          <a:p>
            <a:fld id="{5DDC22FF-AB65-4D90-9AB8-E808153956B4}" type="slidenum">
              <a:rPr lang="zh-TW" altLang="en-US" smtClean="0"/>
              <a:pPr/>
              <a:t>9</a:t>
            </a:fld>
            <a:endParaRPr lang="zh-TW" altLang="en-US"/>
          </a:p>
        </p:txBody>
      </p:sp>
    </p:spTree>
    <p:extLst>
      <p:ext uri="{BB962C8B-B14F-4D97-AF65-F5344CB8AC3E}">
        <p14:creationId xmlns:p14="http://schemas.microsoft.com/office/powerpoint/2010/main" val="28350146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marR="0" rtl="0"/>
            <a:r>
              <a:rPr lang="en-US" altLang="zh-TW" b="1" i="0" u="none" strike="noStrike" kern="2600" baseline="0" smtClean="0">
                <a:latin typeface="Arial"/>
                <a:ea typeface="標楷體"/>
              </a:rPr>
              <a:t>4.2.3 </a:t>
            </a:r>
            <a:r>
              <a:rPr lang="zh-TW" altLang="en-US" b="1" i="0" u="none" strike="noStrike" kern="2600" baseline="0" smtClean="0">
                <a:latin typeface="Arial"/>
                <a:ea typeface="標楷體"/>
              </a:rPr>
              <a:t>專利與專利權</a:t>
            </a:r>
            <a:endParaRPr lang="zh-TW" altLang="en-US" b="1" i="0" u="none" strike="noStrike" kern="2600" baseline="0" smtClean="0">
              <a:latin typeface="Times New Roman"/>
              <a:ea typeface="標楷體"/>
            </a:endParaRPr>
          </a:p>
        </p:txBody>
      </p:sp>
      <p:sp>
        <p:nvSpPr>
          <p:cNvPr id="3" name="文字版面配置區 2"/>
          <p:cNvSpPr>
            <a:spLocks noGrp="1"/>
          </p:cNvSpPr>
          <p:nvPr>
            <p:ph type="body" idx="1"/>
          </p:nvPr>
        </p:nvSpPr>
        <p:spPr/>
        <p:txBody>
          <a:bodyPr>
            <a:normAutofit fontScale="85000" lnSpcReduction="20000"/>
          </a:bodyPr>
          <a:lstStyle/>
          <a:p>
            <a:pPr marR="0" lvl="0" rtl="0"/>
            <a:r>
              <a:rPr lang="zh-TW" altLang="en-US" b="1" i="0" u="none" strike="noStrike" kern="100" baseline="0" dirty="0" smtClean="0">
                <a:latin typeface="Arial"/>
                <a:ea typeface="標楷體"/>
              </a:rPr>
              <a:t>專利 </a:t>
            </a:r>
            <a:r>
              <a:rPr lang="en-US" altLang="zh-TW" b="1" i="0" u="none" strike="noStrike" kern="100" baseline="0" dirty="0" smtClean="0">
                <a:latin typeface="Arial"/>
                <a:ea typeface="標楷體"/>
              </a:rPr>
              <a:t>(</a:t>
            </a:r>
            <a:r>
              <a:rPr lang="zh-TW" altLang="en-US" b="1" i="0" u="none" strike="noStrike" kern="100" baseline="0" dirty="0" smtClean="0">
                <a:latin typeface="Arial"/>
                <a:ea typeface="標楷體"/>
              </a:rPr>
              <a:t> </a:t>
            </a:r>
            <a:r>
              <a:rPr lang="en-US" altLang="zh-TW" b="1" i="0" u="none" strike="noStrike" kern="100" baseline="0" dirty="0" smtClean="0">
                <a:latin typeface="Arial"/>
                <a:ea typeface="標楷體"/>
              </a:rPr>
              <a:t>patent</a:t>
            </a:r>
            <a:r>
              <a:rPr lang="zh-TW" altLang="en-US" b="1" i="0" u="none" strike="noStrike" kern="100" baseline="0" dirty="0" smtClean="0">
                <a:latin typeface="Arial"/>
                <a:ea typeface="標楷體"/>
              </a:rPr>
              <a:t> </a:t>
            </a:r>
            <a:r>
              <a:rPr lang="en-US" altLang="zh-TW" b="1" i="0" u="none" strike="noStrike" kern="100" baseline="0" dirty="0" smtClean="0">
                <a:latin typeface="Arial"/>
                <a:ea typeface="標楷體"/>
              </a:rPr>
              <a:t>) </a:t>
            </a:r>
            <a:r>
              <a:rPr lang="zh-TW" altLang="en-US" b="1" i="0" u="none" strike="noStrike" kern="100" baseline="0" dirty="0" smtClean="0">
                <a:latin typeface="Arial"/>
                <a:ea typeface="標楷體"/>
              </a:rPr>
              <a:t>法是為鼓勵、保護、利用發明與創作，以促進產業發展，所制定的法律。專利權是對發明授予的權利，對專利權人之發明予以保護，保護權利在一段期間內有效，一般期限為</a:t>
            </a:r>
            <a:r>
              <a:rPr lang="en-US" altLang="zh-TW" b="1" i="0" u="none" strike="noStrike" kern="100" baseline="0" dirty="0" smtClean="0">
                <a:latin typeface="Arial"/>
                <a:ea typeface="標楷體"/>
              </a:rPr>
              <a:t>20</a:t>
            </a:r>
            <a:r>
              <a:rPr lang="zh-TW" altLang="en-US" b="1" i="0" u="none" strike="noStrike" kern="100" baseline="0" dirty="0" smtClean="0">
                <a:latin typeface="Arial"/>
                <a:ea typeface="標楷體"/>
              </a:rPr>
              <a:t>年。</a:t>
            </a:r>
          </a:p>
          <a:p>
            <a:pPr marR="0" lvl="0" rtl="0"/>
            <a:endParaRPr lang="zh-TW" altLang="en-US" b="1" i="0" u="none" strike="noStrike" kern="100" baseline="0" dirty="0" smtClean="0">
              <a:latin typeface="Times New Roman"/>
              <a:ea typeface="標楷體"/>
            </a:endParaRPr>
          </a:p>
          <a:p>
            <a:pPr marR="0" lvl="0" rtl="0"/>
            <a:r>
              <a:rPr lang="zh-TW" altLang="en-US" b="1" i="0" u="none" strike="noStrike" kern="100" baseline="0" dirty="0" smtClean="0">
                <a:latin typeface="Arial"/>
                <a:ea typeface="標楷體"/>
              </a:rPr>
              <a:t>電腦軟體之發明分為</a:t>
            </a:r>
            <a:r>
              <a:rPr lang="en-US" altLang="zh-TW" b="1" i="0" u="none" strike="noStrike" kern="100" baseline="0" dirty="0" smtClean="0">
                <a:latin typeface="Arial"/>
                <a:ea typeface="標楷體"/>
              </a:rPr>
              <a:t>『</a:t>
            </a:r>
            <a:r>
              <a:rPr lang="zh-TW" altLang="en-US" b="1" i="0" u="none" strike="noStrike" kern="100" baseline="0" dirty="0" smtClean="0">
                <a:latin typeface="Arial"/>
                <a:ea typeface="標楷體"/>
              </a:rPr>
              <a:t>物之發明</a:t>
            </a:r>
            <a:r>
              <a:rPr lang="en-US" altLang="zh-TW" b="1" i="0" u="none" strike="noStrike" kern="100" baseline="0" dirty="0" smtClean="0">
                <a:latin typeface="Arial"/>
                <a:ea typeface="標楷體"/>
              </a:rPr>
              <a:t>』</a:t>
            </a:r>
            <a:r>
              <a:rPr lang="zh-TW" altLang="en-US" b="1" i="0" u="none" strike="noStrike" kern="100" baseline="0" dirty="0" smtClean="0">
                <a:latin typeface="Arial"/>
                <a:ea typeface="標楷體"/>
              </a:rPr>
              <a:t>與</a:t>
            </a:r>
            <a:r>
              <a:rPr lang="en-US" altLang="zh-TW" b="1" i="0" u="none" strike="noStrike" kern="100" baseline="0" dirty="0" smtClean="0">
                <a:latin typeface="Arial"/>
                <a:ea typeface="標楷體"/>
              </a:rPr>
              <a:t>『</a:t>
            </a:r>
            <a:r>
              <a:rPr lang="zh-TW" altLang="en-US" b="1" i="0" u="none" strike="noStrike" kern="100" baseline="0" dirty="0" smtClean="0">
                <a:latin typeface="Arial"/>
                <a:ea typeface="標楷體"/>
              </a:rPr>
              <a:t>方法發明</a:t>
            </a:r>
            <a:r>
              <a:rPr lang="en-US" altLang="zh-TW" b="1" i="0" u="none" strike="noStrike" kern="100" baseline="0" dirty="0" smtClean="0">
                <a:latin typeface="Arial"/>
                <a:ea typeface="標楷體"/>
              </a:rPr>
              <a:t>』</a:t>
            </a:r>
            <a:r>
              <a:rPr lang="zh-TW" altLang="en-US" b="1" i="0" u="none" strike="noStrike" kern="100" baseline="0" dirty="0" smtClean="0">
                <a:latin typeface="Arial"/>
                <a:ea typeface="標楷體"/>
              </a:rPr>
              <a:t>，如圖</a:t>
            </a:r>
            <a:r>
              <a:rPr lang="en-US" altLang="zh-TW" b="1" i="0" u="none" strike="noStrike" kern="100" baseline="0" dirty="0" smtClean="0">
                <a:latin typeface="Arial"/>
                <a:ea typeface="標楷體"/>
              </a:rPr>
              <a:t>4-4</a:t>
            </a:r>
            <a:r>
              <a:rPr lang="zh-TW" altLang="en-US" b="1" i="0" u="none" strike="noStrike" kern="100" baseline="0" dirty="0" smtClean="0">
                <a:latin typeface="Arial"/>
                <a:ea typeface="標楷體"/>
              </a:rPr>
              <a:t>。</a:t>
            </a:r>
          </a:p>
          <a:p>
            <a:pPr marR="0" lvl="0" rtl="0"/>
            <a:r>
              <a:rPr lang="zh-TW" altLang="en-US" b="1" i="0" u="none" strike="noStrike" kern="100" baseline="0" dirty="0" smtClean="0">
                <a:latin typeface="Arial"/>
                <a:ea typeface="標楷體"/>
              </a:rPr>
              <a:t>依照</a:t>
            </a:r>
            <a:r>
              <a:rPr lang="en-US" altLang="zh-TW" b="1" i="0" u="none" strike="noStrike" kern="100" baseline="0" dirty="0" smtClean="0">
                <a:latin typeface="Arial"/>
                <a:ea typeface="標楷體"/>
              </a:rPr>
              <a:t>『</a:t>
            </a:r>
            <a:r>
              <a:rPr lang="zh-TW" altLang="en-US" b="1" i="0" u="none" strike="noStrike" kern="100" baseline="0" dirty="0" smtClean="0">
                <a:latin typeface="Arial"/>
                <a:ea typeface="標楷體"/>
              </a:rPr>
              <a:t>電腦軟體相關發明專利審查基準</a:t>
            </a:r>
            <a:r>
              <a:rPr lang="en-US" altLang="zh-TW" b="1" i="0" u="none" strike="noStrike" kern="100" baseline="0" dirty="0" smtClean="0">
                <a:latin typeface="Arial"/>
                <a:ea typeface="標楷體"/>
              </a:rPr>
              <a:t>』</a:t>
            </a:r>
            <a:r>
              <a:rPr lang="zh-TW" altLang="en-US" b="1" i="0" u="none" strike="noStrike" kern="100" baseline="0" dirty="0" smtClean="0">
                <a:latin typeface="Arial"/>
                <a:ea typeface="標楷體"/>
              </a:rPr>
              <a:t>，以電腦軟體與硬體結合型之發明專利，稱為</a:t>
            </a:r>
            <a:r>
              <a:rPr lang="en-US" altLang="zh-TW" b="1" i="0" u="none" strike="noStrike" kern="100" baseline="0" dirty="0" smtClean="0">
                <a:latin typeface="Arial"/>
                <a:ea typeface="標楷體"/>
              </a:rPr>
              <a:t>『</a:t>
            </a:r>
            <a:r>
              <a:rPr lang="zh-TW" altLang="en-US" b="1" i="0" u="none" strike="noStrike" kern="100" baseline="0" dirty="0" smtClean="0">
                <a:latin typeface="Arial"/>
                <a:ea typeface="標楷體"/>
              </a:rPr>
              <a:t>物之發明</a:t>
            </a:r>
            <a:r>
              <a:rPr lang="en-US" altLang="zh-TW" b="1" i="0" u="none" strike="noStrike" kern="100" baseline="0" dirty="0" smtClean="0">
                <a:latin typeface="Arial"/>
                <a:ea typeface="標楷體"/>
              </a:rPr>
              <a:t>』</a:t>
            </a:r>
            <a:r>
              <a:rPr lang="zh-TW" altLang="en-US" b="1" i="0" u="none" strike="noStrike" kern="100" baseline="0" dirty="0" smtClean="0">
                <a:latin typeface="Arial"/>
                <a:ea typeface="標楷體"/>
              </a:rPr>
              <a:t>。</a:t>
            </a:r>
          </a:p>
          <a:p>
            <a:pPr marR="0" lvl="0" rtl="0"/>
            <a:r>
              <a:rPr lang="zh-TW" altLang="en-US" b="1" i="0" u="none" strike="noStrike" kern="100" baseline="0" dirty="0" smtClean="0">
                <a:latin typeface="Arial"/>
                <a:ea typeface="標楷體"/>
              </a:rPr>
              <a:t>例如，發明一套操作軟體，用於操作機器人之手臂，可以模擬如真人一般的觸覺等，標的物為機器手臂與軟體，可以申請發明專利。而以執行的步驟主張的稱為</a:t>
            </a:r>
            <a:r>
              <a:rPr lang="en-US" altLang="zh-TW" b="1" i="0" u="none" strike="noStrike" kern="100" baseline="0" dirty="0" smtClean="0">
                <a:latin typeface="Arial"/>
                <a:ea typeface="標楷體"/>
              </a:rPr>
              <a:t>『</a:t>
            </a:r>
            <a:r>
              <a:rPr lang="zh-TW" altLang="en-US" b="1" i="0" u="none" strike="noStrike" kern="100" baseline="0" dirty="0" smtClean="0">
                <a:latin typeface="Arial"/>
                <a:ea typeface="標楷體"/>
              </a:rPr>
              <a:t>方法發明</a:t>
            </a:r>
            <a:r>
              <a:rPr lang="en-US" altLang="zh-TW" b="1" i="0" u="none" strike="noStrike" kern="100" baseline="0" dirty="0" smtClean="0">
                <a:latin typeface="Arial"/>
                <a:ea typeface="標楷體"/>
              </a:rPr>
              <a:t>』</a:t>
            </a:r>
            <a:r>
              <a:rPr lang="zh-TW" altLang="en-US" b="1" i="0" u="none" strike="noStrike" kern="100" baseline="0" dirty="0" smtClean="0">
                <a:latin typeface="Arial"/>
                <a:ea typeface="標楷體"/>
              </a:rPr>
              <a:t>，例如，發明一段程式，可計算解題方法，或在軟體的操作上有獨特方法，這段程式可以申請為專利權保護之標的。</a:t>
            </a:r>
            <a:endParaRPr lang="zh-TW" altLang="en-US" b="1" i="0" u="none" strike="noStrike" kern="100" baseline="0" dirty="0" smtClean="0">
              <a:latin typeface="Times New Roman"/>
              <a:ea typeface="標楷體"/>
            </a:endParaRPr>
          </a:p>
        </p:txBody>
      </p:sp>
      <p:sp>
        <p:nvSpPr>
          <p:cNvPr id="4" name="日期版面配置區 3"/>
          <p:cNvSpPr>
            <a:spLocks noGrp="1"/>
          </p:cNvSpPr>
          <p:nvPr>
            <p:ph type="dt" sz="half" idx="10"/>
          </p:nvPr>
        </p:nvSpPr>
        <p:spPr/>
        <p:txBody>
          <a:bodyPr/>
          <a:lstStyle/>
          <a:p>
            <a:fld id="{11612FB1-3345-48CB-9522-DBB03A8FC199}" type="datetime1">
              <a:rPr lang="zh-TW" altLang="en-US" smtClean="0"/>
              <a:t>2023/4/2</a:t>
            </a:fld>
            <a:endParaRPr lang="zh-TW" altLang="en-US"/>
          </a:p>
        </p:txBody>
      </p:sp>
      <p:sp>
        <p:nvSpPr>
          <p:cNvPr id="5" name="投影片編號版面配置區 4"/>
          <p:cNvSpPr>
            <a:spLocks noGrp="1"/>
          </p:cNvSpPr>
          <p:nvPr>
            <p:ph type="sldNum" sz="quarter" idx="12"/>
          </p:nvPr>
        </p:nvSpPr>
        <p:spPr/>
        <p:txBody>
          <a:bodyPr/>
          <a:lstStyle/>
          <a:p>
            <a:fld id="{5DDC22FF-AB65-4D90-9AB8-E808153956B4}" type="slidenum">
              <a:rPr lang="zh-TW" altLang="en-US" smtClean="0"/>
              <a:pPr/>
              <a:t>10</a:t>
            </a:fld>
            <a:endParaRPr lang="zh-TW" altLang="en-US"/>
          </a:p>
        </p:txBody>
      </p:sp>
    </p:spTree>
    <p:extLst>
      <p:ext uri="{BB962C8B-B14F-4D97-AF65-F5344CB8AC3E}">
        <p14:creationId xmlns:p14="http://schemas.microsoft.com/office/powerpoint/2010/main" val="27286985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Fig 4-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627784" y="1628800"/>
            <a:ext cx="3847628" cy="2736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p:cNvSpPr/>
          <p:nvPr/>
        </p:nvSpPr>
        <p:spPr>
          <a:xfrm>
            <a:off x="3347864" y="5157192"/>
            <a:ext cx="2850460" cy="369332"/>
          </a:xfrm>
          <a:prstGeom prst="rect">
            <a:avLst/>
          </a:prstGeom>
        </p:spPr>
        <p:txBody>
          <a:bodyPr wrap="none">
            <a:spAutoFit/>
          </a:bodyPr>
          <a:lstStyle/>
          <a:p>
            <a:r>
              <a:rPr lang="zh-TW" altLang="zh-TW" dirty="0"/>
              <a:t>圖</a:t>
            </a:r>
            <a:r>
              <a:rPr lang="en-US" altLang="zh-TW" dirty="0"/>
              <a:t>4-4 </a:t>
            </a:r>
            <a:r>
              <a:rPr lang="zh-TW" altLang="zh-TW" dirty="0"/>
              <a:t>電腦軟體發明之分類</a:t>
            </a:r>
            <a:endParaRPr lang="zh-TW" altLang="en-US" dirty="0"/>
          </a:p>
        </p:txBody>
      </p:sp>
      <p:sp>
        <p:nvSpPr>
          <p:cNvPr id="3" name="投影片編號版面配置區 2"/>
          <p:cNvSpPr>
            <a:spLocks noGrp="1"/>
          </p:cNvSpPr>
          <p:nvPr>
            <p:ph type="sldNum" sz="quarter" idx="10"/>
          </p:nvPr>
        </p:nvSpPr>
        <p:spPr/>
        <p:txBody>
          <a:bodyPr/>
          <a:lstStyle/>
          <a:p>
            <a:fld id="{5DDC22FF-AB65-4D90-9AB8-E808153956B4}" type="slidenum">
              <a:rPr lang="zh-TW" altLang="en-US" smtClean="0"/>
              <a:pPr/>
              <a:t>11</a:t>
            </a:fld>
            <a:endParaRPr lang="zh-TW" altLang="en-US"/>
          </a:p>
        </p:txBody>
      </p:sp>
    </p:spTree>
    <p:extLst>
      <p:ext uri="{BB962C8B-B14F-4D97-AF65-F5344CB8AC3E}">
        <p14:creationId xmlns:p14="http://schemas.microsoft.com/office/powerpoint/2010/main" val="21047753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marR="0" rtl="0"/>
            <a:r>
              <a:rPr lang="en-US" altLang="zh-TW" b="1" i="0" u="none" strike="noStrike" kern="2600" baseline="0" smtClean="0">
                <a:latin typeface="Arial"/>
                <a:ea typeface="標楷體"/>
              </a:rPr>
              <a:t>4.2.4 </a:t>
            </a:r>
            <a:r>
              <a:rPr lang="zh-TW" altLang="en-US" b="1" i="0" u="none" strike="noStrike" kern="2600" baseline="0" smtClean="0">
                <a:latin typeface="Arial"/>
                <a:ea typeface="標楷體"/>
              </a:rPr>
              <a:t>營業秘密與競業禁止</a:t>
            </a:r>
            <a:endParaRPr lang="zh-TW" altLang="en-US" b="1" i="0" u="none" strike="noStrike" kern="2600" baseline="0" smtClean="0">
              <a:latin typeface="Times New Roman"/>
              <a:ea typeface="標楷體"/>
            </a:endParaRPr>
          </a:p>
        </p:txBody>
      </p:sp>
      <p:sp>
        <p:nvSpPr>
          <p:cNvPr id="3" name="文字版面配置區 2"/>
          <p:cNvSpPr>
            <a:spLocks noGrp="1"/>
          </p:cNvSpPr>
          <p:nvPr>
            <p:ph type="body" idx="1"/>
          </p:nvPr>
        </p:nvSpPr>
        <p:spPr/>
        <p:txBody>
          <a:bodyPr>
            <a:normAutofit fontScale="77500" lnSpcReduction="20000"/>
          </a:bodyPr>
          <a:lstStyle/>
          <a:p>
            <a:pPr marR="0" lvl="0" rtl="0"/>
            <a:r>
              <a:rPr lang="zh-TW" altLang="en-US" b="1" i="0" u="none" strike="noStrike" kern="100" baseline="0" dirty="0" smtClean="0">
                <a:latin typeface="Arial"/>
                <a:ea typeface="標楷體"/>
              </a:rPr>
              <a:t>營業秘密 </a:t>
            </a:r>
            <a:r>
              <a:rPr lang="en-US" altLang="zh-TW" b="1" i="0" u="none" strike="noStrike" kern="100" baseline="0" dirty="0" smtClean="0">
                <a:latin typeface="Arial"/>
                <a:ea typeface="標楷體"/>
              </a:rPr>
              <a:t>( trade secret )</a:t>
            </a:r>
            <a:r>
              <a:rPr lang="zh-TW" altLang="en-US" b="1" i="0" u="none" strike="noStrike" kern="100" baseline="0" dirty="0" smtClean="0">
                <a:latin typeface="Arial"/>
                <a:ea typeface="標楷體"/>
              </a:rPr>
              <a:t>是指不爲公衆所知悉，能爲權利人帶來經濟利益，具有實用性並對權利人採取保密措施的技術資訊和經營資訊。例如，可口可樂配方、</a:t>
            </a:r>
            <a:r>
              <a:rPr lang="en-US" altLang="zh-TW" b="1" i="0" u="none" strike="noStrike" kern="100" baseline="0" dirty="0" smtClean="0">
                <a:latin typeface="Arial"/>
                <a:ea typeface="標楷體"/>
              </a:rPr>
              <a:t>Microsoft Windows </a:t>
            </a:r>
            <a:r>
              <a:rPr lang="zh-TW" altLang="en-US" b="1" i="0" u="none" strike="noStrike" kern="100" baseline="0" dirty="0" smtClean="0">
                <a:latin typeface="Arial"/>
                <a:ea typeface="標楷體"/>
              </a:rPr>
              <a:t>原始程式碼等。</a:t>
            </a:r>
          </a:p>
          <a:p>
            <a:pPr marR="0" lvl="0" rtl="0"/>
            <a:r>
              <a:rPr lang="zh-TW" altLang="en-US" b="1" i="0" u="none" strike="noStrike" kern="100" baseline="0" dirty="0" smtClean="0">
                <a:latin typeface="Arial"/>
                <a:ea typeface="標楷體"/>
              </a:rPr>
              <a:t>依據營業秘密法第</a:t>
            </a:r>
            <a:r>
              <a:rPr lang="en-US" altLang="zh-TW" b="1" i="0" u="none" strike="noStrike" kern="100" baseline="0" dirty="0" smtClean="0">
                <a:latin typeface="Arial"/>
                <a:ea typeface="標楷體"/>
              </a:rPr>
              <a:t>2</a:t>
            </a:r>
            <a:r>
              <a:rPr lang="zh-TW" altLang="en-US" b="1" i="0" u="none" strike="noStrike" kern="100" baseline="0" dirty="0" smtClean="0">
                <a:latin typeface="Arial"/>
                <a:ea typeface="標楷體"/>
              </a:rPr>
              <a:t>條規範，營業秘密係指方法、技術、製程、配方、程式、設計或其他可用於生產、銷售或經營之資訊，而符合左列要件者：</a:t>
            </a:r>
          </a:p>
          <a:p>
            <a:pPr marR="0" lvl="0" rtl="0"/>
            <a:r>
              <a:rPr lang="zh-TW" altLang="en-US" b="1" i="0" u="none" strike="noStrike" kern="100" baseline="0" dirty="0" smtClean="0">
                <a:latin typeface="Arial"/>
                <a:ea typeface="標楷體"/>
              </a:rPr>
              <a:t>一、非一般涉及該類資訊之人所知者。</a:t>
            </a:r>
          </a:p>
          <a:p>
            <a:pPr marR="0" lvl="0" rtl="0"/>
            <a:r>
              <a:rPr lang="zh-TW" altLang="en-US" b="1" i="0" u="none" strike="noStrike" kern="100" baseline="0" dirty="0" smtClean="0">
                <a:latin typeface="Arial"/>
                <a:ea typeface="標楷體"/>
              </a:rPr>
              <a:t>二、因其秘密性而具有實際或潛在之經濟價值者。</a:t>
            </a:r>
          </a:p>
          <a:p>
            <a:pPr marR="0" lvl="0" rtl="0"/>
            <a:r>
              <a:rPr lang="zh-TW" altLang="en-US" b="1" i="0" u="none" strike="noStrike" kern="100" baseline="0" dirty="0" smtClean="0">
                <a:latin typeface="Arial"/>
                <a:ea typeface="標楷體"/>
              </a:rPr>
              <a:t>三、所有人已採取合理之保密措施者。</a:t>
            </a:r>
          </a:p>
          <a:p>
            <a:pPr marR="0" lvl="0" rtl="0"/>
            <a:endParaRPr lang="zh-TW" altLang="en-US" b="1" i="0" u="none" strike="noStrike" kern="100" baseline="0" dirty="0" smtClean="0">
              <a:latin typeface="Times New Roman"/>
              <a:ea typeface="標楷體"/>
            </a:endParaRPr>
          </a:p>
          <a:p>
            <a:pPr marR="0" lvl="0" rtl="0"/>
            <a:r>
              <a:rPr lang="zh-TW" altLang="en-US" b="1" i="0" u="none" strike="noStrike" kern="100" baseline="0" dirty="0" smtClean="0">
                <a:latin typeface="Arial"/>
                <a:ea typeface="標楷體"/>
              </a:rPr>
              <a:t>以上為營業秘密之三要件：具有未普及知悉、具有經濟價值、與具有私密性。依照上述的規定，例如，眾所週知的製作冰淇淋之方法，並無法取得營業秘密權。</a:t>
            </a:r>
          </a:p>
          <a:p>
            <a:pPr marR="0" lvl="0" rtl="0"/>
            <a:endParaRPr lang="zh-TW" altLang="en-US" b="1" i="0" u="none" strike="noStrike" kern="100" baseline="0" dirty="0" smtClean="0">
              <a:latin typeface="Times New Roman"/>
              <a:ea typeface="標楷體"/>
            </a:endParaRPr>
          </a:p>
        </p:txBody>
      </p:sp>
      <p:sp>
        <p:nvSpPr>
          <p:cNvPr id="4" name="日期版面配置區 3"/>
          <p:cNvSpPr>
            <a:spLocks noGrp="1"/>
          </p:cNvSpPr>
          <p:nvPr>
            <p:ph type="dt" sz="half" idx="10"/>
          </p:nvPr>
        </p:nvSpPr>
        <p:spPr/>
        <p:txBody>
          <a:bodyPr/>
          <a:lstStyle/>
          <a:p>
            <a:fld id="{3BC134AD-9648-41D1-87BD-3AE4A814D867}" type="datetime1">
              <a:rPr lang="zh-TW" altLang="en-US" smtClean="0"/>
              <a:t>2023/4/2</a:t>
            </a:fld>
            <a:endParaRPr lang="zh-TW" altLang="en-US"/>
          </a:p>
        </p:txBody>
      </p:sp>
      <p:sp>
        <p:nvSpPr>
          <p:cNvPr id="5" name="投影片編號版面配置區 4"/>
          <p:cNvSpPr>
            <a:spLocks noGrp="1"/>
          </p:cNvSpPr>
          <p:nvPr>
            <p:ph type="sldNum" sz="quarter" idx="12"/>
          </p:nvPr>
        </p:nvSpPr>
        <p:spPr/>
        <p:txBody>
          <a:bodyPr/>
          <a:lstStyle/>
          <a:p>
            <a:fld id="{5DDC22FF-AB65-4D90-9AB8-E808153956B4}" type="slidenum">
              <a:rPr lang="zh-TW" altLang="en-US" smtClean="0"/>
              <a:pPr/>
              <a:t>12</a:t>
            </a:fld>
            <a:endParaRPr lang="zh-TW" altLang="en-US"/>
          </a:p>
        </p:txBody>
      </p:sp>
    </p:spTree>
    <p:extLst>
      <p:ext uri="{BB962C8B-B14F-4D97-AF65-F5344CB8AC3E}">
        <p14:creationId xmlns:p14="http://schemas.microsoft.com/office/powerpoint/2010/main" val="1717488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b="1" i="0" u="none" strike="noStrike" kern="100" baseline="0" dirty="0" smtClean="0">
                <a:latin typeface="Arial"/>
                <a:ea typeface="標楷體"/>
              </a:rPr>
              <a:t>競業禁止</a:t>
            </a:r>
            <a:endParaRPr lang="zh-TW" altLang="en-US" dirty="0"/>
          </a:p>
        </p:txBody>
      </p:sp>
      <p:sp>
        <p:nvSpPr>
          <p:cNvPr id="3" name="文字版面配置區 2"/>
          <p:cNvSpPr>
            <a:spLocks noGrp="1"/>
          </p:cNvSpPr>
          <p:nvPr>
            <p:ph type="body" idx="1"/>
          </p:nvPr>
        </p:nvSpPr>
        <p:spPr/>
        <p:txBody>
          <a:bodyPr>
            <a:normAutofit fontScale="92500" lnSpcReduction="20000"/>
          </a:bodyPr>
          <a:lstStyle/>
          <a:p>
            <a:pPr lvl="0"/>
            <a:r>
              <a:rPr lang="zh-TW" altLang="en-US" b="1" i="0" u="none" strike="noStrike" kern="100" baseline="0" dirty="0" smtClean="0">
                <a:latin typeface="Arial"/>
                <a:ea typeface="標楷體"/>
              </a:rPr>
              <a:t>所謂</a:t>
            </a:r>
            <a:r>
              <a:rPr lang="en-US" altLang="zh-TW" b="1" i="0" u="none" strike="noStrike" kern="100" baseline="0" dirty="0" smtClean="0">
                <a:latin typeface="Arial"/>
                <a:ea typeface="標楷體"/>
              </a:rPr>
              <a:t>『</a:t>
            </a:r>
            <a:r>
              <a:rPr lang="zh-TW" altLang="en-US" b="1" i="0" u="none" strike="noStrike" kern="100" baseline="0" dirty="0" smtClean="0">
                <a:latin typeface="Arial"/>
                <a:ea typeface="標楷體"/>
              </a:rPr>
              <a:t>競業禁止</a:t>
            </a:r>
            <a:r>
              <a:rPr lang="en-US" altLang="zh-TW" b="1" i="0" u="none" strike="noStrike" kern="100" baseline="0" dirty="0" smtClean="0">
                <a:latin typeface="Arial"/>
                <a:ea typeface="標楷體"/>
              </a:rPr>
              <a:t>』</a:t>
            </a:r>
            <a:r>
              <a:rPr lang="zh-TW" altLang="en-US" b="1" i="0" u="none" strike="noStrike" kern="100" baseline="0" dirty="0" smtClean="0">
                <a:latin typeface="Arial"/>
                <a:ea typeface="標楷體"/>
              </a:rPr>
              <a:t>是勞動者在勞動契約存續中，曾參與顧客、來源、製造、與銷售過程等機密，運用此機密對雇主可能會造成重大危險或損失。在勞動契約結束後，給予該勞動者禁止競業的義務。</a:t>
            </a:r>
          </a:p>
          <a:p>
            <a:pPr lvl="0"/>
            <a:r>
              <a:rPr lang="zh-TW" altLang="en-US" b="1" i="0" u="none" strike="noStrike" kern="100" baseline="0" dirty="0" smtClean="0">
                <a:latin typeface="Arial"/>
                <a:ea typeface="標楷體"/>
              </a:rPr>
              <a:t>換言之，就是員工在職期間，不能同時又提供資金、資訊、諮詢等資源給該公司的競爭對手，損及該公司之利益。</a:t>
            </a:r>
          </a:p>
          <a:p>
            <a:pPr lvl="0"/>
            <a:r>
              <a:rPr lang="zh-TW" altLang="en-US" b="1" i="0" u="none" strike="noStrike" kern="100" baseline="0" dirty="0" smtClean="0">
                <a:latin typeface="Arial"/>
                <a:ea typeface="標楷體"/>
              </a:rPr>
              <a:t>此外，員工離職後如果利用所知的營業秘密另行創業或是投靠原僱主的競爭對手，也將會造成公司一定的損害。因此，有些僱主透過僱傭契約，要求員工在離職後一定期間之內，不得從事與其原任職相同的工作。</a:t>
            </a:r>
          </a:p>
          <a:p>
            <a:pPr lvl="0"/>
            <a:r>
              <a:rPr lang="zh-TW" altLang="en-US" b="1" i="0" u="none" strike="noStrike" kern="100" baseline="0" dirty="0" smtClean="0">
                <a:latin typeface="Arial"/>
                <a:ea typeface="標楷體"/>
              </a:rPr>
              <a:t>競業禁止的規範需要合理的範圍與時間，以免影響受雇者的生存權。</a:t>
            </a:r>
            <a:endParaRPr lang="zh-TW" altLang="en-US" b="1" i="0" u="none" strike="noStrike" kern="100" baseline="0" dirty="0" smtClean="0">
              <a:latin typeface="Times New Roman"/>
              <a:ea typeface="標楷體"/>
            </a:endParaRPr>
          </a:p>
          <a:p>
            <a:endParaRPr lang="zh-TW" altLang="en-US" dirty="0"/>
          </a:p>
        </p:txBody>
      </p:sp>
      <p:sp>
        <p:nvSpPr>
          <p:cNvPr id="4" name="日期版面配置區 3"/>
          <p:cNvSpPr>
            <a:spLocks noGrp="1"/>
          </p:cNvSpPr>
          <p:nvPr>
            <p:ph type="dt" sz="half" idx="10"/>
          </p:nvPr>
        </p:nvSpPr>
        <p:spPr/>
        <p:txBody>
          <a:bodyPr/>
          <a:lstStyle/>
          <a:p>
            <a:fld id="{D5170946-9F5C-4CE9-A22E-C6FF3D23C7B1}" type="datetime1">
              <a:rPr lang="zh-TW" altLang="en-US" smtClean="0"/>
              <a:t>2023/4/2</a:t>
            </a:fld>
            <a:endParaRPr lang="zh-TW" altLang="en-US"/>
          </a:p>
        </p:txBody>
      </p:sp>
      <p:sp>
        <p:nvSpPr>
          <p:cNvPr id="5" name="投影片編號版面配置區 4"/>
          <p:cNvSpPr>
            <a:spLocks noGrp="1"/>
          </p:cNvSpPr>
          <p:nvPr>
            <p:ph type="sldNum" sz="quarter" idx="12"/>
          </p:nvPr>
        </p:nvSpPr>
        <p:spPr/>
        <p:txBody>
          <a:bodyPr/>
          <a:lstStyle/>
          <a:p>
            <a:fld id="{5DDC22FF-AB65-4D90-9AB8-E808153956B4}" type="slidenum">
              <a:rPr lang="zh-TW" altLang="en-US" smtClean="0"/>
              <a:pPr/>
              <a:t>13</a:t>
            </a:fld>
            <a:endParaRPr lang="zh-TW" altLang="en-US"/>
          </a:p>
        </p:txBody>
      </p:sp>
    </p:spTree>
    <p:extLst>
      <p:ext uri="{BB962C8B-B14F-4D97-AF65-F5344CB8AC3E}">
        <p14:creationId xmlns:p14="http://schemas.microsoft.com/office/powerpoint/2010/main" val="5951801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marR="0" rtl="0"/>
            <a:r>
              <a:rPr lang="en-US" altLang="zh-TW" b="1" i="0" u="none" strike="noStrike" kern="2600" baseline="0" smtClean="0">
                <a:latin typeface="Arial"/>
                <a:ea typeface="標楷體"/>
              </a:rPr>
              <a:t>4.3 </a:t>
            </a:r>
            <a:r>
              <a:rPr lang="zh-TW" altLang="en-US" b="1" i="0" u="none" strike="noStrike" kern="2600" baseline="0" smtClean="0">
                <a:latin typeface="Arial"/>
                <a:ea typeface="標楷體"/>
              </a:rPr>
              <a:t>網際網路相關的法律</a:t>
            </a:r>
            <a:endParaRPr lang="zh-TW" altLang="en-US" b="1" i="0" u="none" strike="noStrike" kern="2600" baseline="0" smtClean="0">
              <a:latin typeface="Times New Roman"/>
              <a:ea typeface="標楷體"/>
            </a:endParaRPr>
          </a:p>
        </p:txBody>
      </p:sp>
      <p:sp>
        <p:nvSpPr>
          <p:cNvPr id="3" name="文字版面配置區 2"/>
          <p:cNvSpPr>
            <a:spLocks noGrp="1"/>
          </p:cNvSpPr>
          <p:nvPr>
            <p:ph type="body" idx="1"/>
          </p:nvPr>
        </p:nvSpPr>
        <p:spPr/>
        <p:txBody>
          <a:bodyPr/>
          <a:lstStyle/>
          <a:p>
            <a:pPr marR="0" lvl="0" rtl="0">
              <a:buFont typeface="Wingdings" panose="05000000000000000000" pitchFamily="2" charset="2"/>
              <a:buChar char="l"/>
            </a:pPr>
            <a:r>
              <a:rPr lang="zh-TW" altLang="en-US" b="1" i="0" u="none" strike="noStrike" kern="100" baseline="0" dirty="0" smtClean="0">
                <a:latin typeface="Arial"/>
                <a:ea typeface="標楷體"/>
              </a:rPr>
              <a:t>本節介紹一些與網路相關的法律規範與議題，包含：</a:t>
            </a:r>
            <a:endParaRPr lang="en-US" altLang="zh-TW" b="1" i="0" u="none" strike="noStrike" kern="100" baseline="0" dirty="0" smtClean="0">
              <a:latin typeface="Arial"/>
              <a:ea typeface="標楷體"/>
            </a:endParaRPr>
          </a:p>
          <a:p>
            <a:pPr lvl="1">
              <a:buFont typeface="Wingdings" panose="05000000000000000000" pitchFamily="2" charset="2"/>
              <a:buChar char="l"/>
            </a:pPr>
            <a:r>
              <a:rPr lang="zh-TW" altLang="en-US" b="1" i="0" u="none" strike="noStrike" kern="100" baseline="0" dirty="0" smtClean="0">
                <a:latin typeface="Arial"/>
                <a:ea typeface="標楷體"/>
              </a:rPr>
              <a:t>電子簽章法</a:t>
            </a:r>
            <a:endParaRPr lang="en-US" altLang="zh-TW" b="1" i="0" u="none" strike="noStrike" kern="100" baseline="0" dirty="0" smtClean="0">
              <a:latin typeface="Arial"/>
              <a:ea typeface="標楷體"/>
            </a:endParaRPr>
          </a:p>
          <a:p>
            <a:pPr lvl="1">
              <a:buFont typeface="Wingdings" panose="05000000000000000000" pitchFamily="2" charset="2"/>
              <a:buChar char="l"/>
            </a:pPr>
            <a:r>
              <a:rPr lang="zh-TW" altLang="en-US" b="1" i="0" u="none" strike="noStrike" kern="100" baseline="0" dirty="0" smtClean="0">
                <a:latin typeface="Arial"/>
                <a:ea typeface="標楷體"/>
              </a:rPr>
              <a:t>通訊保障及監察法</a:t>
            </a:r>
            <a:endParaRPr lang="en-US" altLang="zh-TW" b="1" i="0" u="none" strike="noStrike" kern="100" baseline="0" dirty="0" smtClean="0">
              <a:latin typeface="Arial"/>
              <a:ea typeface="標楷體"/>
            </a:endParaRPr>
          </a:p>
          <a:p>
            <a:pPr lvl="1">
              <a:buFont typeface="Wingdings" panose="05000000000000000000" pitchFamily="2" charset="2"/>
              <a:buChar char="l"/>
            </a:pPr>
            <a:r>
              <a:rPr lang="zh-TW" altLang="en-US" b="1" i="0" u="none" strike="noStrike" kern="100" baseline="0" dirty="0" smtClean="0">
                <a:latin typeface="Arial"/>
                <a:ea typeface="標楷體"/>
              </a:rPr>
              <a:t>企業監聽</a:t>
            </a:r>
            <a:endParaRPr lang="en-US" altLang="zh-TW" b="1" i="0" u="none" strike="noStrike" kern="100" baseline="0" dirty="0" smtClean="0">
              <a:latin typeface="Arial"/>
              <a:ea typeface="標楷體"/>
            </a:endParaRPr>
          </a:p>
          <a:p>
            <a:pPr lvl="1">
              <a:buFont typeface="Wingdings" panose="05000000000000000000" pitchFamily="2" charset="2"/>
              <a:buChar char="l"/>
            </a:pPr>
            <a:r>
              <a:rPr lang="zh-TW" altLang="en-US" b="1" i="0" u="none" strike="noStrike" kern="100" baseline="0" dirty="0" smtClean="0">
                <a:latin typeface="Arial"/>
                <a:ea typeface="標楷體"/>
              </a:rPr>
              <a:t>隱私權</a:t>
            </a:r>
            <a:endParaRPr lang="en-US" altLang="zh-TW" b="1" i="0" u="none" strike="noStrike" kern="100" baseline="0" dirty="0" smtClean="0">
              <a:latin typeface="Arial"/>
              <a:ea typeface="標楷體"/>
            </a:endParaRPr>
          </a:p>
          <a:p>
            <a:pPr lvl="1">
              <a:buFont typeface="Wingdings" panose="05000000000000000000" pitchFamily="2" charset="2"/>
              <a:buChar char="l"/>
            </a:pPr>
            <a:r>
              <a:rPr lang="zh-TW" altLang="en-US" b="1" i="0" u="none" strike="noStrike" kern="100" baseline="0" dirty="0" smtClean="0">
                <a:latin typeface="Arial"/>
                <a:ea typeface="標楷體"/>
              </a:rPr>
              <a:t>個人資料保護</a:t>
            </a:r>
            <a:endParaRPr lang="en-US" altLang="zh-TW" b="1" i="0" u="none" strike="noStrike" kern="100" baseline="0" dirty="0" smtClean="0">
              <a:latin typeface="Arial"/>
              <a:ea typeface="標楷體"/>
            </a:endParaRPr>
          </a:p>
          <a:p>
            <a:pPr lvl="1">
              <a:buFont typeface="Wingdings" panose="05000000000000000000" pitchFamily="2" charset="2"/>
              <a:buChar char="l"/>
            </a:pPr>
            <a:r>
              <a:rPr lang="zh-TW" altLang="en-US" b="1" kern="100" dirty="0" smtClean="0">
                <a:latin typeface="Arial"/>
              </a:rPr>
              <a:t>歐盟</a:t>
            </a:r>
            <a:r>
              <a:rPr lang="zh-TW" altLang="en-US" b="1" kern="100" dirty="0">
                <a:latin typeface="Arial"/>
              </a:rPr>
              <a:t>通用資料保護規範</a:t>
            </a:r>
            <a:endParaRPr lang="en-US" altLang="zh-TW" b="1" kern="100" dirty="0">
              <a:latin typeface="Arial"/>
              <a:ea typeface="標楷體"/>
            </a:endParaRPr>
          </a:p>
          <a:p>
            <a:pPr lvl="1">
              <a:buFont typeface="Wingdings" panose="05000000000000000000" pitchFamily="2" charset="2"/>
              <a:buChar char="l"/>
            </a:pPr>
            <a:endParaRPr lang="zh-TW" altLang="en-US" b="1" i="0" u="none" strike="noStrike" kern="100" baseline="0" dirty="0" smtClean="0">
              <a:latin typeface="Times New Roman"/>
              <a:ea typeface="標楷體"/>
            </a:endParaRPr>
          </a:p>
        </p:txBody>
      </p:sp>
      <p:sp>
        <p:nvSpPr>
          <p:cNvPr id="4" name="日期版面配置區 3"/>
          <p:cNvSpPr>
            <a:spLocks noGrp="1"/>
          </p:cNvSpPr>
          <p:nvPr>
            <p:ph type="dt" sz="half" idx="10"/>
          </p:nvPr>
        </p:nvSpPr>
        <p:spPr/>
        <p:txBody>
          <a:bodyPr/>
          <a:lstStyle/>
          <a:p>
            <a:fld id="{DFD06D66-1994-4DA9-823C-2BE336B3214A}" type="datetime1">
              <a:rPr lang="zh-TW" altLang="en-US" smtClean="0"/>
              <a:t>2023/4/2</a:t>
            </a:fld>
            <a:endParaRPr lang="zh-TW" altLang="en-US"/>
          </a:p>
        </p:txBody>
      </p:sp>
      <p:sp>
        <p:nvSpPr>
          <p:cNvPr id="5" name="投影片編號版面配置區 4"/>
          <p:cNvSpPr>
            <a:spLocks noGrp="1"/>
          </p:cNvSpPr>
          <p:nvPr>
            <p:ph type="sldNum" sz="quarter" idx="12"/>
          </p:nvPr>
        </p:nvSpPr>
        <p:spPr/>
        <p:txBody>
          <a:bodyPr/>
          <a:lstStyle/>
          <a:p>
            <a:fld id="{5DDC22FF-AB65-4D90-9AB8-E808153956B4}" type="slidenum">
              <a:rPr lang="zh-TW" altLang="en-US" smtClean="0"/>
              <a:pPr/>
              <a:t>14</a:t>
            </a:fld>
            <a:endParaRPr lang="zh-TW" altLang="en-US"/>
          </a:p>
        </p:txBody>
      </p:sp>
    </p:spTree>
    <p:extLst>
      <p:ext uri="{BB962C8B-B14F-4D97-AF65-F5344CB8AC3E}">
        <p14:creationId xmlns:p14="http://schemas.microsoft.com/office/powerpoint/2010/main" val="69287104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marR="0" rtl="0"/>
            <a:r>
              <a:rPr lang="en-US" altLang="zh-TW" b="1" i="0" u="none" strike="noStrike" kern="2600" baseline="0" smtClean="0">
                <a:latin typeface="Arial"/>
                <a:ea typeface="標楷體"/>
              </a:rPr>
              <a:t>4.3.1 </a:t>
            </a:r>
            <a:r>
              <a:rPr lang="zh-TW" altLang="en-US" b="1" i="0" u="none" strike="noStrike" kern="2600" baseline="0" smtClean="0">
                <a:latin typeface="Arial"/>
                <a:ea typeface="標楷體"/>
              </a:rPr>
              <a:t>電子簽章法</a:t>
            </a:r>
            <a:endParaRPr lang="zh-TW" altLang="en-US" b="1" i="0" u="none" strike="noStrike" kern="2600" baseline="0" smtClean="0">
              <a:latin typeface="Times New Roman"/>
              <a:ea typeface="標楷體"/>
            </a:endParaRPr>
          </a:p>
        </p:txBody>
      </p:sp>
      <p:sp>
        <p:nvSpPr>
          <p:cNvPr id="3" name="文字版面配置區 2"/>
          <p:cNvSpPr>
            <a:spLocks noGrp="1"/>
          </p:cNvSpPr>
          <p:nvPr>
            <p:ph type="body" idx="1"/>
          </p:nvPr>
        </p:nvSpPr>
        <p:spPr/>
        <p:txBody>
          <a:bodyPr>
            <a:normAutofit fontScale="85000" lnSpcReduction="10000"/>
          </a:bodyPr>
          <a:lstStyle/>
          <a:p>
            <a:pPr marR="0" lvl="0" rtl="0"/>
            <a:r>
              <a:rPr lang="zh-TW" altLang="en-US" b="1" i="0" u="none" strike="noStrike" kern="100" baseline="0" dirty="0" smtClean="0">
                <a:latin typeface="Arial"/>
                <a:ea typeface="標楷體"/>
              </a:rPr>
              <a:t>隨著網路交易時代的來臨，傳統的簽名或蓋章已經無法滿足當今社會的需求了。要建立一個值得信賴的網路交易環境，</a:t>
            </a:r>
            <a:r>
              <a:rPr lang="en-US" altLang="zh-TW" b="1" i="0" u="none" strike="noStrike" kern="100" baseline="0" dirty="0" smtClean="0">
                <a:latin typeface="Arial"/>
                <a:ea typeface="標楷體"/>
              </a:rPr>
              <a:t>『</a:t>
            </a:r>
            <a:r>
              <a:rPr lang="zh-TW" altLang="en-US" b="1" i="0" u="none" strike="noStrike" kern="100" baseline="0" dirty="0" smtClean="0">
                <a:latin typeface="Arial"/>
                <a:ea typeface="標楷體"/>
              </a:rPr>
              <a:t>電子簽章法</a:t>
            </a:r>
            <a:r>
              <a:rPr lang="en-US" altLang="zh-TW" b="1" i="0" u="none" strike="noStrike" kern="100" baseline="0" dirty="0" smtClean="0">
                <a:latin typeface="Arial"/>
                <a:ea typeface="標楷體"/>
              </a:rPr>
              <a:t>』</a:t>
            </a:r>
            <a:r>
              <a:rPr lang="zh-TW" altLang="en-US" b="1" i="0" u="none" strike="noStrike" kern="100" baseline="0" dirty="0" smtClean="0">
                <a:latin typeface="Arial"/>
                <a:ea typeface="標楷體"/>
              </a:rPr>
              <a:t>賦予電子文件和電子簽章的法律效力。</a:t>
            </a:r>
          </a:p>
          <a:p>
            <a:pPr marR="0" lvl="0" rtl="0"/>
            <a:r>
              <a:rPr lang="zh-TW" altLang="en-US" b="1" i="0" u="none" strike="noStrike" kern="100" baseline="0" dirty="0" smtClean="0">
                <a:latin typeface="Arial"/>
                <a:ea typeface="標楷體"/>
              </a:rPr>
              <a:t>我國於</a:t>
            </a:r>
            <a:r>
              <a:rPr lang="en-US" altLang="zh-TW" b="1" i="0" u="none" strike="noStrike" kern="100" baseline="0" dirty="0" smtClean="0">
                <a:latin typeface="Arial"/>
                <a:ea typeface="標楷體"/>
              </a:rPr>
              <a:t>2002</a:t>
            </a:r>
            <a:r>
              <a:rPr lang="zh-TW" altLang="en-US" b="1" i="0" u="none" strike="noStrike" kern="100" baseline="0" dirty="0" smtClean="0">
                <a:latin typeface="Arial"/>
                <a:ea typeface="標楷體"/>
              </a:rPr>
              <a:t>年制定通過</a:t>
            </a:r>
            <a:r>
              <a:rPr lang="en-US" altLang="zh-TW" b="1" i="0" u="none" strike="noStrike" kern="100" baseline="0" dirty="0" smtClean="0">
                <a:latin typeface="Arial"/>
                <a:ea typeface="標楷體"/>
              </a:rPr>
              <a:t>『</a:t>
            </a:r>
            <a:r>
              <a:rPr lang="zh-TW" altLang="en-US" b="1" i="0" u="none" strike="noStrike" kern="100" baseline="0" dirty="0" smtClean="0">
                <a:latin typeface="Arial"/>
                <a:ea typeface="標楷體"/>
              </a:rPr>
              <a:t>電子簽章法</a:t>
            </a:r>
            <a:r>
              <a:rPr lang="en-US" altLang="zh-TW" b="1" i="0" u="none" strike="noStrike" kern="100" baseline="0" dirty="0" smtClean="0">
                <a:latin typeface="Arial"/>
                <a:ea typeface="標楷體"/>
              </a:rPr>
              <a:t>』</a:t>
            </a:r>
            <a:r>
              <a:rPr lang="zh-TW" altLang="en-US" b="1" i="0" u="none" strike="noStrike" kern="100" baseline="0" dirty="0" smtClean="0">
                <a:latin typeface="Arial"/>
                <a:ea typeface="標楷體"/>
              </a:rPr>
              <a:t>，以強化網路交易之安全性與完整性。</a:t>
            </a:r>
          </a:p>
          <a:p>
            <a:pPr marR="0" lvl="0" rtl="0"/>
            <a:r>
              <a:rPr lang="zh-TW" altLang="en-US" b="1" i="0" u="none" strike="noStrike" kern="100" baseline="0" dirty="0" smtClean="0">
                <a:latin typeface="Arial"/>
                <a:ea typeface="標楷體"/>
              </a:rPr>
              <a:t>電子簽章法的訂立，採用技術中立的原則，目前之電子簽章法僅規範數位簽章 </a:t>
            </a:r>
            <a:r>
              <a:rPr lang="en-US" altLang="zh-TW" b="1" i="0" u="none" strike="noStrike" kern="100" baseline="0" dirty="0" smtClean="0">
                <a:latin typeface="Arial"/>
                <a:ea typeface="標楷體"/>
              </a:rPr>
              <a:t>(</a:t>
            </a:r>
            <a:r>
              <a:rPr lang="zh-TW" altLang="en-US" b="1" i="0" u="none" strike="noStrike" kern="100" baseline="0" dirty="0" smtClean="0">
                <a:latin typeface="Arial"/>
                <a:ea typeface="標楷體"/>
              </a:rPr>
              <a:t> </a:t>
            </a:r>
            <a:r>
              <a:rPr lang="en-US" altLang="zh-TW" b="1" i="0" u="none" strike="noStrike" kern="100" baseline="0" dirty="0" smtClean="0">
                <a:latin typeface="Arial"/>
                <a:ea typeface="標楷體"/>
              </a:rPr>
              <a:t>digital signature</a:t>
            </a:r>
            <a:r>
              <a:rPr lang="zh-TW" altLang="en-US" b="1" i="0" u="none" strike="noStrike" kern="100" baseline="0" dirty="0" smtClean="0">
                <a:latin typeface="Arial"/>
                <a:ea typeface="標楷體"/>
              </a:rPr>
              <a:t> </a:t>
            </a:r>
            <a:r>
              <a:rPr lang="en-US" altLang="zh-TW" b="1" i="0" u="none" strike="noStrike" kern="100" baseline="0" dirty="0" smtClean="0">
                <a:latin typeface="Arial"/>
                <a:ea typeface="標楷體"/>
              </a:rPr>
              <a:t>)</a:t>
            </a:r>
            <a:r>
              <a:rPr lang="zh-TW" altLang="en-US" b="1" i="0" u="none" strike="noStrike" kern="100" baseline="0" dirty="0" smtClean="0">
                <a:latin typeface="Arial"/>
                <a:ea typeface="標楷體"/>
              </a:rPr>
              <a:t> 技術。</a:t>
            </a:r>
          </a:p>
          <a:p>
            <a:pPr marR="0" lvl="0" rtl="0"/>
            <a:r>
              <a:rPr lang="zh-TW" altLang="en-US" b="1" i="0" u="none" strike="noStrike" kern="100" baseline="0" dirty="0" smtClean="0">
                <a:latin typeface="Arial"/>
                <a:ea typeface="標楷體"/>
              </a:rPr>
              <a:t>數位簽章，是指將電子文件以數學演算法或其它方式運算為一定長度之資料，再以簽署人之私密金鑰對其加密，而形成的一種電子簽章，並得以公開金鑰加以驗證 </a:t>
            </a:r>
            <a:r>
              <a:rPr lang="en-US" altLang="zh-TW" b="1" i="0" u="none" strike="noStrike" kern="100" baseline="0" dirty="0" smtClean="0">
                <a:latin typeface="Arial"/>
                <a:ea typeface="標楷體"/>
              </a:rPr>
              <a:t>( </a:t>
            </a:r>
            <a:r>
              <a:rPr lang="zh-TW" altLang="en-US" b="1" i="0" u="none" strike="noStrike" kern="100" baseline="0" dirty="0" smtClean="0">
                <a:latin typeface="Arial"/>
                <a:ea typeface="標楷體"/>
              </a:rPr>
              <a:t>驗章 </a:t>
            </a:r>
            <a:r>
              <a:rPr lang="en-US" altLang="zh-TW" b="1" i="0" u="none" strike="noStrike" kern="100" baseline="0" dirty="0" smtClean="0">
                <a:latin typeface="Arial"/>
                <a:ea typeface="標楷體"/>
              </a:rPr>
              <a:t>)</a:t>
            </a:r>
            <a:r>
              <a:rPr lang="zh-TW" altLang="en-US" b="1" i="0" u="none" strike="noStrike" kern="100" baseline="0" dirty="0" smtClean="0">
                <a:latin typeface="Arial"/>
                <a:ea typeface="標楷體"/>
              </a:rPr>
              <a:t>。</a:t>
            </a:r>
          </a:p>
          <a:p>
            <a:pPr marR="0" lvl="0" rtl="0"/>
            <a:r>
              <a:rPr lang="zh-TW" altLang="en-US" b="1" i="0" u="none" strike="noStrike" kern="100" baseline="0" dirty="0" smtClean="0">
                <a:latin typeface="Arial"/>
                <a:ea typeface="標楷體"/>
              </a:rPr>
              <a:t>數位簽章的簽章與驗章流程如下，如圖</a:t>
            </a:r>
            <a:r>
              <a:rPr lang="en-US" altLang="zh-TW" b="1" i="0" u="none" strike="noStrike" kern="100" baseline="0" dirty="0" smtClean="0">
                <a:latin typeface="Arial"/>
                <a:ea typeface="標楷體"/>
              </a:rPr>
              <a:t>4-5</a:t>
            </a:r>
            <a:r>
              <a:rPr lang="zh-TW" altLang="en-US" b="1" i="0" u="none" strike="noStrike" kern="100" baseline="0" dirty="0" smtClean="0">
                <a:latin typeface="Arial"/>
                <a:ea typeface="標楷體"/>
              </a:rPr>
              <a:t>：</a:t>
            </a:r>
          </a:p>
          <a:p>
            <a:pPr marR="0" lvl="0" rtl="0"/>
            <a:endParaRPr lang="zh-TW" altLang="en-US" b="1" i="0" u="none" strike="noStrike" kern="100" baseline="0" dirty="0" smtClean="0">
              <a:latin typeface="Times New Roman"/>
              <a:ea typeface="標楷體"/>
            </a:endParaRPr>
          </a:p>
          <a:p>
            <a:pPr marR="0" lvl="0" rtl="0"/>
            <a:endParaRPr lang="zh-TW" altLang="en-US" b="1" i="0" u="none" strike="noStrike" kern="100" baseline="0" dirty="0" smtClean="0">
              <a:latin typeface="Times New Roman"/>
              <a:ea typeface="標楷體"/>
            </a:endParaRPr>
          </a:p>
        </p:txBody>
      </p:sp>
      <p:sp>
        <p:nvSpPr>
          <p:cNvPr id="4" name="日期版面配置區 3"/>
          <p:cNvSpPr>
            <a:spLocks noGrp="1"/>
          </p:cNvSpPr>
          <p:nvPr>
            <p:ph type="dt" sz="half" idx="10"/>
          </p:nvPr>
        </p:nvSpPr>
        <p:spPr/>
        <p:txBody>
          <a:bodyPr/>
          <a:lstStyle/>
          <a:p>
            <a:fld id="{D2B31E75-D2A5-422F-91CC-D7BCFF7EA8DD}" type="datetime1">
              <a:rPr lang="zh-TW" altLang="en-US" smtClean="0"/>
              <a:t>2023/4/2</a:t>
            </a:fld>
            <a:endParaRPr lang="zh-TW" altLang="en-US"/>
          </a:p>
        </p:txBody>
      </p:sp>
      <p:sp>
        <p:nvSpPr>
          <p:cNvPr id="5" name="投影片編號版面配置區 4"/>
          <p:cNvSpPr>
            <a:spLocks noGrp="1"/>
          </p:cNvSpPr>
          <p:nvPr>
            <p:ph type="sldNum" sz="quarter" idx="12"/>
          </p:nvPr>
        </p:nvSpPr>
        <p:spPr/>
        <p:txBody>
          <a:bodyPr/>
          <a:lstStyle/>
          <a:p>
            <a:fld id="{5DDC22FF-AB65-4D90-9AB8-E808153956B4}" type="slidenum">
              <a:rPr lang="zh-TW" altLang="en-US" smtClean="0"/>
              <a:pPr/>
              <a:t>15</a:t>
            </a:fld>
            <a:endParaRPr lang="zh-TW" altLang="en-US"/>
          </a:p>
        </p:txBody>
      </p:sp>
    </p:spTree>
    <p:extLst>
      <p:ext uri="{BB962C8B-B14F-4D97-AF65-F5344CB8AC3E}">
        <p14:creationId xmlns:p14="http://schemas.microsoft.com/office/powerpoint/2010/main" val="38202153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zh-TW" b="1" dirty="0" smtClean="0">
                <a:latin typeface="標楷體" panose="03000509000000000000" pitchFamily="65" charset="-120"/>
                <a:ea typeface="標楷體" panose="03000509000000000000" pitchFamily="65" charset="-120"/>
              </a:rPr>
              <a:t>數位簽章流程</a:t>
            </a:r>
            <a:endParaRPr lang="zh-TW" altLang="en-US" dirty="0">
              <a:latin typeface="標楷體" panose="03000509000000000000" pitchFamily="65" charset="-120"/>
              <a:ea typeface="標楷體" panose="03000509000000000000" pitchFamily="65" charset="-120"/>
            </a:endParaRPr>
          </a:p>
        </p:txBody>
      </p:sp>
      <p:sp>
        <p:nvSpPr>
          <p:cNvPr id="3" name="文字版面配置區 2"/>
          <p:cNvSpPr>
            <a:spLocks noGrp="1"/>
          </p:cNvSpPr>
          <p:nvPr>
            <p:ph type="body" idx="1"/>
          </p:nvPr>
        </p:nvSpPr>
        <p:spPr>
          <a:xfrm>
            <a:off x="457200" y="1340768"/>
            <a:ext cx="8229600" cy="4785395"/>
          </a:xfrm>
        </p:spPr>
        <p:txBody>
          <a:bodyPr>
            <a:normAutofit fontScale="77500" lnSpcReduction="20000"/>
          </a:bodyPr>
          <a:lstStyle/>
          <a:p>
            <a:r>
              <a:rPr lang="zh-TW" altLang="zh-TW" b="1" dirty="0" smtClean="0">
                <a:latin typeface="標楷體" panose="03000509000000000000" pitchFamily="65" charset="-120"/>
                <a:ea typeface="標楷體" panose="03000509000000000000" pitchFamily="65" charset="-120"/>
              </a:rPr>
              <a:t>傳送</a:t>
            </a:r>
            <a:r>
              <a:rPr lang="zh-TW" altLang="zh-TW" b="1" dirty="0">
                <a:latin typeface="標楷體" panose="03000509000000000000" pitchFamily="65" charset="-120"/>
                <a:ea typeface="標楷體" panose="03000509000000000000" pitchFamily="65" charset="-120"/>
              </a:rPr>
              <a:t>者簽章：</a:t>
            </a:r>
          </a:p>
          <a:p>
            <a:pPr marL="514350" indent="-514350">
              <a:buFont typeface="+mj-lt"/>
              <a:buAutoNum type="arabicParenR"/>
            </a:pPr>
            <a:r>
              <a:rPr lang="zh-TW" altLang="zh-TW" b="1" dirty="0" smtClean="0">
                <a:latin typeface="標楷體" panose="03000509000000000000" pitchFamily="65" charset="-120"/>
                <a:ea typeface="標楷體" panose="03000509000000000000" pitchFamily="65" charset="-120"/>
              </a:rPr>
              <a:t>傳送</a:t>
            </a:r>
            <a:r>
              <a:rPr lang="zh-TW" altLang="zh-TW" b="1" dirty="0">
                <a:latin typeface="標楷體" panose="03000509000000000000" pitchFamily="65" charset="-120"/>
                <a:ea typeface="標楷體" panose="03000509000000000000" pitchFamily="65" charset="-120"/>
              </a:rPr>
              <a:t>者將文件，經由雜湊函數計算後，得到訊息摘要。</a:t>
            </a:r>
          </a:p>
          <a:p>
            <a:pPr marL="514350" indent="-514350">
              <a:buFont typeface="+mj-lt"/>
              <a:buAutoNum type="arabicParenR"/>
            </a:pPr>
            <a:r>
              <a:rPr lang="zh-TW" altLang="zh-TW" b="1" dirty="0" smtClean="0">
                <a:latin typeface="標楷體" panose="03000509000000000000" pitchFamily="65" charset="-120"/>
                <a:ea typeface="標楷體" panose="03000509000000000000" pitchFamily="65" charset="-120"/>
              </a:rPr>
              <a:t>接著</a:t>
            </a:r>
            <a:r>
              <a:rPr lang="zh-TW" altLang="zh-TW" b="1" dirty="0">
                <a:latin typeface="標楷體" panose="03000509000000000000" pitchFamily="65" charset="-120"/>
                <a:ea typeface="標楷體" panose="03000509000000000000" pitchFamily="65" charset="-120"/>
              </a:rPr>
              <a:t>將訊息摘要使用私密金鑰，利用公開金鑰簽章演算法做加密運算 </a:t>
            </a:r>
            <a:r>
              <a:rPr lang="en-US" altLang="zh-TW" b="1" dirty="0">
                <a:latin typeface="標楷體" panose="03000509000000000000" pitchFamily="65" charset="-120"/>
                <a:ea typeface="標楷體" panose="03000509000000000000" pitchFamily="65" charset="-120"/>
              </a:rPr>
              <a:t>(</a:t>
            </a:r>
            <a:r>
              <a:rPr lang="zh-TW" altLang="zh-TW" b="1" dirty="0">
                <a:latin typeface="標楷體" panose="03000509000000000000" pitchFamily="65" charset="-120"/>
                <a:ea typeface="標楷體" panose="03000509000000000000" pitchFamily="65" charset="-120"/>
              </a:rPr>
              <a:t>即是簽章</a:t>
            </a:r>
            <a:r>
              <a:rPr lang="en-US" altLang="zh-TW" b="1" dirty="0">
                <a:latin typeface="標楷體" panose="03000509000000000000" pitchFamily="65" charset="-120"/>
                <a:ea typeface="標楷體" panose="03000509000000000000" pitchFamily="65" charset="-120"/>
              </a:rPr>
              <a:t>)</a:t>
            </a:r>
            <a:r>
              <a:rPr lang="zh-TW" altLang="zh-TW" b="1" dirty="0">
                <a:latin typeface="標楷體" panose="03000509000000000000" pitchFamily="65" charset="-120"/>
                <a:ea typeface="標楷體" panose="03000509000000000000" pitchFamily="65" charset="-120"/>
              </a:rPr>
              <a:t>，以產生數位簽章。</a:t>
            </a:r>
          </a:p>
          <a:p>
            <a:pPr marL="514350" indent="-514350">
              <a:buFont typeface="+mj-lt"/>
              <a:buAutoNum type="arabicParenR"/>
            </a:pPr>
            <a:r>
              <a:rPr lang="zh-TW" altLang="zh-TW" b="1" dirty="0" smtClean="0">
                <a:latin typeface="標楷體" panose="03000509000000000000" pitchFamily="65" charset="-120"/>
                <a:ea typeface="標楷體" panose="03000509000000000000" pitchFamily="65" charset="-120"/>
              </a:rPr>
              <a:t>傳送</a:t>
            </a:r>
            <a:r>
              <a:rPr lang="zh-TW" altLang="zh-TW" b="1" dirty="0">
                <a:latin typeface="標楷體" panose="03000509000000000000" pitchFamily="65" charset="-120"/>
                <a:ea typeface="標楷體" panose="03000509000000000000" pitchFamily="65" charset="-120"/>
              </a:rPr>
              <a:t>原始文件與數位簽章至接收端。</a:t>
            </a:r>
          </a:p>
          <a:p>
            <a:r>
              <a:rPr lang="en-US" altLang="zh-TW" b="1" dirty="0">
                <a:latin typeface="標楷體" panose="03000509000000000000" pitchFamily="65" charset="-120"/>
                <a:ea typeface="標楷體" panose="03000509000000000000" pitchFamily="65" charset="-120"/>
              </a:rPr>
              <a:t> </a:t>
            </a:r>
            <a:endParaRPr lang="zh-TW" altLang="zh-TW" b="1" dirty="0">
              <a:latin typeface="標楷體" panose="03000509000000000000" pitchFamily="65" charset="-120"/>
              <a:ea typeface="標楷體" panose="03000509000000000000" pitchFamily="65" charset="-120"/>
            </a:endParaRPr>
          </a:p>
          <a:p>
            <a:r>
              <a:rPr lang="zh-TW" altLang="zh-TW" b="1" dirty="0">
                <a:latin typeface="標楷體" panose="03000509000000000000" pitchFamily="65" charset="-120"/>
                <a:ea typeface="標楷體" panose="03000509000000000000" pitchFamily="65" charset="-120"/>
              </a:rPr>
              <a:t>接收者驗章：</a:t>
            </a:r>
          </a:p>
          <a:p>
            <a:pPr marL="514350" indent="-514350">
              <a:buFont typeface="+mj-lt"/>
              <a:buAutoNum type="arabicParenR"/>
            </a:pPr>
            <a:r>
              <a:rPr lang="zh-TW" altLang="zh-TW" b="1" dirty="0" smtClean="0">
                <a:latin typeface="標楷體" panose="03000509000000000000" pitchFamily="65" charset="-120"/>
                <a:ea typeface="標楷體" panose="03000509000000000000" pitchFamily="65" charset="-120"/>
              </a:rPr>
              <a:t>接收原始文件與數位簽章。</a:t>
            </a:r>
          </a:p>
          <a:p>
            <a:pPr marL="514350" indent="-514350">
              <a:buFont typeface="+mj-lt"/>
              <a:buAutoNum type="arabicParenR"/>
            </a:pPr>
            <a:r>
              <a:rPr lang="zh-TW" altLang="zh-TW" b="1" dirty="0" smtClean="0">
                <a:latin typeface="標楷體" panose="03000509000000000000" pitchFamily="65" charset="-120"/>
                <a:ea typeface="標楷體" panose="03000509000000000000" pitchFamily="65" charset="-120"/>
              </a:rPr>
              <a:t>將</a:t>
            </a:r>
            <a:r>
              <a:rPr lang="zh-TW" altLang="zh-TW" b="1" dirty="0">
                <a:latin typeface="標楷體" panose="03000509000000000000" pitchFamily="65" charset="-120"/>
                <a:ea typeface="標楷體" panose="03000509000000000000" pitchFamily="65" charset="-120"/>
              </a:rPr>
              <a:t>原始文件，以雜湊函數計算後，得到訊息摘要。</a:t>
            </a:r>
          </a:p>
          <a:p>
            <a:pPr marL="514350" indent="-514350">
              <a:buFont typeface="+mj-lt"/>
              <a:buAutoNum type="arabicParenR"/>
            </a:pPr>
            <a:r>
              <a:rPr lang="zh-TW" altLang="zh-TW" b="1" dirty="0" smtClean="0">
                <a:latin typeface="標楷體" panose="03000509000000000000" pitchFamily="65" charset="-120"/>
                <a:ea typeface="標楷體" panose="03000509000000000000" pitchFamily="65" charset="-120"/>
              </a:rPr>
              <a:t>將</a:t>
            </a:r>
            <a:r>
              <a:rPr lang="zh-TW" altLang="zh-TW" b="1" dirty="0">
                <a:latin typeface="標楷體" panose="03000509000000000000" pitchFamily="65" charset="-120"/>
                <a:ea typeface="標楷體" panose="03000509000000000000" pitchFamily="65" charset="-120"/>
              </a:rPr>
              <a:t>傳送者之數位簽章，利用公開金鑰簽章演算法，經公開金鑰將之解密</a:t>
            </a:r>
            <a:r>
              <a:rPr lang="en-US" altLang="zh-TW" b="1" dirty="0">
                <a:latin typeface="標楷體" panose="03000509000000000000" pitchFamily="65" charset="-120"/>
                <a:ea typeface="標楷體" panose="03000509000000000000" pitchFamily="65" charset="-120"/>
              </a:rPr>
              <a:t>(</a:t>
            </a:r>
            <a:r>
              <a:rPr lang="zh-TW" altLang="zh-TW" b="1" dirty="0">
                <a:latin typeface="標楷體" panose="03000509000000000000" pitchFamily="65" charset="-120"/>
                <a:ea typeface="標楷體" panose="03000509000000000000" pitchFamily="65" charset="-120"/>
              </a:rPr>
              <a:t>解簽章</a:t>
            </a:r>
            <a:r>
              <a:rPr lang="en-US" altLang="zh-TW" b="1" dirty="0">
                <a:latin typeface="標楷體" panose="03000509000000000000" pitchFamily="65" charset="-120"/>
                <a:ea typeface="標楷體" panose="03000509000000000000" pitchFamily="65" charset="-120"/>
              </a:rPr>
              <a:t>)</a:t>
            </a:r>
            <a:r>
              <a:rPr lang="zh-TW" altLang="zh-TW" b="1" dirty="0">
                <a:latin typeface="標楷體" panose="03000509000000000000" pitchFamily="65" charset="-120"/>
                <a:ea typeface="標楷體" panose="03000509000000000000" pitchFamily="65" charset="-120"/>
              </a:rPr>
              <a:t>，產生訊息摘要。</a:t>
            </a:r>
          </a:p>
          <a:p>
            <a:pPr marL="514350" indent="-514350">
              <a:buFont typeface="+mj-lt"/>
              <a:buAutoNum type="arabicParenR"/>
            </a:pPr>
            <a:r>
              <a:rPr lang="zh-TW" altLang="zh-TW" b="1" dirty="0" smtClean="0">
                <a:latin typeface="標楷體" panose="03000509000000000000" pitchFamily="65" charset="-120"/>
                <a:ea typeface="標楷體" panose="03000509000000000000" pitchFamily="65" charset="-120"/>
              </a:rPr>
              <a:t>將</a:t>
            </a:r>
            <a:r>
              <a:rPr lang="zh-TW" altLang="zh-TW" b="1" dirty="0">
                <a:latin typeface="標楷體" panose="03000509000000000000" pitchFamily="65" charset="-120"/>
                <a:ea typeface="標楷體" panose="03000509000000000000" pitchFamily="65" charset="-120"/>
              </a:rPr>
              <a:t>原始文件計算得到之訊息摘要與解簽章得到之訊息摘要比對，如果完全相同，表示驗章成功，文件沒有被修改過。</a:t>
            </a:r>
          </a:p>
          <a:p>
            <a:endParaRPr lang="zh-TW" altLang="en-US" dirty="0"/>
          </a:p>
        </p:txBody>
      </p:sp>
      <p:sp>
        <p:nvSpPr>
          <p:cNvPr id="4" name="日期版面配置區 3"/>
          <p:cNvSpPr>
            <a:spLocks noGrp="1"/>
          </p:cNvSpPr>
          <p:nvPr>
            <p:ph type="dt" sz="half" idx="10"/>
          </p:nvPr>
        </p:nvSpPr>
        <p:spPr/>
        <p:txBody>
          <a:bodyPr/>
          <a:lstStyle/>
          <a:p>
            <a:fld id="{E8E64B2E-60A2-4572-B342-666A8D1FE98E}" type="datetime1">
              <a:rPr lang="zh-TW" altLang="en-US" smtClean="0"/>
              <a:t>2023/4/2</a:t>
            </a:fld>
            <a:endParaRPr lang="zh-TW" altLang="en-US"/>
          </a:p>
        </p:txBody>
      </p:sp>
      <p:sp>
        <p:nvSpPr>
          <p:cNvPr id="5" name="投影片編號版面配置區 4"/>
          <p:cNvSpPr>
            <a:spLocks noGrp="1"/>
          </p:cNvSpPr>
          <p:nvPr>
            <p:ph type="sldNum" sz="quarter" idx="12"/>
          </p:nvPr>
        </p:nvSpPr>
        <p:spPr/>
        <p:txBody>
          <a:bodyPr/>
          <a:lstStyle/>
          <a:p>
            <a:fld id="{5DDC22FF-AB65-4D90-9AB8-E808153956B4}" type="slidenum">
              <a:rPr lang="zh-TW" altLang="en-US" smtClean="0"/>
              <a:pPr/>
              <a:t>16</a:t>
            </a:fld>
            <a:endParaRPr lang="zh-TW" altLang="en-US"/>
          </a:p>
        </p:txBody>
      </p:sp>
    </p:spTree>
    <p:extLst>
      <p:ext uri="{BB962C8B-B14F-4D97-AF65-F5344CB8AC3E}">
        <p14:creationId xmlns:p14="http://schemas.microsoft.com/office/powerpoint/2010/main" val="388776800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185592" y="5615878"/>
            <a:ext cx="3081293" cy="369332"/>
          </a:xfrm>
          <a:prstGeom prst="rect">
            <a:avLst/>
          </a:prstGeom>
        </p:spPr>
        <p:txBody>
          <a:bodyPr wrap="none">
            <a:spAutoFit/>
          </a:bodyPr>
          <a:lstStyle/>
          <a:p>
            <a:r>
              <a:rPr lang="zh-TW" altLang="zh-TW" dirty="0"/>
              <a:t>圖</a:t>
            </a:r>
            <a:r>
              <a:rPr lang="en-US" altLang="zh-TW" dirty="0"/>
              <a:t>4-5 </a:t>
            </a:r>
            <a:r>
              <a:rPr lang="zh-TW" altLang="zh-TW" dirty="0"/>
              <a:t>數位簽章之簽章與驗章</a:t>
            </a:r>
          </a:p>
        </p:txBody>
      </p:sp>
      <p:sp>
        <p:nvSpPr>
          <p:cNvPr id="3" name="投影片編號版面配置區 2"/>
          <p:cNvSpPr>
            <a:spLocks noGrp="1"/>
          </p:cNvSpPr>
          <p:nvPr>
            <p:ph type="sldNum" sz="quarter" idx="10"/>
          </p:nvPr>
        </p:nvSpPr>
        <p:spPr/>
        <p:txBody>
          <a:bodyPr/>
          <a:lstStyle/>
          <a:p>
            <a:fld id="{5DDC22FF-AB65-4D90-9AB8-E808153956B4}" type="slidenum">
              <a:rPr lang="zh-TW" altLang="en-US" smtClean="0"/>
              <a:pPr/>
              <a:t>17</a:t>
            </a:fld>
            <a:endParaRPr lang="zh-TW" altLang="en-US"/>
          </a:p>
        </p:txBody>
      </p:sp>
      <p:pic>
        <p:nvPicPr>
          <p:cNvPr id="4098" name="Picture 2" descr="Fig 4-5 數位簽章之簽章與驗章"/>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09990" y="756673"/>
            <a:ext cx="5832499" cy="47605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5392628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b="1" i="0" u="none" strike="noStrike" kern="100" baseline="0" dirty="0" smtClean="0">
                <a:latin typeface="Arial"/>
                <a:ea typeface="標楷體"/>
              </a:rPr>
              <a:t>公開金鑰基礎建設</a:t>
            </a:r>
            <a:endParaRPr lang="zh-TW" altLang="en-US" dirty="0"/>
          </a:p>
        </p:txBody>
      </p:sp>
      <p:sp>
        <p:nvSpPr>
          <p:cNvPr id="3" name="文字版面配置區 2"/>
          <p:cNvSpPr>
            <a:spLocks noGrp="1"/>
          </p:cNvSpPr>
          <p:nvPr>
            <p:ph type="body" idx="1"/>
          </p:nvPr>
        </p:nvSpPr>
        <p:spPr/>
        <p:txBody>
          <a:bodyPr>
            <a:normAutofit fontScale="85000" lnSpcReduction="20000"/>
          </a:bodyPr>
          <a:lstStyle/>
          <a:p>
            <a:pPr lvl="0"/>
            <a:r>
              <a:rPr lang="zh-TW" altLang="en-US" b="1" i="0" u="none" strike="noStrike" kern="100" baseline="0" dirty="0" smtClean="0">
                <a:latin typeface="Arial"/>
                <a:ea typeface="標楷體"/>
              </a:rPr>
              <a:t>電子簽章要普遍的應用，還需要公開金鑰基礎建設 </a:t>
            </a:r>
            <a:r>
              <a:rPr lang="en-US" altLang="zh-TW" b="1" i="0" u="none" strike="noStrike" kern="100" baseline="0" dirty="0" smtClean="0">
                <a:latin typeface="Arial"/>
                <a:ea typeface="標楷體"/>
              </a:rPr>
              <a:t>(</a:t>
            </a:r>
            <a:r>
              <a:rPr lang="zh-TW" altLang="en-US" b="1" i="0" u="none" strike="noStrike" kern="100" baseline="0" dirty="0" smtClean="0">
                <a:latin typeface="Arial"/>
                <a:ea typeface="標楷體"/>
              </a:rPr>
              <a:t> </a:t>
            </a:r>
            <a:r>
              <a:rPr lang="en-US" altLang="zh-TW" b="1" i="0" u="none" strike="noStrike" kern="100" baseline="0" dirty="0" smtClean="0">
                <a:latin typeface="Arial"/>
                <a:ea typeface="標楷體"/>
              </a:rPr>
              <a:t>public key infrastructure</a:t>
            </a:r>
            <a:r>
              <a:rPr lang="zh-TW" altLang="en-US" b="1" i="0" u="none" strike="noStrike" kern="100" baseline="0" dirty="0" smtClean="0">
                <a:latin typeface="Arial"/>
                <a:ea typeface="標楷體"/>
              </a:rPr>
              <a:t>；</a:t>
            </a:r>
            <a:r>
              <a:rPr lang="en-US" altLang="zh-TW" b="1" i="0" u="none" strike="noStrike" kern="100" baseline="0" dirty="0" smtClean="0">
                <a:latin typeface="Arial"/>
                <a:ea typeface="標楷體"/>
              </a:rPr>
              <a:t>PKI</a:t>
            </a:r>
            <a:r>
              <a:rPr lang="zh-TW" altLang="en-US" b="1" i="0" u="none" strike="noStrike" kern="100" baseline="0" dirty="0" smtClean="0">
                <a:latin typeface="Arial"/>
                <a:ea typeface="標楷體"/>
              </a:rPr>
              <a:t> </a:t>
            </a:r>
            <a:r>
              <a:rPr lang="en-US" altLang="zh-TW" b="1" i="0" u="none" strike="noStrike" kern="100" baseline="0" dirty="0" smtClean="0">
                <a:latin typeface="Arial"/>
                <a:ea typeface="標楷體"/>
              </a:rPr>
              <a:t>)</a:t>
            </a:r>
            <a:r>
              <a:rPr lang="zh-TW" altLang="en-US" b="1" i="0" u="none" strike="noStrike" kern="100" baseline="0" dirty="0" smtClean="0">
                <a:latin typeface="Arial"/>
                <a:ea typeface="標楷體"/>
              </a:rPr>
              <a:t> 的建立，也需要有公正第三者的機構，以協助發行和驗證使用者的憑證，此公正機構稱為</a:t>
            </a:r>
            <a:r>
              <a:rPr lang="en-US" altLang="zh-TW" b="1" i="0" u="none" strike="noStrike" kern="100" baseline="0" dirty="0" smtClean="0">
                <a:latin typeface="Arial"/>
                <a:ea typeface="標楷體"/>
              </a:rPr>
              <a:t>『</a:t>
            </a:r>
            <a:r>
              <a:rPr lang="zh-TW" altLang="en-US" b="1" i="0" u="none" strike="noStrike" kern="100" baseline="0" dirty="0" smtClean="0">
                <a:latin typeface="Arial"/>
                <a:ea typeface="標楷體"/>
              </a:rPr>
              <a:t>憑證機構</a:t>
            </a:r>
            <a:r>
              <a:rPr lang="en-US" altLang="zh-TW" b="1" i="0" u="none" strike="noStrike" kern="100" baseline="0" dirty="0" smtClean="0">
                <a:latin typeface="Arial"/>
                <a:ea typeface="標楷體"/>
              </a:rPr>
              <a:t>』</a:t>
            </a:r>
            <a:r>
              <a:rPr lang="zh-TW" altLang="en-US" b="1" i="0" u="none" strike="noStrike" kern="100" baseline="0" dirty="0" smtClean="0">
                <a:latin typeface="Arial"/>
                <a:ea typeface="標楷體"/>
              </a:rPr>
              <a:t> </a:t>
            </a:r>
            <a:r>
              <a:rPr lang="en-US" altLang="zh-TW" b="1" i="0" u="none" strike="noStrike" kern="100" baseline="0" dirty="0" smtClean="0">
                <a:latin typeface="Arial"/>
                <a:ea typeface="標楷體"/>
              </a:rPr>
              <a:t>( Certification Authority</a:t>
            </a:r>
            <a:r>
              <a:rPr lang="zh-TW" altLang="en-US" b="1" i="0" u="none" strike="noStrike" kern="100" baseline="0" dirty="0" smtClean="0">
                <a:latin typeface="Arial"/>
                <a:ea typeface="標楷體"/>
              </a:rPr>
              <a:t>；</a:t>
            </a:r>
            <a:r>
              <a:rPr lang="en-US" altLang="zh-TW" b="1" i="0" u="none" strike="noStrike" kern="100" baseline="0" dirty="0" smtClean="0">
                <a:latin typeface="Arial"/>
                <a:ea typeface="標楷體"/>
              </a:rPr>
              <a:t>CA</a:t>
            </a:r>
            <a:r>
              <a:rPr lang="zh-TW" altLang="en-US" b="1" i="0" u="none" strike="noStrike" kern="100" baseline="0" dirty="0" smtClean="0">
                <a:latin typeface="Arial"/>
                <a:ea typeface="標楷體"/>
              </a:rPr>
              <a:t> </a:t>
            </a:r>
            <a:r>
              <a:rPr lang="en-US" altLang="zh-TW" b="1" i="0" u="none" strike="noStrike" kern="100" baseline="0" dirty="0" smtClean="0">
                <a:latin typeface="Arial"/>
                <a:ea typeface="標楷體"/>
              </a:rPr>
              <a:t>)</a:t>
            </a:r>
            <a:r>
              <a:rPr lang="zh-TW" altLang="en-US" b="1" i="0" u="none" strike="noStrike" kern="100" baseline="0" dirty="0" smtClean="0">
                <a:latin typeface="Arial"/>
                <a:ea typeface="標楷體"/>
              </a:rPr>
              <a:t>，或稱為</a:t>
            </a:r>
            <a:r>
              <a:rPr lang="en-US" altLang="zh-TW" b="1" i="0" u="none" strike="noStrike" kern="100" baseline="0" dirty="0" smtClean="0">
                <a:latin typeface="Arial"/>
                <a:ea typeface="標楷體"/>
              </a:rPr>
              <a:t>『</a:t>
            </a:r>
            <a:r>
              <a:rPr lang="zh-TW" altLang="en-US" b="1" i="0" u="none" strike="noStrike" kern="100" baseline="0" dirty="0" smtClean="0">
                <a:latin typeface="Arial"/>
                <a:ea typeface="標楷體"/>
              </a:rPr>
              <a:t>憑證中心</a:t>
            </a:r>
            <a:r>
              <a:rPr lang="en-US" altLang="zh-TW" b="1" i="0" u="none" strike="noStrike" kern="100" baseline="0" dirty="0" smtClean="0">
                <a:latin typeface="Arial"/>
                <a:ea typeface="標楷體"/>
              </a:rPr>
              <a:t>』</a:t>
            </a:r>
            <a:r>
              <a:rPr lang="zh-TW" altLang="en-US" b="1" i="0" u="none" strike="noStrike" kern="100" baseline="0" dirty="0" smtClean="0">
                <a:latin typeface="Arial"/>
                <a:ea typeface="標楷體"/>
              </a:rPr>
              <a:t>。</a:t>
            </a:r>
          </a:p>
          <a:p>
            <a:pPr lvl="0"/>
            <a:endParaRPr lang="zh-TW" altLang="en-US" b="1" i="0" u="none" strike="noStrike" kern="100" baseline="0" dirty="0" smtClean="0">
              <a:latin typeface="Times New Roman"/>
              <a:ea typeface="標楷體"/>
            </a:endParaRPr>
          </a:p>
          <a:p>
            <a:pPr lvl="0"/>
            <a:r>
              <a:rPr lang="zh-TW" altLang="en-US" b="1" kern="100" dirty="0">
                <a:latin typeface="Arial"/>
              </a:rPr>
              <a:t>圖</a:t>
            </a:r>
            <a:r>
              <a:rPr lang="en-US" altLang="zh-TW" b="1" kern="100" dirty="0">
                <a:latin typeface="Arial"/>
              </a:rPr>
              <a:t>4-6 </a:t>
            </a:r>
            <a:r>
              <a:rPr lang="zh-TW" altLang="en-US" b="1" kern="100" dirty="0">
                <a:latin typeface="Arial"/>
              </a:rPr>
              <a:t>為我國「政府憑證入口網（</a:t>
            </a:r>
            <a:r>
              <a:rPr lang="en-US" altLang="zh-TW" b="1" kern="100" dirty="0">
                <a:latin typeface="Arial"/>
              </a:rPr>
              <a:t>Government Certificate Portal</a:t>
            </a:r>
            <a:r>
              <a:rPr lang="zh-TW" altLang="en-US" b="1" kern="100" dirty="0">
                <a:latin typeface="Arial"/>
              </a:rPr>
              <a:t>）」，其連結為： </a:t>
            </a:r>
            <a:r>
              <a:rPr lang="en-US" altLang="zh-TW" b="1" kern="100" dirty="0">
                <a:latin typeface="Arial"/>
              </a:rPr>
              <a:t>https://gcp.nat.gov.tw </a:t>
            </a:r>
            <a:r>
              <a:rPr lang="zh-TW" altLang="en-US" b="1" kern="100" dirty="0">
                <a:latin typeface="Arial"/>
              </a:rPr>
              <a:t>，點選上面的「認識憑證中心」可以瀏覽政府憑證管理中心</a:t>
            </a:r>
            <a:r>
              <a:rPr lang="en-US" altLang="zh-TW" b="1" kern="100" dirty="0">
                <a:latin typeface="Arial"/>
              </a:rPr>
              <a:t>GCA ( Government Certificate Authority ) </a:t>
            </a:r>
            <a:r>
              <a:rPr lang="zh-TW" altLang="en-US" b="1" kern="100" dirty="0">
                <a:latin typeface="Arial"/>
              </a:rPr>
              <a:t>的介紹</a:t>
            </a:r>
            <a:r>
              <a:rPr lang="zh-TW" altLang="en-US" b="1" kern="100" dirty="0" smtClean="0">
                <a:latin typeface="Arial"/>
              </a:rPr>
              <a:t>。</a:t>
            </a:r>
            <a:endParaRPr lang="en-US" altLang="zh-TW" b="1" kern="100" dirty="0" smtClean="0">
              <a:latin typeface="Arial"/>
            </a:endParaRPr>
          </a:p>
          <a:p>
            <a:pPr lvl="0"/>
            <a:endParaRPr lang="zh-TW" altLang="en-US" b="1" i="0" u="none" strike="noStrike" kern="100" baseline="0" dirty="0" smtClean="0">
              <a:latin typeface="Arial"/>
              <a:ea typeface="標楷體"/>
            </a:endParaRPr>
          </a:p>
          <a:p>
            <a:pPr lvl="0"/>
            <a:r>
              <a:rPr lang="zh-TW" altLang="en-US" b="1" i="0" u="none" strike="noStrike" kern="100" baseline="0" dirty="0" smtClean="0">
                <a:latin typeface="Arial"/>
                <a:ea typeface="標楷體"/>
              </a:rPr>
              <a:t>電子簽章法通過後，電子簽章的應用具有法律效力，網路股市交易獲得更佳的保障，客戶使用自我保存之私密金鑰，進行下單交易，可減少很多網路冒名交易所產生之糾紛。</a:t>
            </a:r>
            <a:endParaRPr lang="zh-TW" altLang="en-US" dirty="0"/>
          </a:p>
        </p:txBody>
      </p:sp>
      <p:sp>
        <p:nvSpPr>
          <p:cNvPr id="4" name="日期版面配置區 3"/>
          <p:cNvSpPr>
            <a:spLocks noGrp="1"/>
          </p:cNvSpPr>
          <p:nvPr>
            <p:ph type="dt" sz="half" idx="10"/>
          </p:nvPr>
        </p:nvSpPr>
        <p:spPr/>
        <p:txBody>
          <a:bodyPr/>
          <a:lstStyle/>
          <a:p>
            <a:fld id="{77C1CDE8-DC7F-43C8-9AD3-603ECD201020}" type="datetime1">
              <a:rPr lang="zh-TW" altLang="en-US" smtClean="0"/>
              <a:t>2023/4/2</a:t>
            </a:fld>
            <a:endParaRPr lang="zh-TW" altLang="en-US"/>
          </a:p>
        </p:txBody>
      </p:sp>
      <p:sp>
        <p:nvSpPr>
          <p:cNvPr id="5" name="投影片編號版面配置區 4"/>
          <p:cNvSpPr>
            <a:spLocks noGrp="1"/>
          </p:cNvSpPr>
          <p:nvPr>
            <p:ph type="sldNum" sz="quarter" idx="12"/>
          </p:nvPr>
        </p:nvSpPr>
        <p:spPr/>
        <p:txBody>
          <a:bodyPr/>
          <a:lstStyle/>
          <a:p>
            <a:fld id="{5DDC22FF-AB65-4D90-9AB8-E808153956B4}" type="slidenum">
              <a:rPr lang="zh-TW" altLang="en-US" smtClean="0"/>
              <a:pPr/>
              <a:t>18</a:t>
            </a:fld>
            <a:endParaRPr lang="zh-TW" altLang="en-US"/>
          </a:p>
        </p:txBody>
      </p:sp>
    </p:spTree>
    <p:extLst>
      <p:ext uri="{BB962C8B-B14F-4D97-AF65-F5344CB8AC3E}">
        <p14:creationId xmlns:p14="http://schemas.microsoft.com/office/powerpoint/2010/main" val="174879861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419872" y="5157192"/>
            <a:ext cx="2672526" cy="369332"/>
          </a:xfrm>
          <a:prstGeom prst="rect">
            <a:avLst/>
          </a:prstGeom>
        </p:spPr>
        <p:txBody>
          <a:bodyPr wrap="none">
            <a:spAutoFit/>
          </a:bodyPr>
          <a:lstStyle/>
          <a:p>
            <a:r>
              <a:rPr lang="zh-TW" altLang="zh-TW" dirty="0"/>
              <a:t>圖</a:t>
            </a:r>
            <a:r>
              <a:rPr lang="en-US" altLang="zh-TW" dirty="0"/>
              <a:t>4- </a:t>
            </a:r>
            <a:r>
              <a:rPr lang="en-US" altLang="zh-TW" dirty="0" smtClean="0"/>
              <a:t>6 </a:t>
            </a:r>
            <a:r>
              <a:rPr lang="zh-TW" altLang="zh-TW" dirty="0" smtClean="0"/>
              <a:t>政府</a:t>
            </a:r>
            <a:r>
              <a:rPr lang="zh-TW" altLang="zh-TW" dirty="0"/>
              <a:t>憑證管理中心</a:t>
            </a:r>
          </a:p>
        </p:txBody>
      </p:sp>
      <p:sp>
        <p:nvSpPr>
          <p:cNvPr id="3" name="投影片編號版面配置區 2"/>
          <p:cNvSpPr>
            <a:spLocks noGrp="1"/>
          </p:cNvSpPr>
          <p:nvPr>
            <p:ph type="sldNum" sz="quarter" idx="10"/>
          </p:nvPr>
        </p:nvSpPr>
        <p:spPr/>
        <p:txBody>
          <a:bodyPr/>
          <a:lstStyle/>
          <a:p>
            <a:fld id="{5DDC22FF-AB65-4D90-9AB8-E808153956B4}" type="slidenum">
              <a:rPr lang="zh-TW" altLang="en-US" smtClean="0"/>
              <a:pPr/>
              <a:t>19</a:t>
            </a:fld>
            <a:endParaRPr lang="zh-TW" altLang="en-US"/>
          </a:p>
        </p:txBody>
      </p:sp>
      <p:pic>
        <p:nvPicPr>
          <p:cNvPr id="4098" name="圖片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54120" y="548680"/>
            <a:ext cx="5914223" cy="46234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1503596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marR="0" rtl="0"/>
            <a:r>
              <a:rPr lang="en-US" altLang="zh-TW" b="1" i="0" u="none" strike="noStrike" kern="2600" baseline="0" smtClean="0">
                <a:latin typeface="Arial"/>
                <a:ea typeface="標楷體"/>
              </a:rPr>
              <a:t>4.3.2</a:t>
            </a:r>
            <a:r>
              <a:rPr lang="zh-TW" altLang="en-US" b="1" i="0" u="none" strike="noStrike" kern="2600" baseline="0" smtClean="0">
                <a:latin typeface="Arial"/>
                <a:ea typeface="標楷體"/>
              </a:rPr>
              <a:t>通訊保障及監察法</a:t>
            </a:r>
            <a:endParaRPr lang="zh-TW" altLang="en-US" b="1" i="0" u="none" strike="noStrike" kern="2600" baseline="0" smtClean="0">
              <a:latin typeface="Times New Roman"/>
              <a:ea typeface="標楷體"/>
            </a:endParaRPr>
          </a:p>
        </p:txBody>
      </p:sp>
      <p:sp>
        <p:nvSpPr>
          <p:cNvPr id="3" name="文字版面配置區 2"/>
          <p:cNvSpPr>
            <a:spLocks noGrp="1"/>
          </p:cNvSpPr>
          <p:nvPr>
            <p:ph type="body" idx="1"/>
          </p:nvPr>
        </p:nvSpPr>
        <p:spPr/>
        <p:txBody>
          <a:bodyPr>
            <a:normAutofit lnSpcReduction="10000"/>
          </a:bodyPr>
          <a:lstStyle/>
          <a:p>
            <a:pPr marR="0" lvl="0" rtl="0"/>
            <a:r>
              <a:rPr lang="zh-TW" altLang="en-US" b="1" i="0" u="none" strike="noStrike" kern="100" baseline="0" dirty="0" smtClean="0">
                <a:latin typeface="Arial"/>
                <a:ea typeface="標楷體"/>
              </a:rPr>
              <a:t>我國於民國 </a:t>
            </a:r>
            <a:r>
              <a:rPr lang="en-US" altLang="zh-TW" b="1" i="0" u="none" strike="noStrike" kern="100" baseline="0" dirty="0" smtClean="0">
                <a:latin typeface="Arial"/>
                <a:ea typeface="標楷體"/>
              </a:rPr>
              <a:t>88 </a:t>
            </a:r>
            <a:r>
              <a:rPr lang="zh-TW" altLang="en-US" b="1" i="0" u="none" strike="noStrike" kern="100" baseline="0" dirty="0" smtClean="0">
                <a:latin typeface="Arial"/>
                <a:ea typeface="標楷體"/>
              </a:rPr>
              <a:t>年公佈</a:t>
            </a:r>
            <a:r>
              <a:rPr lang="en-US" altLang="zh-TW" b="1" i="0" u="none" strike="noStrike" kern="100" baseline="0" dirty="0" smtClean="0">
                <a:latin typeface="Arial"/>
                <a:ea typeface="標楷體"/>
              </a:rPr>
              <a:t>『</a:t>
            </a:r>
            <a:r>
              <a:rPr lang="zh-TW" altLang="en-US" b="1" i="0" u="none" strike="noStrike" kern="100" baseline="0" dirty="0" smtClean="0">
                <a:latin typeface="Arial"/>
                <a:ea typeface="標楷體"/>
              </a:rPr>
              <a:t>通訊保障及監察法</a:t>
            </a:r>
            <a:r>
              <a:rPr lang="en-US" altLang="zh-TW" b="1" i="0" u="none" strike="noStrike" kern="100" baseline="0" dirty="0" smtClean="0">
                <a:latin typeface="Arial"/>
                <a:ea typeface="標楷體"/>
              </a:rPr>
              <a:t>』</a:t>
            </a:r>
            <a:r>
              <a:rPr lang="zh-TW" altLang="en-US" b="1" i="0" u="none" strike="noStrike" kern="100" baseline="0" dirty="0" smtClean="0">
                <a:latin typeface="Arial"/>
                <a:ea typeface="標楷體"/>
              </a:rPr>
              <a:t>，其目的是為保障人民秘密通訊的自由，不受非法侵害，並確保國家安全，維護社會秩序所制訂的法律。</a:t>
            </a:r>
          </a:p>
          <a:p>
            <a:pPr marR="0" lvl="0" rtl="0"/>
            <a:r>
              <a:rPr lang="zh-TW" altLang="en-US" b="1" i="0" u="none" strike="noStrike" kern="100" baseline="0" dirty="0" smtClean="0">
                <a:latin typeface="Arial"/>
                <a:ea typeface="標楷體"/>
              </a:rPr>
              <a:t>依通訊保障及監察法之規範，允許政府經法院核可下，以各種器材或方法截取他人通訊的行為，一般我們稱為</a:t>
            </a:r>
            <a:r>
              <a:rPr lang="en-US" altLang="zh-TW" b="1" i="0" u="none" strike="noStrike" kern="100" baseline="0" dirty="0" smtClean="0">
                <a:latin typeface="Arial"/>
                <a:ea typeface="標楷體"/>
              </a:rPr>
              <a:t>『</a:t>
            </a:r>
            <a:r>
              <a:rPr lang="zh-TW" altLang="en-US" b="1" i="0" u="none" strike="noStrike" kern="100" baseline="0" dirty="0" smtClean="0">
                <a:latin typeface="Arial"/>
                <a:ea typeface="標楷體"/>
              </a:rPr>
              <a:t>監聽</a:t>
            </a:r>
            <a:r>
              <a:rPr lang="en-US" altLang="zh-TW" b="1" i="0" u="none" strike="noStrike" kern="100" baseline="0" dirty="0" smtClean="0">
                <a:latin typeface="Arial"/>
                <a:ea typeface="標楷體"/>
              </a:rPr>
              <a:t>』</a:t>
            </a:r>
            <a:r>
              <a:rPr lang="zh-TW" altLang="en-US" b="1" i="0" u="none" strike="noStrike" kern="100" baseline="0" dirty="0" smtClean="0">
                <a:latin typeface="Arial"/>
                <a:ea typeface="標楷體"/>
              </a:rPr>
              <a:t>，其範圍規範在該法第三條：</a:t>
            </a:r>
            <a:endParaRPr lang="zh-TW" altLang="en-US" b="1" i="0" u="none" strike="noStrike" kern="100" baseline="0" dirty="0" smtClean="0">
              <a:latin typeface="Times New Roman"/>
              <a:ea typeface="標楷體"/>
            </a:endParaRPr>
          </a:p>
          <a:p>
            <a:pPr lvl="1"/>
            <a:r>
              <a:rPr lang="zh-TW" altLang="en-US" b="1" i="0" u="none" strike="noStrike" kern="100" baseline="0" dirty="0" smtClean="0">
                <a:latin typeface="Arial"/>
                <a:ea typeface="標楷體"/>
              </a:rPr>
              <a:t>一、利用電信設備發送、儲存、傳輸或接收符號、文字、影像、聲音或其他信息之有線及無線電信。</a:t>
            </a:r>
          </a:p>
          <a:p>
            <a:pPr lvl="1"/>
            <a:r>
              <a:rPr lang="zh-TW" altLang="en-US" b="1" i="0" u="none" strike="noStrike" kern="100" baseline="0" dirty="0" smtClean="0">
                <a:latin typeface="Arial"/>
                <a:ea typeface="標楷體"/>
              </a:rPr>
              <a:t>二、郵件及書信。</a:t>
            </a:r>
            <a:endParaRPr lang="zh-TW" altLang="en-US" b="1" i="0" u="none" strike="noStrike" kern="100" baseline="0" dirty="0" smtClean="0">
              <a:latin typeface="Times New Roman"/>
              <a:ea typeface="標楷體"/>
            </a:endParaRPr>
          </a:p>
          <a:p>
            <a:pPr lvl="1"/>
            <a:r>
              <a:rPr lang="zh-TW" altLang="en-US" b="1" i="0" u="none" strike="noStrike" kern="100" baseline="0" dirty="0" smtClean="0">
                <a:latin typeface="Arial"/>
                <a:ea typeface="標楷體"/>
              </a:rPr>
              <a:t>三、言論及談話。</a:t>
            </a:r>
            <a:endParaRPr lang="zh-TW" altLang="en-US" b="1" i="0" u="none" strike="noStrike" kern="100" baseline="0" dirty="0" smtClean="0">
              <a:latin typeface="Times New Roman"/>
              <a:ea typeface="標楷體"/>
            </a:endParaRPr>
          </a:p>
        </p:txBody>
      </p:sp>
      <p:sp>
        <p:nvSpPr>
          <p:cNvPr id="4" name="日期版面配置區 3"/>
          <p:cNvSpPr>
            <a:spLocks noGrp="1"/>
          </p:cNvSpPr>
          <p:nvPr>
            <p:ph type="dt" sz="half" idx="10"/>
          </p:nvPr>
        </p:nvSpPr>
        <p:spPr/>
        <p:txBody>
          <a:bodyPr/>
          <a:lstStyle/>
          <a:p>
            <a:fld id="{8D2ED2B6-E708-401C-8E02-31B6659A8C3B}" type="datetime1">
              <a:rPr lang="zh-TW" altLang="en-US" smtClean="0"/>
              <a:t>2023/4/2</a:t>
            </a:fld>
            <a:endParaRPr lang="zh-TW" altLang="en-US"/>
          </a:p>
        </p:txBody>
      </p:sp>
      <p:sp>
        <p:nvSpPr>
          <p:cNvPr id="5" name="投影片編號版面配置區 4"/>
          <p:cNvSpPr>
            <a:spLocks noGrp="1"/>
          </p:cNvSpPr>
          <p:nvPr>
            <p:ph type="sldNum" sz="quarter" idx="12"/>
          </p:nvPr>
        </p:nvSpPr>
        <p:spPr/>
        <p:txBody>
          <a:bodyPr/>
          <a:lstStyle/>
          <a:p>
            <a:fld id="{5DDC22FF-AB65-4D90-9AB8-E808153956B4}" type="slidenum">
              <a:rPr lang="zh-TW" altLang="en-US" smtClean="0"/>
              <a:pPr/>
              <a:t>20</a:t>
            </a:fld>
            <a:endParaRPr lang="zh-TW" altLang="en-US"/>
          </a:p>
        </p:txBody>
      </p:sp>
    </p:spTree>
    <p:extLst>
      <p:ext uri="{BB962C8B-B14F-4D97-AF65-F5344CB8AC3E}">
        <p14:creationId xmlns:p14="http://schemas.microsoft.com/office/powerpoint/2010/main" val="172249488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marR="0" rtl="0"/>
            <a:r>
              <a:rPr lang="en-US" altLang="zh-TW" b="1" i="0" u="none" strike="noStrike" kern="2600" baseline="0" smtClean="0">
                <a:latin typeface="Arial"/>
                <a:ea typeface="標楷體"/>
              </a:rPr>
              <a:t>4.3.3 </a:t>
            </a:r>
            <a:r>
              <a:rPr lang="zh-TW" altLang="en-US" b="1" i="0" u="none" strike="noStrike" kern="2600" baseline="0" smtClean="0">
                <a:latin typeface="Arial"/>
                <a:ea typeface="標楷體"/>
              </a:rPr>
              <a:t>隱私權與個人資料保護</a:t>
            </a:r>
            <a:endParaRPr lang="zh-TW" altLang="en-US" b="1" i="0" u="none" strike="noStrike" kern="2600" baseline="0" smtClean="0">
              <a:latin typeface="Times New Roman"/>
              <a:ea typeface="標楷體"/>
            </a:endParaRPr>
          </a:p>
        </p:txBody>
      </p:sp>
      <p:sp>
        <p:nvSpPr>
          <p:cNvPr id="3" name="文字版面配置區 2"/>
          <p:cNvSpPr>
            <a:spLocks noGrp="1"/>
          </p:cNvSpPr>
          <p:nvPr>
            <p:ph type="body" idx="1"/>
          </p:nvPr>
        </p:nvSpPr>
        <p:spPr/>
        <p:txBody>
          <a:bodyPr>
            <a:normAutofit fontScale="70000" lnSpcReduction="20000"/>
          </a:bodyPr>
          <a:lstStyle/>
          <a:p>
            <a:pPr marR="0" lvl="0" rtl="0"/>
            <a:r>
              <a:rPr lang="zh-TW" altLang="en-US" b="1" i="0" u="none" strike="noStrike" kern="100" baseline="0" dirty="0" smtClean="0">
                <a:latin typeface="Arial"/>
                <a:ea typeface="標楷體"/>
              </a:rPr>
              <a:t>隱私權 </a:t>
            </a:r>
            <a:r>
              <a:rPr lang="en-US" altLang="zh-TW" b="1" i="0" u="none" strike="noStrike" kern="100" baseline="0" dirty="0" smtClean="0">
                <a:latin typeface="Arial"/>
                <a:ea typeface="標楷體"/>
              </a:rPr>
              <a:t>( right of privacy ) </a:t>
            </a:r>
            <a:r>
              <a:rPr lang="zh-TW" altLang="en-US" b="1" i="0" u="none" strike="noStrike" kern="100" baseline="0" dirty="0" smtClean="0">
                <a:latin typeface="Arial"/>
                <a:ea typeface="標楷體"/>
              </a:rPr>
              <a:t>是享受生活的權利與不受干擾的權利，也是個人對於自身事務相關資訊公開的權利，以保障個人之思想、情緒、與感受，不受非法侵犯。</a:t>
            </a:r>
          </a:p>
          <a:p>
            <a:pPr marR="0" lvl="0" rtl="0"/>
            <a:r>
              <a:rPr lang="zh-TW" altLang="en-US" b="1" i="0" u="none" strike="noStrike" kern="100" baseline="0" dirty="0" smtClean="0">
                <a:latin typeface="Arial"/>
                <a:ea typeface="標楷體"/>
              </a:rPr>
              <a:t>早期隱私權著重人格權不受侵犯，資訊與網路發達以後，衍生出</a:t>
            </a:r>
            <a:r>
              <a:rPr lang="en-US" altLang="zh-TW" b="1" i="0" u="none" strike="noStrike" kern="100" baseline="0" dirty="0" smtClean="0">
                <a:latin typeface="Arial"/>
                <a:ea typeface="標楷體"/>
              </a:rPr>
              <a:t>『</a:t>
            </a:r>
            <a:r>
              <a:rPr lang="zh-TW" altLang="en-US" b="1" i="0" u="none" strike="noStrike" kern="100" baseline="0" dirty="0" smtClean="0">
                <a:latin typeface="Arial"/>
                <a:ea typeface="標楷體"/>
              </a:rPr>
              <a:t>資訊隱私權</a:t>
            </a:r>
            <a:r>
              <a:rPr lang="en-US" altLang="zh-TW" b="1" i="0" u="none" strike="noStrike" kern="100" baseline="0" dirty="0" smtClean="0">
                <a:latin typeface="Arial"/>
                <a:ea typeface="標楷體"/>
              </a:rPr>
              <a:t>』</a:t>
            </a:r>
            <a:r>
              <a:rPr lang="zh-TW" altLang="en-US" b="1" i="0" u="none" strike="noStrike" kern="100" baseline="0" dirty="0" smtClean="0">
                <a:latin typeface="Arial"/>
                <a:ea typeface="標楷體"/>
              </a:rPr>
              <a:t>觀念，資訊隱私權應屬於隱私權的延伸。</a:t>
            </a:r>
          </a:p>
          <a:p>
            <a:pPr marR="0" lvl="0" rtl="0"/>
            <a:r>
              <a:rPr lang="zh-TW" altLang="en-US" b="1" i="0" u="none" strike="noStrike" kern="100" baseline="0" dirty="0" smtClean="0">
                <a:latin typeface="Arial"/>
                <a:ea typeface="標楷體"/>
              </a:rPr>
              <a:t>我國於</a:t>
            </a:r>
            <a:r>
              <a:rPr lang="en-US" altLang="zh-TW" b="1" i="0" u="none" strike="noStrike" kern="100" baseline="0" dirty="0" smtClean="0">
                <a:latin typeface="Arial"/>
                <a:ea typeface="標楷體"/>
              </a:rPr>
              <a:t>2012</a:t>
            </a:r>
            <a:r>
              <a:rPr lang="zh-TW" altLang="en-US" b="1" i="0" u="none" strike="noStrike" kern="100" baseline="0" dirty="0" smtClean="0">
                <a:latin typeface="Arial"/>
                <a:ea typeface="標楷體"/>
              </a:rPr>
              <a:t>年施行新版</a:t>
            </a:r>
            <a:r>
              <a:rPr lang="en-US" altLang="zh-TW" b="1" i="0" u="none" strike="noStrike" kern="100" baseline="0" dirty="0" smtClean="0">
                <a:latin typeface="Arial"/>
                <a:ea typeface="標楷體"/>
              </a:rPr>
              <a:t>《</a:t>
            </a:r>
            <a:r>
              <a:rPr lang="zh-TW" altLang="en-US" b="1" i="0" u="none" strike="noStrike" kern="100" baseline="0" dirty="0" smtClean="0">
                <a:latin typeface="Arial"/>
                <a:ea typeface="標楷體"/>
              </a:rPr>
              <a:t>個人資料保護法</a:t>
            </a:r>
            <a:r>
              <a:rPr lang="en-US" altLang="zh-TW" b="1" i="0" u="none" strike="noStrike" kern="100" baseline="0" dirty="0" smtClean="0">
                <a:latin typeface="Arial"/>
                <a:ea typeface="標楷體"/>
              </a:rPr>
              <a:t>》</a:t>
            </a:r>
            <a:r>
              <a:rPr lang="zh-TW" altLang="en-US" b="1" i="0" u="none" strike="noStrike" kern="100" baseline="0" dirty="0" smtClean="0">
                <a:latin typeface="Arial"/>
                <a:ea typeface="標楷體"/>
              </a:rPr>
              <a:t> </a:t>
            </a:r>
            <a:r>
              <a:rPr lang="en-US" altLang="zh-TW" b="1" i="0" u="none" strike="noStrike" kern="100" baseline="0" dirty="0" smtClean="0">
                <a:latin typeface="Arial"/>
                <a:ea typeface="標楷體"/>
              </a:rPr>
              <a:t>(</a:t>
            </a:r>
            <a:r>
              <a:rPr lang="zh-TW" altLang="en-US" b="1" i="0" u="none" strike="noStrike" kern="100" baseline="0" dirty="0" smtClean="0">
                <a:latin typeface="Arial"/>
                <a:ea typeface="標楷體"/>
              </a:rPr>
              <a:t> </a:t>
            </a:r>
            <a:r>
              <a:rPr lang="en-US" altLang="zh-TW" b="1" i="0" u="none" strike="noStrike" kern="100" baseline="0" dirty="0" smtClean="0">
                <a:latin typeface="Arial"/>
                <a:ea typeface="標楷體"/>
              </a:rPr>
              <a:t>Personal Data Protection Act</a:t>
            </a:r>
            <a:r>
              <a:rPr lang="zh-TW" altLang="en-US" b="1" i="0" u="none" strike="noStrike" kern="100" baseline="0" dirty="0" smtClean="0">
                <a:latin typeface="Arial"/>
                <a:ea typeface="標楷體"/>
              </a:rPr>
              <a:t>；</a:t>
            </a:r>
            <a:r>
              <a:rPr lang="en-US" altLang="zh-TW" b="1" i="0" u="none" strike="noStrike" kern="100" baseline="0" dirty="0" smtClean="0">
                <a:latin typeface="Arial"/>
                <a:ea typeface="標楷體"/>
              </a:rPr>
              <a:t>PDPA</a:t>
            </a:r>
            <a:r>
              <a:rPr lang="zh-TW" altLang="en-US" b="1" i="0" u="none" strike="noStrike" kern="100" baseline="0" dirty="0" smtClean="0">
                <a:latin typeface="Arial"/>
                <a:ea typeface="標楷體"/>
              </a:rPr>
              <a:t> </a:t>
            </a:r>
            <a:r>
              <a:rPr lang="en-US" altLang="zh-TW" b="1" i="0" u="none" strike="noStrike" kern="100" baseline="0" dirty="0" smtClean="0">
                <a:latin typeface="Arial"/>
                <a:ea typeface="標楷體"/>
              </a:rPr>
              <a:t>)</a:t>
            </a:r>
            <a:r>
              <a:rPr lang="zh-TW" altLang="en-US" b="1" i="0" u="none" strike="noStrike" kern="100" baseline="0" dirty="0" smtClean="0">
                <a:latin typeface="Arial"/>
                <a:ea typeface="標楷體"/>
              </a:rPr>
              <a:t> ，以保護個人的資訊隱私權。</a:t>
            </a:r>
          </a:p>
          <a:p>
            <a:pPr lvl="0"/>
            <a:r>
              <a:rPr lang="zh-TW" altLang="en-US" b="1" kern="100" dirty="0">
                <a:latin typeface="Arial"/>
              </a:rPr>
              <a:t>個人資料種類包含：</a:t>
            </a:r>
            <a:r>
              <a:rPr lang="en-US" altLang="zh-TW" b="1" kern="100" dirty="0">
                <a:latin typeface="Arial"/>
              </a:rPr>
              <a:t>『</a:t>
            </a:r>
            <a:r>
              <a:rPr lang="zh-TW" altLang="en-US" b="1" kern="100" dirty="0">
                <a:latin typeface="Arial"/>
              </a:rPr>
              <a:t>自然人之姓名、出生年月日、國民身分證統一編號、護照號碼、特徵、指紋、婚姻、家庭、教育、職業、病歷、醫療、基因、性生活、健康檢查、犯罪前科、聯絡方式、財務情況、社會活動及其他得以直接或間接方式識別該個人之資料</a:t>
            </a:r>
            <a:r>
              <a:rPr lang="en-US" altLang="zh-TW" b="1" kern="100" dirty="0" smtClean="0">
                <a:latin typeface="Arial"/>
              </a:rPr>
              <a:t>』</a:t>
            </a:r>
            <a:r>
              <a:rPr lang="zh-TW" altLang="en-US" b="1" kern="100" dirty="0" smtClean="0">
                <a:latin typeface="Arial"/>
              </a:rPr>
              <a:t>。</a:t>
            </a:r>
            <a:endParaRPr lang="en-US" altLang="zh-TW" b="1" kern="100" dirty="0" smtClean="0">
              <a:latin typeface="Arial"/>
            </a:endParaRPr>
          </a:p>
          <a:p>
            <a:pPr lvl="0"/>
            <a:r>
              <a:rPr lang="zh-TW" altLang="en-US" b="1" kern="100" dirty="0" smtClean="0">
                <a:latin typeface="Arial"/>
              </a:rPr>
              <a:t>其中</a:t>
            </a:r>
            <a:r>
              <a:rPr lang="zh-TW" altLang="en-US" b="1" kern="100" dirty="0">
                <a:latin typeface="Arial"/>
              </a:rPr>
              <a:t>，病歷、醫療、基因、性生活、健康檢查、及犯罪前科等，個人資料保護法將這六種需要受到特別保護的個人資料定義為「特種個人資料」。原則上，除法律規定外，不得蒐集、處理或利用這六種特種個人資料。</a:t>
            </a:r>
            <a:endParaRPr lang="zh-TW" altLang="en-US" b="1" kern="100" dirty="0" smtClean="0">
              <a:latin typeface="Arial"/>
            </a:endParaRPr>
          </a:p>
        </p:txBody>
      </p:sp>
      <p:sp>
        <p:nvSpPr>
          <p:cNvPr id="4" name="日期版面配置區 3"/>
          <p:cNvSpPr>
            <a:spLocks noGrp="1"/>
          </p:cNvSpPr>
          <p:nvPr>
            <p:ph type="dt" sz="half" idx="10"/>
          </p:nvPr>
        </p:nvSpPr>
        <p:spPr/>
        <p:txBody>
          <a:bodyPr/>
          <a:lstStyle/>
          <a:p>
            <a:fld id="{CD622E5D-6CB8-453D-ABC1-440D4555C3BB}" type="datetime1">
              <a:rPr lang="zh-TW" altLang="en-US" smtClean="0"/>
              <a:t>2023/4/2</a:t>
            </a:fld>
            <a:endParaRPr lang="zh-TW" altLang="en-US"/>
          </a:p>
        </p:txBody>
      </p:sp>
      <p:sp>
        <p:nvSpPr>
          <p:cNvPr id="5" name="投影片編號版面配置區 4"/>
          <p:cNvSpPr>
            <a:spLocks noGrp="1"/>
          </p:cNvSpPr>
          <p:nvPr>
            <p:ph type="sldNum" sz="quarter" idx="12"/>
          </p:nvPr>
        </p:nvSpPr>
        <p:spPr/>
        <p:txBody>
          <a:bodyPr/>
          <a:lstStyle/>
          <a:p>
            <a:fld id="{5DDC22FF-AB65-4D90-9AB8-E808153956B4}" type="slidenum">
              <a:rPr lang="zh-TW" altLang="en-US" smtClean="0"/>
              <a:pPr/>
              <a:t>21</a:t>
            </a:fld>
            <a:endParaRPr lang="zh-TW" altLang="en-US"/>
          </a:p>
        </p:txBody>
      </p:sp>
    </p:spTree>
    <p:extLst>
      <p:ext uri="{BB962C8B-B14F-4D97-AF65-F5344CB8AC3E}">
        <p14:creationId xmlns:p14="http://schemas.microsoft.com/office/powerpoint/2010/main" val="237957813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marR="0" rtl="0"/>
            <a:r>
              <a:rPr lang="zh-TW" altLang="en-US" b="1" i="0" u="none" strike="noStrike" kern="2600" baseline="0" dirty="0" smtClean="0">
                <a:latin typeface="Arial"/>
                <a:ea typeface="標楷體"/>
              </a:rPr>
              <a:t> </a:t>
            </a:r>
            <a:r>
              <a:rPr lang="en-US" altLang="zh-TW" b="1" i="0" u="none" strike="noStrike" kern="2600" baseline="0" dirty="0" smtClean="0">
                <a:latin typeface="Arial"/>
                <a:ea typeface="標楷體"/>
              </a:rPr>
              <a:t>4.3.4 </a:t>
            </a:r>
            <a:r>
              <a:rPr lang="zh-TW" altLang="en-US" b="1" i="0" u="none" strike="noStrike" kern="2600" baseline="0" dirty="0" smtClean="0">
                <a:latin typeface="Arial"/>
                <a:ea typeface="標楷體"/>
              </a:rPr>
              <a:t>個人資料保護法</a:t>
            </a:r>
            <a:endParaRPr lang="zh-TW" altLang="en-US" b="1" i="0" u="none" strike="noStrike" kern="2600" baseline="0" dirty="0" smtClean="0">
              <a:latin typeface="Times New Roman"/>
              <a:ea typeface="標楷體"/>
            </a:endParaRPr>
          </a:p>
        </p:txBody>
      </p:sp>
      <p:sp>
        <p:nvSpPr>
          <p:cNvPr id="3" name="文字版面配置區 2"/>
          <p:cNvSpPr>
            <a:spLocks noGrp="1"/>
          </p:cNvSpPr>
          <p:nvPr>
            <p:ph type="body" idx="1"/>
          </p:nvPr>
        </p:nvSpPr>
        <p:spPr/>
        <p:txBody>
          <a:bodyPr>
            <a:normAutofit fontScale="92500"/>
          </a:bodyPr>
          <a:lstStyle/>
          <a:p>
            <a:pPr marR="0" lvl="0" rtl="0"/>
            <a:r>
              <a:rPr lang="zh-TW" altLang="en-US" b="1" i="0" u="none" strike="noStrike" kern="100" baseline="0" dirty="0" smtClean="0">
                <a:latin typeface="Arial"/>
                <a:ea typeface="標楷體"/>
              </a:rPr>
              <a:t>個資法開始施行後，所有企業及個人均適用該規定，規範個人資料之蒐集、處理及利用，以避免人格權受到侵害，並促進個人資料之合理利用。</a:t>
            </a:r>
          </a:p>
          <a:p>
            <a:pPr marR="0" lvl="0" rtl="0"/>
            <a:r>
              <a:rPr lang="zh-TW" altLang="en-US" b="1" i="0" u="none" strike="noStrike" kern="100" baseline="0" dirty="0" smtClean="0">
                <a:latin typeface="Arial"/>
                <a:ea typeface="標楷體"/>
              </a:rPr>
              <a:t>違法蒐集、處理或利用個資而產生損害時，處</a:t>
            </a:r>
            <a:r>
              <a:rPr lang="en-US" altLang="zh-TW" b="1" i="0" u="none" strike="noStrike" kern="100" baseline="0" dirty="0" smtClean="0">
                <a:latin typeface="Arial"/>
                <a:ea typeface="標楷體"/>
              </a:rPr>
              <a:t>2</a:t>
            </a:r>
            <a:r>
              <a:rPr lang="zh-TW" altLang="en-US" b="1" i="0" u="none" strike="noStrike" kern="100" baseline="0" dirty="0" smtClean="0">
                <a:latin typeface="Arial"/>
                <a:ea typeface="標楷體"/>
              </a:rPr>
              <a:t>年以下有期徒刑、拘役或併科</a:t>
            </a:r>
            <a:r>
              <a:rPr lang="en-US" altLang="zh-TW" b="1" i="0" u="none" strike="noStrike" kern="100" baseline="0" dirty="0" smtClean="0">
                <a:latin typeface="Arial"/>
                <a:ea typeface="標楷體"/>
              </a:rPr>
              <a:t>20</a:t>
            </a:r>
            <a:r>
              <a:rPr lang="zh-TW" altLang="en-US" b="1" i="0" u="none" strike="noStrike" kern="100" baseline="0" dirty="0" smtClean="0">
                <a:latin typeface="Arial"/>
                <a:ea typeface="標楷體"/>
              </a:rPr>
              <a:t>萬元以下罰金。</a:t>
            </a:r>
          </a:p>
          <a:p>
            <a:pPr marR="0" lvl="0" rtl="0"/>
            <a:r>
              <a:rPr lang="zh-TW" altLang="en-US" b="1" i="0" u="none" strike="noStrike" kern="100" baseline="0" dirty="0" smtClean="0">
                <a:latin typeface="Arial"/>
                <a:ea typeface="標楷體"/>
              </a:rPr>
              <a:t>意圖營利者，處</a:t>
            </a:r>
            <a:r>
              <a:rPr lang="en-US" altLang="zh-TW" b="1" i="0" u="none" strike="noStrike" kern="100" baseline="0" dirty="0" smtClean="0">
                <a:latin typeface="Arial"/>
                <a:ea typeface="標楷體"/>
              </a:rPr>
              <a:t>5 </a:t>
            </a:r>
            <a:r>
              <a:rPr lang="zh-TW" altLang="en-US" b="1" i="0" u="none" strike="noStrike" kern="100" baseline="0" dirty="0" smtClean="0">
                <a:latin typeface="Arial"/>
                <a:ea typeface="標楷體"/>
              </a:rPr>
              <a:t>年以下有期徒刑、拘役或併科</a:t>
            </a:r>
            <a:r>
              <a:rPr lang="en-US" altLang="zh-TW" b="1" i="0" u="none" strike="noStrike" kern="100" baseline="0" dirty="0" smtClean="0">
                <a:latin typeface="Arial"/>
                <a:ea typeface="標楷體"/>
              </a:rPr>
              <a:t>100</a:t>
            </a:r>
            <a:r>
              <a:rPr lang="zh-TW" altLang="en-US" b="1" i="0" u="none" strike="noStrike" kern="100" baseline="0" dirty="0" smtClean="0">
                <a:latin typeface="Arial"/>
                <a:ea typeface="標楷體"/>
              </a:rPr>
              <a:t>萬元以下罰金，限期未改善，每次可罰</a:t>
            </a:r>
            <a:r>
              <a:rPr lang="en-US" altLang="zh-TW" b="1" i="0" u="none" strike="noStrike" kern="100" baseline="0" dirty="0" smtClean="0">
                <a:latin typeface="Arial"/>
                <a:ea typeface="標楷體"/>
              </a:rPr>
              <a:t>5</a:t>
            </a:r>
            <a:r>
              <a:rPr lang="zh-TW" altLang="en-US" b="1" i="0" u="none" strike="noStrike" kern="100" baseline="0" dirty="0" smtClean="0">
                <a:latin typeface="Arial"/>
                <a:ea typeface="標楷體"/>
              </a:rPr>
              <a:t>～</a:t>
            </a:r>
            <a:r>
              <a:rPr lang="en-US" altLang="zh-TW" b="1" i="0" u="none" strike="noStrike" kern="100" baseline="0" dirty="0" smtClean="0">
                <a:latin typeface="Arial"/>
                <a:ea typeface="標楷體"/>
              </a:rPr>
              <a:t>50</a:t>
            </a:r>
            <a:r>
              <a:rPr lang="zh-TW" altLang="en-US" b="1" i="0" u="none" strike="noStrike" kern="100" baseline="0" dirty="0" smtClean="0">
                <a:latin typeface="Arial"/>
                <a:ea typeface="標楷體"/>
              </a:rPr>
              <a:t>萬元。</a:t>
            </a:r>
          </a:p>
          <a:p>
            <a:pPr marR="0" lvl="0" rtl="0"/>
            <a:r>
              <a:rPr lang="zh-TW" altLang="en-US" b="1" i="0" u="none" strike="noStrike" kern="100" baseline="0" dirty="0" smtClean="0">
                <a:latin typeface="Arial"/>
                <a:ea typeface="標楷體"/>
              </a:rPr>
              <a:t>違反告知義務、維護義務、個人請求相關法規，限期未改善，每次可罰</a:t>
            </a:r>
            <a:r>
              <a:rPr lang="en-US" altLang="zh-TW" b="1" i="0" u="none" strike="noStrike" kern="100" baseline="0" dirty="0" smtClean="0">
                <a:latin typeface="Arial"/>
                <a:ea typeface="標楷體"/>
              </a:rPr>
              <a:t>2</a:t>
            </a:r>
            <a:r>
              <a:rPr lang="zh-TW" altLang="en-US" b="1" i="0" u="none" strike="noStrike" kern="100" baseline="0" dirty="0" smtClean="0">
                <a:latin typeface="Arial"/>
                <a:ea typeface="標楷體"/>
              </a:rPr>
              <a:t>～</a:t>
            </a:r>
            <a:r>
              <a:rPr lang="en-US" altLang="zh-TW" b="1" i="0" u="none" strike="noStrike" kern="100" baseline="0" dirty="0" smtClean="0">
                <a:latin typeface="Arial"/>
                <a:ea typeface="標楷體"/>
              </a:rPr>
              <a:t>20</a:t>
            </a:r>
            <a:r>
              <a:rPr lang="zh-TW" altLang="en-US" b="1" i="0" u="none" strike="noStrike" kern="100" baseline="0" dirty="0" smtClean="0">
                <a:latin typeface="Arial"/>
                <a:ea typeface="標楷體"/>
              </a:rPr>
              <a:t>萬元；拒絕主管機關檢查者，每次可罰</a:t>
            </a:r>
            <a:r>
              <a:rPr lang="en-US" altLang="zh-TW" b="1" i="0" u="none" strike="noStrike" kern="100" baseline="0" dirty="0" smtClean="0">
                <a:latin typeface="Arial"/>
                <a:ea typeface="標楷體"/>
              </a:rPr>
              <a:t>2</a:t>
            </a:r>
            <a:r>
              <a:rPr lang="zh-TW" altLang="en-US" b="1" i="0" u="none" strike="noStrike" kern="100" baseline="0" dirty="0" smtClean="0">
                <a:latin typeface="Arial"/>
                <a:ea typeface="標楷體"/>
              </a:rPr>
              <a:t>～</a:t>
            </a:r>
            <a:r>
              <a:rPr lang="en-US" altLang="zh-TW" b="1" i="0" u="none" strike="noStrike" kern="100" baseline="0" dirty="0" smtClean="0">
                <a:latin typeface="Arial"/>
                <a:ea typeface="標楷體"/>
              </a:rPr>
              <a:t>20</a:t>
            </a:r>
            <a:r>
              <a:rPr lang="zh-TW" altLang="en-US" b="1" i="0" u="none" strike="noStrike" kern="100" baseline="0" dirty="0" smtClean="0">
                <a:latin typeface="Arial"/>
                <a:ea typeface="標楷體"/>
              </a:rPr>
              <a:t>萬元。</a:t>
            </a:r>
            <a:endParaRPr lang="zh-TW" altLang="en-US" b="1" i="0" u="none" strike="noStrike" kern="100" baseline="0" dirty="0" smtClean="0">
              <a:latin typeface="Times New Roman"/>
              <a:ea typeface="標楷體"/>
            </a:endParaRPr>
          </a:p>
        </p:txBody>
      </p:sp>
      <p:sp>
        <p:nvSpPr>
          <p:cNvPr id="4" name="日期版面配置區 3"/>
          <p:cNvSpPr>
            <a:spLocks noGrp="1"/>
          </p:cNvSpPr>
          <p:nvPr>
            <p:ph type="dt" sz="half" idx="10"/>
          </p:nvPr>
        </p:nvSpPr>
        <p:spPr/>
        <p:txBody>
          <a:bodyPr/>
          <a:lstStyle/>
          <a:p>
            <a:fld id="{78C2CE39-F8E4-4AB7-AC1C-63B1576F6F97}" type="datetime1">
              <a:rPr lang="zh-TW" altLang="en-US" smtClean="0"/>
              <a:t>2023/4/2</a:t>
            </a:fld>
            <a:endParaRPr lang="zh-TW" altLang="en-US"/>
          </a:p>
        </p:txBody>
      </p:sp>
      <p:sp>
        <p:nvSpPr>
          <p:cNvPr id="5" name="投影片編號版面配置區 4"/>
          <p:cNvSpPr>
            <a:spLocks noGrp="1"/>
          </p:cNvSpPr>
          <p:nvPr>
            <p:ph type="sldNum" sz="quarter" idx="12"/>
          </p:nvPr>
        </p:nvSpPr>
        <p:spPr/>
        <p:txBody>
          <a:bodyPr/>
          <a:lstStyle/>
          <a:p>
            <a:fld id="{5DDC22FF-AB65-4D90-9AB8-E808153956B4}" type="slidenum">
              <a:rPr lang="zh-TW" altLang="en-US" smtClean="0"/>
              <a:pPr/>
              <a:t>22</a:t>
            </a:fld>
            <a:endParaRPr lang="zh-TW" altLang="en-US"/>
          </a:p>
        </p:txBody>
      </p:sp>
    </p:spTree>
    <p:extLst>
      <p:ext uri="{BB962C8B-B14F-4D97-AF65-F5344CB8AC3E}">
        <p14:creationId xmlns:p14="http://schemas.microsoft.com/office/powerpoint/2010/main" val="284020380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b="1" dirty="0"/>
              <a:t>4.3.5</a:t>
            </a:r>
            <a:r>
              <a:rPr lang="en-US" altLang="zh-TW" b="1" dirty="0" smtClean="0"/>
              <a:t>.</a:t>
            </a:r>
            <a:r>
              <a:rPr lang="zh-TW" altLang="en-US" b="1" dirty="0" smtClean="0"/>
              <a:t> 歐盟</a:t>
            </a:r>
            <a:r>
              <a:rPr lang="zh-TW" altLang="en-US" b="1" dirty="0"/>
              <a:t>通用資料保護規範</a:t>
            </a:r>
          </a:p>
        </p:txBody>
      </p:sp>
      <p:sp>
        <p:nvSpPr>
          <p:cNvPr id="3" name="文字版面配置區 2"/>
          <p:cNvSpPr>
            <a:spLocks noGrp="1"/>
          </p:cNvSpPr>
          <p:nvPr>
            <p:ph type="body" idx="1"/>
          </p:nvPr>
        </p:nvSpPr>
        <p:spPr>
          <a:xfrm>
            <a:off x="395288" y="1417638"/>
            <a:ext cx="8497887" cy="4708525"/>
          </a:xfrm>
        </p:spPr>
        <p:txBody>
          <a:bodyPr/>
          <a:lstStyle/>
          <a:p>
            <a:r>
              <a:rPr lang="zh-TW" altLang="en-US" sz="2000" dirty="0"/>
              <a:t>歐盟為了提升對個人資料的保護，並建立歐盟境內一體適用的規範，</a:t>
            </a:r>
            <a:r>
              <a:rPr lang="en-US" altLang="zh-TW" sz="2000" dirty="0"/>
              <a:t>2016</a:t>
            </a:r>
            <a:r>
              <a:rPr lang="zh-TW" altLang="en-US" sz="2000" dirty="0"/>
              <a:t>年通過「通用資料保護規範」（</a:t>
            </a:r>
            <a:r>
              <a:rPr lang="en-US" altLang="zh-TW" sz="2000" dirty="0"/>
              <a:t>General Data Protection Regulation</a:t>
            </a:r>
            <a:r>
              <a:rPr lang="zh-TW" altLang="en-US" sz="2000" dirty="0"/>
              <a:t>；</a:t>
            </a:r>
            <a:r>
              <a:rPr lang="en-US" altLang="zh-TW" sz="2000" dirty="0"/>
              <a:t>GDPR</a:t>
            </a:r>
            <a:r>
              <a:rPr lang="zh-TW" altLang="en-US" sz="2000" dirty="0"/>
              <a:t>），於</a:t>
            </a:r>
            <a:r>
              <a:rPr lang="en-US" altLang="zh-TW" sz="2000" dirty="0"/>
              <a:t>2018</a:t>
            </a:r>
            <a:r>
              <a:rPr lang="zh-TW" altLang="en-US" sz="2000" dirty="0"/>
              <a:t>年生效並全面施行，適用對象範圍延伸歐洲資料保護法的領域至所有處理歐盟住民的境外公司</a:t>
            </a:r>
            <a:r>
              <a:rPr lang="zh-TW" altLang="en-US" sz="2000" dirty="0" smtClean="0"/>
              <a:t>。</a:t>
            </a:r>
            <a:endParaRPr lang="en-US" altLang="zh-TW" sz="2000" dirty="0" smtClean="0"/>
          </a:p>
          <a:p>
            <a:r>
              <a:rPr lang="en-US" altLang="zh-TW" sz="2000" dirty="0" smtClean="0"/>
              <a:t>GDPR</a:t>
            </a:r>
            <a:r>
              <a:rPr lang="zh-TW" altLang="en-US" sz="2000" dirty="0"/>
              <a:t>所定義的個人資料</a:t>
            </a:r>
            <a:r>
              <a:rPr lang="zh-TW" altLang="en-US" sz="2000" dirty="0" smtClean="0"/>
              <a:t>及保護</a:t>
            </a:r>
            <a:r>
              <a:rPr lang="zh-TW" altLang="en-US" sz="2000" dirty="0"/>
              <a:t>的資料範圍包含：</a:t>
            </a:r>
          </a:p>
          <a:p>
            <a:pPr lvl="1"/>
            <a:r>
              <a:rPr lang="zh-TW" altLang="en-US" sz="2000" dirty="0"/>
              <a:t>個人身份 </a:t>
            </a:r>
            <a:r>
              <a:rPr lang="en-US" altLang="zh-TW" sz="2000" dirty="0"/>
              <a:t>– </a:t>
            </a:r>
            <a:r>
              <a:rPr lang="zh-TW" altLang="en-US" sz="2000" dirty="0"/>
              <a:t>護照號碼、電話號碼、地址、病歷、醫療紀錄等。</a:t>
            </a:r>
          </a:p>
          <a:p>
            <a:pPr lvl="1"/>
            <a:r>
              <a:rPr lang="zh-TW" altLang="en-US" sz="2000" dirty="0"/>
              <a:t>生物特徵 </a:t>
            </a:r>
            <a:r>
              <a:rPr lang="en-US" altLang="zh-TW" sz="2000" dirty="0"/>
              <a:t>– </a:t>
            </a:r>
            <a:r>
              <a:rPr lang="zh-TW" altLang="en-US" sz="2000" dirty="0"/>
              <a:t>指紋、臉部辨識、視網膜掃描、相片等。</a:t>
            </a:r>
          </a:p>
          <a:p>
            <a:pPr lvl="1"/>
            <a:r>
              <a:rPr lang="zh-TW" altLang="en-US" sz="2000" dirty="0"/>
              <a:t>電子紀錄 </a:t>
            </a:r>
            <a:r>
              <a:rPr lang="en-US" altLang="zh-TW" sz="2000" dirty="0"/>
              <a:t>– </a:t>
            </a:r>
            <a:r>
              <a:rPr lang="zh-TW" altLang="en-US" sz="2000" dirty="0"/>
              <a:t>網路</a:t>
            </a:r>
            <a:r>
              <a:rPr lang="en-US" altLang="zh-TW" sz="2000" dirty="0"/>
              <a:t>IP</a:t>
            </a:r>
            <a:r>
              <a:rPr lang="zh-TW" altLang="en-US" sz="2000" dirty="0"/>
              <a:t>、行動裝置識別碼、社群網站活動紀錄、犯罪紀錄等</a:t>
            </a:r>
            <a:r>
              <a:rPr lang="zh-TW" altLang="en-US" sz="2000" dirty="0" smtClean="0"/>
              <a:t>。</a:t>
            </a:r>
            <a:endParaRPr lang="en-US" altLang="zh-TW" sz="2000" dirty="0" smtClean="0"/>
          </a:p>
          <a:p>
            <a:r>
              <a:rPr lang="en-US" altLang="zh-TW" sz="2000" dirty="0" smtClean="0"/>
              <a:t>GPDR</a:t>
            </a:r>
            <a:r>
              <a:rPr lang="zh-TW" altLang="en-US" sz="2000" dirty="0"/>
              <a:t>要求企業需負起法律責任，只要企業的核心業務涉及對歐盟民眾的個人資料的處理</a:t>
            </a:r>
            <a:r>
              <a:rPr lang="zh-TW" altLang="en-US" sz="2000" dirty="0" smtClean="0"/>
              <a:t>，都</a:t>
            </a:r>
            <a:r>
              <a:rPr lang="zh-TW" altLang="en-US" sz="2000" dirty="0"/>
              <a:t>必須要設置一個資料保護</a:t>
            </a:r>
            <a:r>
              <a:rPr lang="zh-TW" altLang="en-US" sz="2000" dirty="0" smtClean="0"/>
              <a:t>長</a:t>
            </a:r>
            <a:r>
              <a:rPr lang="en-US" altLang="zh-TW" sz="2000" dirty="0" smtClean="0"/>
              <a:t>(Data </a:t>
            </a:r>
            <a:r>
              <a:rPr lang="en-US" altLang="zh-TW" sz="2000" dirty="0"/>
              <a:t>Protection Officer</a:t>
            </a:r>
            <a:r>
              <a:rPr lang="zh-TW" altLang="en-US" sz="2000" dirty="0"/>
              <a:t>；</a:t>
            </a:r>
            <a:r>
              <a:rPr lang="en-US" altLang="zh-TW" sz="2000" dirty="0" smtClean="0"/>
              <a:t>DPO)</a:t>
            </a:r>
            <a:r>
              <a:rPr lang="zh-TW" altLang="en-US" sz="2000" dirty="0" smtClean="0"/>
              <a:t>的</a:t>
            </a:r>
            <a:r>
              <a:rPr lang="zh-TW" altLang="en-US" sz="2000" dirty="0"/>
              <a:t>角色，一旦企業有違反</a:t>
            </a:r>
            <a:r>
              <a:rPr lang="en-US" altLang="zh-TW" sz="2000" dirty="0"/>
              <a:t>GDPR</a:t>
            </a:r>
            <a:r>
              <a:rPr lang="zh-TW" altLang="en-US" sz="2000" dirty="0"/>
              <a:t>的規範，這個資料保護長需要被追究相關的法律責任。</a:t>
            </a:r>
          </a:p>
        </p:txBody>
      </p:sp>
      <p:sp>
        <p:nvSpPr>
          <p:cNvPr id="4" name="日期版面配置區 3"/>
          <p:cNvSpPr>
            <a:spLocks noGrp="1"/>
          </p:cNvSpPr>
          <p:nvPr>
            <p:ph type="dt" sz="half" idx="10"/>
          </p:nvPr>
        </p:nvSpPr>
        <p:spPr/>
        <p:txBody>
          <a:bodyPr/>
          <a:lstStyle/>
          <a:p>
            <a:fld id="{ECE0CA9B-E3E2-4731-AB05-2608E5B8D6E5}" type="datetime1">
              <a:rPr lang="zh-TW" altLang="en-US" smtClean="0"/>
              <a:t>2023/4/2</a:t>
            </a:fld>
            <a:endParaRPr lang="zh-TW" altLang="en-US"/>
          </a:p>
        </p:txBody>
      </p:sp>
      <p:sp>
        <p:nvSpPr>
          <p:cNvPr id="5" name="投影片編號版面配置區 4"/>
          <p:cNvSpPr>
            <a:spLocks noGrp="1"/>
          </p:cNvSpPr>
          <p:nvPr>
            <p:ph type="sldNum" sz="quarter" idx="12"/>
          </p:nvPr>
        </p:nvSpPr>
        <p:spPr/>
        <p:txBody>
          <a:bodyPr/>
          <a:lstStyle/>
          <a:p>
            <a:fld id="{5DDC22FF-AB65-4D90-9AB8-E808153956B4}" type="slidenum">
              <a:rPr lang="zh-TW" altLang="en-US" smtClean="0"/>
              <a:pPr/>
              <a:t>23</a:t>
            </a:fld>
            <a:endParaRPr lang="zh-TW" altLang="en-US"/>
          </a:p>
        </p:txBody>
      </p:sp>
    </p:spTree>
    <p:extLst>
      <p:ext uri="{BB962C8B-B14F-4D97-AF65-F5344CB8AC3E}">
        <p14:creationId xmlns:p14="http://schemas.microsoft.com/office/powerpoint/2010/main" val="341125695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marR="0" rtl="0"/>
            <a:r>
              <a:rPr lang="en-US" altLang="zh-TW" b="1" i="0" u="none" strike="noStrike" kern="2600" baseline="0" smtClean="0">
                <a:latin typeface="Arial"/>
                <a:ea typeface="標楷體"/>
              </a:rPr>
              <a:t>4.4 </a:t>
            </a:r>
            <a:r>
              <a:rPr lang="zh-TW" altLang="en-US" b="1" i="0" u="none" strike="noStrike" kern="2600" baseline="0" smtClean="0">
                <a:latin typeface="Arial"/>
                <a:ea typeface="標楷體"/>
              </a:rPr>
              <a:t>電腦鑑識與數位證據</a:t>
            </a:r>
            <a:endParaRPr lang="zh-TW" altLang="en-US" b="1" i="0" u="none" strike="noStrike" kern="2600" baseline="0" smtClean="0">
              <a:latin typeface="Times New Roman"/>
              <a:ea typeface="標楷體"/>
            </a:endParaRPr>
          </a:p>
        </p:txBody>
      </p:sp>
      <p:sp>
        <p:nvSpPr>
          <p:cNvPr id="3" name="文字版面配置區 2"/>
          <p:cNvSpPr>
            <a:spLocks noGrp="1"/>
          </p:cNvSpPr>
          <p:nvPr>
            <p:ph type="body" idx="1"/>
          </p:nvPr>
        </p:nvSpPr>
        <p:spPr/>
        <p:txBody>
          <a:bodyPr>
            <a:normAutofit fontScale="92500" lnSpcReduction="20000"/>
          </a:bodyPr>
          <a:lstStyle/>
          <a:p>
            <a:pPr marR="0" lvl="0" rtl="0"/>
            <a:r>
              <a:rPr lang="en-US" altLang="zh-TW" b="1" i="0" u="none" strike="noStrike" kern="100" baseline="0" dirty="0" smtClean="0">
                <a:latin typeface="Arial"/>
                <a:ea typeface="標楷體"/>
              </a:rPr>
              <a:t>『</a:t>
            </a:r>
            <a:r>
              <a:rPr lang="zh-TW" altLang="en-US" b="1" i="0" u="none" strike="noStrike" kern="100" baseline="0" dirty="0" smtClean="0">
                <a:latin typeface="Arial"/>
                <a:ea typeface="標楷體"/>
              </a:rPr>
              <a:t>電腦鑑識</a:t>
            </a:r>
            <a:r>
              <a:rPr lang="en-US" altLang="zh-TW" b="1" i="0" u="none" strike="noStrike" kern="100" baseline="0" dirty="0" smtClean="0">
                <a:latin typeface="Arial"/>
                <a:ea typeface="標楷體"/>
              </a:rPr>
              <a:t>』( computer forensics )</a:t>
            </a:r>
            <a:r>
              <a:rPr lang="zh-TW" altLang="en-US" b="1" i="0" u="none" strike="noStrike" kern="100" baseline="0" dirty="0" smtClean="0">
                <a:latin typeface="Arial"/>
                <a:ea typeface="標楷體"/>
              </a:rPr>
              <a:t> 是研究如何進行標準採集證據流程、將證據加以保存、進行分析、比對與還原事件等的科學，以呈現法庭做為偵辦案件之參考。</a:t>
            </a:r>
          </a:p>
          <a:p>
            <a:pPr marR="0" lvl="0" rtl="0"/>
            <a:r>
              <a:rPr lang="zh-TW" altLang="en-US" b="1" i="0" u="none" strike="noStrike" kern="100" baseline="0" dirty="0" smtClean="0">
                <a:latin typeface="Arial"/>
                <a:ea typeface="標楷體"/>
              </a:rPr>
              <a:t>對於電腦犯罪案件之偵辦，包含智慧財產竊取案件、企業機密外洩案件、經濟犯罪案件與網路犯罪案件等。</a:t>
            </a:r>
          </a:p>
          <a:p>
            <a:pPr marR="0" lvl="0" rtl="0"/>
            <a:r>
              <a:rPr lang="zh-TW" altLang="en-US" b="1" i="0" u="none" strike="noStrike" kern="100" baseline="0" dirty="0" smtClean="0">
                <a:latin typeface="Arial"/>
                <a:ea typeface="標楷體"/>
              </a:rPr>
              <a:t>在收集證據的準備階段，需準備相關設施，符合法令與現實需求，具有不可否認之架構，且以合理費用，建構採證標準作業程序。</a:t>
            </a:r>
          </a:p>
          <a:p>
            <a:pPr marR="0" lvl="0" rtl="0"/>
            <a:r>
              <a:rPr lang="zh-TW" altLang="en-US" b="1" i="0" u="none" strike="noStrike" kern="100" baseline="0" dirty="0" smtClean="0">
                <a:latin typeface="Arial"/>
                <a:ea typeface="標楷體"/>
              </a:rPr>
              <a:t>關於電腦鑑識工作進行的流程，通常會先找律師，並尋求電腦鑑識專家的協助，以進行採證，經蒐集、檢驗分析後提出鑑識報告，電腦鑑識專家在法庭上擔任專家證人，證明數位證據是可靠的與可信賴的。</a:t>
            </a:r>
            <a:endParaRPr lang="zh-TW" altLang="en-US" b="1" i="0" u="none" strike="noStrike" kern="100" baseline="0" dirty="0" smtClean="0">
              <a:latin typeface="Times New Roman"/>
              <a:ea typeface="標楷體"/>
            </a:endParaRPr>
          </a:p>
        </p:txBody>
      </p:sp>
      <p:sp>
        <p:nvSpPr>
          <p:cNvPr id="4" name="日期版面配置區 3"/>
          <p:cNvSpPr>
            <a:spLocks noGrp="1"/>
          </p:cNvSpPr>
          <p:nvPr>
            <p:ph type="dt" sz="half" idx="10"/>
          </p:nvPr>
        </p:nvSpPr>
        <p:spPr/>
        <p:txBody>
          <a:bodyPr/>
          <a:lstStyle/>
          <a:p>
            <a:fld id="{D5E24F34-4160-4E90-BC63-C485CE16FA4F}" type="datetime1">
              <a:rPr lang="zh-TW" altLang="en-US" smtClean="0"/>
              <a:t>2023/4/2</a:t>
            </a:fld>
            <a:endParaRPr lang="zh-TW" altLang="en-US"/>
          </a:p>
        </p:txBody>
      </p:sp>
      <p:sp>
        <p:nvSpPr>
          <p:cNvPr id="5" name="投影片編號版面配置區 4"/>
          <p:cNvSpPr>
            <a:spLocks noGrp="1"/>
          </p:cNvSpPr>
          <p:nvPr>
            <p:ph type="sldNum" sz="quarter" idx="12"/>
          </p:nvPr>
        </p:nvSpPr>
        <p:spPr/>
        <p:txBody>
          <a:bodyPr/>
          <a:lstStyle/>
          <a:p>
            <a:fld id="{5DDC22FF-AB65-4D90-9AB8-E808153956B4}" type="slidenum">
              <a:rPr lang="zh-TW" altLang="en-US" smtClean="0"/>
              <a:pPr/>
              <a:t>24</a:t>
            </a:fld>
            <a:endParaRPr lang="zh-TW" altLang="en-US"/>
          </a:p>
        </p:txBody>
      </p:sp>
    </p:spTree>
    <p:extLst>
      <p:ext uri="{BB962C8B-B14F-4D97-AF65-F5344CB8AC3E}">
        <p14:creationId xmlns:p14="http://schemas.microsoft.com/office/powerpoint/2010/main" val="320363619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marR="0" rtl="0"/>
            <a:r>
              <a:rPr lang="en-US" altLang="zh-TW" b="1" i="0" u="none" strike="noStrike" kern="2600" baseline="0" smtClean="0">
                <a:latin typeface="Arial"/>
                <a:ea typeface="標楷體"/>
              </a:rPr>
              <a:t>4.5 </a:t>
            </a:r>
            <a:r>
              <a:rPr lang="zh-TW" altLang="en-US" b="1" i="0" u="none" strike="noStrike" kern="2600" baseline="0" smtClean="0">
                <a:latin typeface="Arial"/>
                <a:ea typeface="標楷體"/>
              </a:rPr>
              <a:t>資訊倫理</a:t>
            </a:r>
            <a:endParaRPr lang="zh-TW" altLang="en-US" b="1" i="0" u="none" strike="noStrike" kern="2600" baseline="0" smtClean="0">
              <a:latin typeface="Times New Roman"/>
              <a:ea typeface="標楷體"/>
            </a:endParaRPr>
          </a:p>
        </p:txBody>
      </p:sp>
      <p:sp>
        <p:nvSpPr>
          <p:cNvPr id="3" name="文字版面配置區 2"/>
          <p:cNvSpPr>
            <a:spLocks noGrp="1"/>
          </p:cNvSpPr>
          <p:nvPr>
            <p:ph type="body" idx="1"/>
          </p:nvPr>
        </p:nvSpPr>
        <p:spPr/>
        <p:txBody>
          <a:bodyPr>
            <a:normAutofit fontScale="85000" lnSpcReduction="10000"/>
          </a:bodyPr>
          <a:lstStyle/>
          <a:p>
            <a:pPr marR="0" lvl="0" rtl="0"/>
            <a:r>
              <a:rPr lang="en-US" altLang="zh-TW" b="1" i="0" u="none" strike="noStrike" kern="100" baseline="0" dirty="0" smtClean="0">
                <a:latin typeface="Arial"/>
                <a:ea typeface="標楷體"/>
              </a:rPr>
              <a:t>『</a:t>
            </a:r>
            <a:r>
              <a:rPr lang="zh-TW" altLang="en-US" b="1" i="0" u="none" strike="noStrike" kern="100" baseline="0" dirty="0" smtClean="0">
                <a:latin typeface="Arial"/>
                <a:ea typeface="標楷體"/>
              </a:rPr>
              <a:t>倫理</a:t>
            </a:r>
            <a:r>
              <a:rPr lang="en-US" altLang="zh-TW" b="1" i="0" u="none" strike="noStrike" kern="100" baseline="0" dirty="0" smtClean="0">
                <a:latin typeface="Arial"/>
                <a:ea typeface="標楷體"/>
              </a:rPr>
              <a:t>』</a:t>
            </a:r>
            <a:r>
              <a:rPr lang="zh-TW" altLang="en-US" b="1" i="0" u="none" strike="noStrike" kern="100" baseline="0" dirty="0" smtClean="0">
                <a:latin typeface="Arial"/>
                <a:ea typeface="標楷體"/>
              </a:rPr>
              <a:t>是人與人相處之間的規範與準則，是一種道德規範，與法律不一樣，違反法律，將會受到相關法條規定的懲誡，違反道德不一定會受到懲誡。</a:t>
            </a:r>
          </a:p>
          <a:p>
            <a:pPr marR="0" lvl="0" rtl="0"/>
            <a:r>
              <a:rPr lang="zh-TW" altLang="en-US" b="1" i="0" u="none" strike="noStrike" kern="100" baseline="0" dirty="0" smtClean="0">
                <a:latin typeface="Arial"/>
                <a:ea typeface="標楷體"/>
              </a:rPr>
              <a:t>例如，使用電子郵件，對收信者表現出不禮貌的稱呼與語氣，沒有尊重收信者的感受，這是違反資訊倫理 </a:t>
            </a:r>
            <a:r>
              <a:rPr lang="en-US" altLang="zh-TW" b="1" i="0" u="none" strike="noStrike" kern="100" baseline="0" dirty="0" smtClean="0">
                <a:latin typeface="Arial"/>
                <a:ea typeface="標楷體"/>
              </a:rPr>
              <a:t>(</a:t>
            </a:r>
            <a:r>
              <a:rPr lang="zh-TW" altLang="en-US" b="1" i="0" u="none" strike="noStrike" kern="100" baseline="0" dirty="0" smtClean="0">
                <a:latin typeface="Arial"/>
                <a:ea typeface="標楷體"/>
              </a:rPr>
              <a:t> </a:t>
            </a:r>
            <a:r>
              <a:rPr lang="en-US" altLang="zh-TW" b="1" i="0" u="none" strike="noStrike" kern="100" baseline="0" dirty="0" smtClean="0">
                <a:latin typeface="Arial"/>
                <a:ea typeface="標楷體"/>
              </a:rPr>
              <a:t>information ethics</a:t>
            </a:r>
            <a:r>
              <a:rPr lang="zh-TW" altLang="en-US" b="1" i="0" u="none" strike="noStrike" kern="100" baseline="0" dirty="0" smtClean="0">
                <a:latin typeface="Arial"/>
                <a:ea typeface="標楷體"/>
              </a:rPr>
              <a:t> </a:t>
            </a:r>
            <a:r>
              <a:rPr lang="en-US" altLang="zh-TW" b="1" i="0" u="none" strike="noStrike" kern="100" baseline="0" dirty="0" smtClean="0">
                <a:latin typeface="Arial"/>
                <a:ea typeface="標楷體"/>
              </a:rPr>
              <a:t>)</a:t>
            </a:r>
            <a:r>
              <a:rPr lang="zh-TW" altLang="en-US" b="1" i="0" u="none" strike="noStrike" kern="100" baseline="0" dirty="0" smtClean="0">
                <a:latin typeface="Arial"/>
                <a:ea typeface="標楷體"/>
              </a:rPr>
              <a:t>，但並不會接受法律的懲誡。</a:t>
            </a:r>
          </a:p>
          <a:p>
            <a:pPr marR="0" lvl="0" rtl="0"/>
            <a:r>
              <a:rPr lang="zh-TW" altLang="en-US" b="1" i="0" u="none" strike="noStrike" kern="100" baseline="0" dirty="0" smtClean="0">
                <a:latin typeface="Arial"/>
                <a:ea typeface="標楷體"/>
              </a:rPr>
              <a:t>美國電腦倫理協會制定</a:t>
            </a:r>
            <a:r>
              <a:rPr lang="en-US" altLang="zh-TW" b="1" i="0" u="none" strike="noStrike" kern="100" baseline="0" dirty="0" smtClean="0">
                <a:latin typeface="Arial"/>
                <a:ea typeface="標楷體"/>
              </a:rPr>
              <a:t>『</a:t>
            </a:r>
            <a:r>
              <a:rPr lang="zh-TW" altLang="en-US" b="1" i="0" u="none" strike="noStrike" kern="100" baseline="0" dirty="0" smtClean="0">
                <a:latin typeface="Arial"/>
                <a:ea typeface="標楷體"/>
              </a:rPr>
              <a:t>資訊十戒</a:t>
            </a:r>
            <a:r>
              <a:rPr lang="en-US" altLang="zh-TW" b="1" i="0" u="none" strike="noStrike" kern="100" baseline="0" dirty="0" smtClean="0">
                <a:latin typeface="Arial"/>
                <a:ea typeface="標楷體"/>
              </a:rPr>
              <a:t>』</a:t>
            </a:r>
            <a:r>
              <a:rPr lang="zh-TW" altLang="en-US" b="1" i="0" u="none" strike="noStrike" kern="100" baseline="0" dirty="0" smtClean="0">
                <a:latin typeface="Arial"/>
                <a:ea typeface="標楷體"/>
              </a:rPr>
              <a:t>，讓電腦使用者遵循相關禮儀與規範，例如：</a:t>
            </a:r>
          </a:p>
          <a:p>
            <a:pPr lvl="1"/>
            <a:r>
              <a:rPr lang="zh-TW" altLang="en-US" b="1" i="0" u="none" strike="noStrike" kern="100" baseline="0" dirty="0" smtClean="0">
                <a:latin typeface="Arial"/>
                <a:ea typeface="標楷體"/>
              </a:rPr>
              <a:t>使用電腦網誌或部落格 </a:t>
            </a:r>
            <a:r>
              <a:rPr lang="en-US" altLang="zh-TW" b="1" i="0" u="none" strike="noStrike" kern="100" baseline="0" dirty="0" smtClean="0">
                <a:latin typeface="Arial"/>
                <a:ea typeface="標楷體"/>
              </a:rPr>
              <a:t>(</a:t>
            </a:r>
            <a:r>
              <a:rPr lang="zh-TW" altLang="en-US" b="1" i="0" u="none" strike="noStrike" kern="100" baseline="0" dirty="0" smtClean="0">
                <a:latin typeface="Arial"/>
                <a:ea typeface="標楷體"/>
              </a:rPr>
              <a:t> </a:t>
            </a:r>
            <a:r>
              <a:rPr lang="en-US" altLang="zh-TW" b="1" i="0" u="none" strike="noStrike" kern="100" baseline="0" dirty="0" smtClean="0">
                <a:latin typeface="Arial"/>
                <a:ea typeface="標楷體"/>
              </a:rPr>
              <a:t>blog</a:t>
            </a:r>
            <a:r>
              <a:rPr lang="zh-TW" altLang="en-US" b="1" i="0" u="none" strike="noStrike" kern="100" baseline="0" dirty="0" smtClean="0">
                <a:latin typeface="Arial"/>
                <a:ea typeface="標楷體"/>
              </a:rPr>
              <a:t> </a:t>
            </a:r>
            <a:r>
              <a:rPr lang="en-US" altLang="zh-TW" b="1" i="0" u="none" strike="noStrike" kern="100" baseline="0" dirty="0" smtClean="0">
                <a:latin typeface="Arial"/>
                <a:ea typeface="標楷體"/>
              </a:rPr>
              <a:t>)</a:t>
            </a:r>
            <a:r>
              <a:rPr lang="zh-TW" altLang="en-US" b="1" i="0" u="none" strike="noStrike" kern="100" baseline="0" dirty="0" smtClean="0">
                <a:latin typeface="Arial"/>
                <a:ea typeface="標楷體"/>
              </a:rPr>
              <a:t>，發表傷害他人之言論，是違反資訊倫理的行為；</a:t>
            </a:r>
            <a:endParaRPr lang="en-US" altLang="zh-TW" b="1" i="0" u="none" strike="noStrike" kern="100" baseline="0" dirty="0" smtClean="0">
              <a:latin typeface="Arial"/>
              <a:ea typeface="標楷體"/>
            </a:endParaRPr>
          </a:p>
          <a:p>
            <a:pPr lvl="1"/>
            <a:r>
              <a:rPr lang="zh-TW" altLang="en-US" b="1" i="0" u="none" strike="noStrike" kern="100" baseline="0" dirty="0" smtClean="0">
                <a:latin typeface="Arial"/>
                <a:ea typeface="標楷體"/>
              </a:rPr>
              <a:t>使用 </a:t>
            </a:r>
            <a:r>
              <a:rPr lang="en-US" altLang="zh-TW" b="1" i="0" u="none" strike="noStrike" kern="100" baseline="0" dirty="0" smtClean="0">
                <a:latin typeface="Arial"/>
                <a:ea typeface="標楷體"/>
              </a:rPr>
              <a:t>P2P </a:t>
            </a:r>
            <a:r>
              <a:rPr lang="zh-TW" altLang="en-US" b="1" i="0" u="none" strike="noStrike" kern="100" baseline="0" dirty="0" smtClean="0">
                <a:latin typeface="Arial"/>
                <a:ea typeface="標楷體"/>
              </a:rPr>
              <a:t>軟體，如圖 </a:t>
            </a:r>
            <a:r>
              <a:rPr lang="en-US" altLang="zh-TW" b="1" i="0" u="none" strike="noStrike" kern="100" baseline="0" dirty="0" smtClean="0">
                <a:latin typeface="Arial"/>
                <a:ea typeface="標楷體"/>
              </a:rPr>
              <a:t>4-7</a:t>
            </a:r>
            <a:r>
              <a:rPr lang="zh-TW" altLang="en-US" b="1" i="0" u="none" strike="noStrike" kern="100" baseline="0" dirty="0" smtClean="0">
                <a:latin typeface="Arial"/>
                <a:ea typeface="標楷體"/>
              </a:rPr>
              <a:t>，下載有版權之音樂或</a:t>
            </a:r>
            <a:r>
              <a:rPr lang="zh-TW" altLang="en-US" b="1" i="0" u="none" strike="noStrike" kern="100" baseline="0" smtClean="0">
                <a:latin typeface="Arial"/>
                <a:ea typeface="標楷體"/>
              </a:rPr>
              <a:t>影片；或將</a:t>
            </a:r>
            <a:r>
              <a:rPr lang="zh-TW" altLang="en-US" b="1" i="0" u="none" strike="noStrike" kern="100" baseline="0" dirty="0" smtClean="0">
                <a:latin typeface="Arial"/>
                <a:ea typeface="標楷體"/>
              </a:rPr>
              <a:t>自己購買的音樂與影片，放置於自己電腦之網路分享區，供其他人下載使用，這些都是違反資訊倫理，更是侵犯智慧財產權的行為。</a:t>
            </a:r>
            <a:endParaRPr lang="zh-TW" altLang="en-US" b="1" i="0" u="none" strike="noStrike" kern="100" baseline="0" dirty="0" smtClean="0">
              <a:latin typeface="Times New Roman"/>
              <a:ea typeface="標楷體"/>
            </a:endParaRPr>
          </a:p>
        </p:txBody>
      </p:sp>
      <p:sp>
        <p:nvSpPr>
          <p:cNvPr id="4" name="日期版面配置區 3"/>
          <p:cNvSpPr>
            <a:spLocks noGrp="1"/>
          </p:cNvSpPr>
          <p:nvPr>
            <p:ph type="dt" sz="half" idx="10"/>
          </p:nvPr>
        </p:nvSpPr>
        <p:spPr/>
        <p:txBody>
          <a:bodyPr/>
          <a:lstStyle/>
          <a:p>
            <a:fld id="{13046369-6496-4FC3-A499-572C7EC29076}" type="datetime1">
              <a:rPr lang="zh-TW" altLang="en-US" smtClean="0"/>
              <a:t>2023/4/2</a:t>
            </a:fld>
            <a:endParaRPr lang="zh-TW" altLang="en-US"/>
          </a:p>
        </p:txBody>
      </p:sp>
      <p:sp>
        <p:nvSpPr>
          <p:cNvPr id="5" name="投影片編號版面配置區 4"/>
          <p:cNvSpPr>
            <a:spLocks noGrp="1"/>
          </p:cNvSpPr>
          <p:nvPr>
            <p:ph type="sldNum" sz="quarter" idx="12"/>
          </p:nvPr>
        </p:nvSpPr>
        <p:spPr/>
        <p:txBody>
          <a:bodyPr/>
          <a:lstStyle/>
          <a:p>
            <a:fld id="{5DDC22FF-AB65-4D90-9AB8-E808153956B4}" type="slidenum">
              <a:rPr lang="zh-TW" altLang="en-US" smtClean="0"/>
              <a:pPr/>
              <a:t>25</a:t>
            </a:fld>
            <a:endParaRPr lang="zh-TW" altLang="en-US"/>
          </a:p>
        </p:txBody>
      </p:sp>
    </p:spTree>
    <p:extLst>
      <p:ext uri="{BB962C8B-B14F-4D97-AF65-F5344CB8AC3E}">
        <p14:creationId xmlns:p14="http://schemas.microsoft.com/office/powerpoint/2010/main" val="300053454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411760" y="4725144"/>
            <a:ext cx="4604787" cy="369332"/>
          </a:xfrm>
          <a:prstGeom prst="rect">
            <a:avLst/>
          </a:prstGeom>
        </p:spPr>
        <p:txBody>
          <a:bodyPr wrap="none">
            <a:spAutoFit/>
          </a:bodyPr>
          <a:lstStyle/>
          <a:p>
            <a:r>
              <a:rPr lang="zh-TW" altLang="zh-TW" dirty="0"/>
              <a:t>圖</a:t>
            </a:r>
            <a:r>
              <a:rPr lang="en-US" altLang="zh-TW" dirty="0"/>
              <a:t>4-7  </a:t>
            </a:r>
            <a:r>
              <a:rPr lang="zh-TW" altLang="zh-TW" dirty="0"/>
              <a:t>使用</a:t>
            </a:r>
            <a:r>
              <a:rPr lang="en-US" altLang="zh-TW" dirty="0"/>
              <a:t>P2P </a:t>
            </a:r>
            <a:r>
              <a:rPr lang="zh-TW" altLang="zh-TW" dirty="0"/>
              <a:t>軟體下載或交換有版權檔案</a:t>
            </a:r>
          </a:p>
        </p:txBody>
      </p:sp>
      <p:sp>
        <p:nvSpPr>
          <p:cNvPr id="3" name="投影片編號版面配置區 2"/>
          <p:cNvSpPr>
            <a:spLocks noGrp="1"/>
          </p:cNvSpPr>
          <p:nvPr>
            <p:ph type="sldNum" sz="quarter" idx="10"/>
          </p:nvPr>
        </p:nvSpPr>
        <p:spPr/>
        <p:txBody>
          <a:bodyPr/>
          <a:lstStyle/>
          <a:p>
            <a:fld id="{5DDC22FF-AB65-4D90-9AB8-E808153956B4}" type="slidenum">
              <a:rPr lang="zh-TW" altLang="en-US" smtClean="0"/>
              <a:pPr/>
              <a:t>26</a:t>
            </a:fld>
            <a:endParaRPr lang="zh-TW" altLang="en-US"/>
          </a:p>
        </p:txBody>
      </p:sp>
      <p:pic>
        <p:nvPicPr>
          <p:cNvPr id="4098" name="Picture 2" descr="Fig 4-7  使用P2P 軟體下載或交換有版權檔案"/>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71800" y="1196753"/>
            <a:ext cx="3933959" cy="3456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78068167"/>
      </p:ext>
    </p:extLst>
  </p:cSld>
  <p:clrMapOvr>
    <a:masterClrMapping/>
  </p:clrMapOvr>
</p:sld>
</file>

<file path=ppt/theme/theme1.xml><?xml version="1.0" encoding="utf-8"?>
<a:theme xmlns:a="http://schemas.openxmlformats.org/drawingml/2006/main" name="ISLAB">
  <a:themeElements>
    <a:clrScheme name="預設簡報設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預設簡報設計">
      <a:majorFont>
        <a:latin typeface="Arial"/>
        <a:ea typeface="標楷體"/>
        <a:cs typeface=""/>
      </a:majorFont>
      <a:minorFont>
        <a:latin typeface="Arial"/>
        <a:ea typeface="標楷體"/>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預設簡報設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預設簡報設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預設簡報設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預設簡報設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預設簡報設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預設簡報設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預設簡報設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預設簡報設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預設簡報設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預設簡報設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預設簡報設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預設簡報設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ISLAB" id="{78D3C854-0FA5-4D21-AB5C-31870DC13A2F}" vid="{9F0E795E-DA35-4776-B2ED-B53060D2A295}"/>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ISLAB</Template>
  <TotalTime>56</TotalTime>
  <Words>2786</Words>
  <Application>Microsoft Office PowerPoint</Application>
  <PresentationFormat>如螢幕大小 (4:3)</PresentationFormat>
  <Paragraphs>163</Paragraphs>
  <Slides>26</Slides>
  <Notes>1</Notes>
  <HiddenSlides>0</HiddenSlides>
  <MMClips>0</MMClips>
  <ScaleCrop>false</ScaleCrop>
  <HeadingPairs>
    <vt:vector size="8" baseType="variant">
      <vt:variant>
        <vt:lpstr>使用字型</vt:lpstr>
      </vt:variant>
      <vt:variant>
        <vt:i4>7</vt:i4>
      </vt:variant>
      <vt:variant>
        <vt:lpstr>佈景主題</vt:lpstr>
      </vt:variant>
      <vt:variant>
        <vt:i4>1</vt:i4>
      </vt:variant>
      <vt:variant>
        <vt:lpstr>內嵌 OLE 伺服程式</vt:lpstr>
      </vt:variant>
      <vt:variant>
        <vt:i4>0</vt:i4>
      </vt:variant>
      <vt:variant>
        <vt:lpstr>投影片標題</vt:lpstr>
      </vt:variant>
      <vt:variant>
        <vt:i4>26</vt:i4>
      </vt:variant>
    </vt:vector>
  </HeadingPairs>
  <TitlesOfParts>
    <vt:vector size="34" baseType="lpstr">
      <vt:lpstr>新細明體</vt:lpstr>
      <vt:lpstr>標楷體</vt:lpstr>
      <vt:lpstr>Arial</vt:lpstr>
      <vt:lpstr>Calibri</vt:lpstr>
      <vt:lpstr>Goudy Old Style</vt:lpstr>
      <vt:lpstr>Times New Roman</vt:lpstr>
      <vt:lpstr>Wingdings</vt:lpstr>
      <vt:lpstr>ISLAB</vt:lpstr>
      <vt:lpstr>第04章 資訊安全法律與倫理</vt:lpstr>
      <vt:lpstr>第04章 資訊安全法律與倫理</vt:lpstr>
      <vt:lpstr>4.1 前言</vt:lpstr>
      <vt:lpstr>4.2 智慧財產權</vt:lpstr>
      <vt:lpstr>PowerPoint 簡報</vt:lpstr>
      <vt:lpstr>4.2.1 著作權</vt:lpstr>
      <vt:lpstr>PowerPoint 簡報</vt:lpstr>
      <vt:lpstr>PowerPoint 簡報</vt:lpstr>
      <vt:lpstr>4.2.2 商標與商標權</vt:lpstr>
      <vt:lpstr>4.2.3 專利與專利權</vt:lpstr>
      <vt:lpstr>PowerPoint 簡報</vt:lpstr>
      <vt:lpstr>4.2.4 營業秘密與競業禁止</vt:lpstr>
      <vt:lpstr>競業禁止</vt:lpstr>
      <vt:lpstr>4.3 網際網路相關的法律</vt:lpstr>
      <vt:lpstr>4.3.1 電子簽章法</vt:lpstr>
      <vt:lpstr>數位簽章流程</vt:lpstr>
      <vt:lpstr>PowerPoint 簡報</vt:lpstr>
      <vt:lpstr>公開金鑰基礎建設</vt:lpstr>
      <vt:lpstr>PowerPoint 簡報</vt:lpstr>
      <vt:lpstr>4.3.2通訊保障及監察法</vt:lpstr>
      <vt:lpstr>4.3.3 隱私權與個人資料保護</vt:lpstr>
      <vt:lpstr> 4.3.4 個人資料保護法</vt:lpstr>
      <vt:lpstr>4.3.5. 歐盟通用資料保護規範</vt:lpstr>
      <vt:lpstr>4.4 電腦鑑識與數位證據</vt:lpstr>
      <vt:lpstr>4.5 資訊倫理</vt:lpstr>
      <vt:lpstr>PowerPoint 簡報</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第四章 資訊安全法律與倫理</dc:title>
  <dc:creator>東光一號</dc:creator>
  <cp:lastModifiedBy>User</cp:lastModifiedBy>
  <cp:revision>49</cp:revision>
  <dcterms:created xsi:type="dcterms:W3CDTF">2016-02-14T09:39:31Z</dcterms:created>
  <dcterms:modified xsi:type="dcterms:W3CDTF">2023-04-01T16:18:33Z</dcterms:modified>
</cp:coreProperties>
</file>