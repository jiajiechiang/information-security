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0"/>
  </p:notesMasterIdLst>
  <p:sldIdLst>
    <p:sldId id="280" r:id="rId2"/>
    <p:sldId id="256" r:id="rId3"/>
    <p:sldId id="258" r:id="rId4"/>
    <p:sldId id="281" r:id="rId5"/>
    <p:sldId id="28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3" r:id="rId17"/>
    <p:sldId id="269" r:id="rId18"/>
    <p:sldId id="284" r:id="rId19"/>
    <p:sldId id="270" r:id="rId20"/>
    <p:sldId id="271" r:id="rId21"/>
    <p:sldId id="272" r:id="rId22"/>
    <p:sldId id="285" r:id="rId23"/>
    <p:sldId id="273" r:id="rId24"/>
    <p:sldId id="274" r:id="rId25"/>
    <p:sldId id="286" r:id="rId26"/>
    <p:sldId id="287" r:id="rId27"/>
    <p:sldId id="275" r:id="rId28"/>
    <p:sldId id="288" r:id="rId29"/>
    <p:sldId id="276" r:id="rId30"/>
    <p:sldId id="290" r:id="rId31"/>
    <p:sldId id="289" r:id="rId32"/>
    <p:sldId id="277" r:id="rId33"/>
    <p:sldId id="291" r:id="rId34"/>
    <p:sldId id="294" r:id="rId35"/>
    <p:sldId id="292" r:id="rId36"/>
    <p:sldId id="278" r:id="rId37"/>
    <p:sldId id="279" r:id="rId38"/>
    <p:sldId id="293" r:id="rId3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8A5C0-57BF-4F14-91FC-9F163D11A7A4}" type="datetimeFigureOut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3A04C-73AF-4579-8E8E-8C0FB7B142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109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0" y="0"/>
            <a:ext cx="9107488" cy="6796088"/>
            <a:chOff x="0" y="0"/>
            <a:chExt cx="5737" cy="4281"/>
          </a:xfrm>
        </p:grpSpPr>
        <p:grpSp>
          <p:nvGrpSpPr>
            <p:cNvPr id="5" name="Group 36"/>
            <p:cNvGrpSpPr>
              <a:grpSpLocks/>
            </p:cNvGrpSpPr>
            <p:nvPr/>
          </p:nvGrpSpPr>
          <p:grpSpPr bwMode="auto">
            <a:xfrm>
              <a:off x="4694" y="164"/>
              <a:ext cx="1043" cy="318"/>
              <a:chOff x="4876" y="193"/>
              <a:chExt cx="839" cy="289"/>
            </a:xfrm>
          </p:grpSpPr>
          <p:pic>
            <p:nvPicPr>
              <p:cNvPr id="26" name="Picture 4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76" y="193"/>
                <a:ext cx="839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7" name="Group 49"/>
              <p:cNvGrpSpPr>
                <a:grpSpLocks/>
              </p:cNvGrpSpPr>
              <p:nvPr/>
            </p:nvGrpSpPr>
            <p:grpSpPr bwMode="auto">
              <a:xfrm rot="971029">
                <a:off x="5535" y="317"/>
                <a:ext cx="40" cy="60"/>
                <a:chOff x="1604" y="9751"/>
                <a:chExt cx="297" cy="509"/>
              </a:xfrm>
            </p:grpSpPr>
            <p:sp>
              <p:nvSpPr>
                <p:cNvPr id="28" name="Oval 50"/>
                <p:cNvSpPr>
                  <a:spLocks noChangeArrowheads="1"/>
                </p:cNvSpPr>
                <p:nvPr/>
              </p:nvSpPr>
              <p:spPr bwMode="auto">
                <a:xfrm>
                  <a:off x="1599" y="9745"/>
                  <a:ext cx="299" cy="324"/>
                </a:xfrm>
                <a:prstGeom prst="ellipse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  <p:sp>
              <p:nvSpPr>
                <p:cNvPr id="29" name="Rectangle 51"/>
                <p:cNvSpPr>
                  <a:spLocks noChangeArrowheads="1"/>
                </p:cNvSpPr>
                <p:nvPr/>
              </p:nvSpPr>
              <p:spPr bwMode="auto">
                <a:xfrm>
                  <a:off x="1669" y="10042"/>
                  <a:ext cx="149" cy="216"/>
                </a:xfrm>
                <a:prstGeom prst="rect">
                  <a:avLst/>
                </a:prstGeom>
                <a:solidFill>
                  <a:srgbClr val="5F497A"/>
                </a:solidFill>
                <a:ln w="9525">
                  <a:solidFill>
                    <a:srgbClr val="5F497A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zh-TW" altLang="en-US">
                    <a:latin typeface="+mn-lt"/>
                    <a:ea typeface="+mn-ea"/>
                  </a:endParaRPr>
                </a:p>
              </p:txBody>
            </p:sp>
          </p:grpSp>
        </p:grpSp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1066" y="2432"/>
              <a:ext cx="4037" cy="862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7" name="Rectangle 2"/>
            <p:cNvSpPr>
              <a:spLocks noChangeArrowheads="1"/>
            </p:cNvSpPr>
            <p:nvPr/>
          </p:nvSpPr>
          <p:spPr bwMode="auto">
            <a:xfrm>
              <a:off x="476" y="1071"/>
              <a:ext cx="5080" cy="1180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8" name="Picture 4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970"/>
              <a:ext cx="2676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3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4066"/>
              <a:ext cx="240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20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709"/>
              <a:ext cx="408" cy="3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18"/>
            <p:cNvGrpSpPr>
              <a:grpSpLocks/>
            </p:cNvGrpSpPr>
            <p:nvPr/>
          </p:nvGrpSpPr>
          <p:grpSpPr bwMode="auto">
            <a:xfrm rot="5400000">
              <a:off x="3085" y="-1730"/>
              <a:ext cx="300" cy="4286"/>
              <a:chOff x="4380" y="2475"/>
              <a:chExt cx="750" cy="6551"/>
            </a:xfrm>
          </p:grpSpPr>
          <p:cxnSp>
            <p:nvCxnSpPr>
              <p:cNvPr id="15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3" name="圖片 29" descr="Thu_logo.gif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" y="3711"/>
              <a:ext cx="570" cy="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" y="3866"/>
              <a:ext cx="2269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1916113"/>
            <a:ext cx="7772400" cy="1470025"/>
          </a:xfrm>
        </p:spPr>
        <p:txBody>
          <a:bodyPr/>
          <a:lstStyle>
            <a:lvl1pPr algn="ctr">
              <a:defRPr sz="36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63713" y="4076700"/>
            <a:ext cx="6335712" cy="1198563"/>
          </a:xfrm>
        </p:spPr>
        <p:txBody>
          <a:bodyPr/>
          <a:lstStyle>
            <a:lvl1pPr marL="0" indent="0" algn="ctr">
              <a:buFont typeface="Arial" charset="0"/>
              <a:buNone/>
              <a:defRPr sz="2800"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 dirty="0"/>
          </a:p>
        </p:txBody>
      </p:sp>
      <p:sp>
        <p:nvSpPr>
          <p:cNvPr id="30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659563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itchFamily="18" charset="0"/>
                <a:ea typeface="+mn-ea"/>
              </a:defRPr>
            </a:lvl1pPr>
          </a:lstStyle>
          <a:p>
            <a:fld id="{7106D9A5-4572-4FE6-90DA-953F3EC2981A}" type="datetime1">
              <a:rPr lang="zh-TW" altLang="en-US" smtClean="0"/>
              <a:t>2023/3/31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24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37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66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288" y="1600200"/>
            <a:ext cx="4171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19638" y="1600200"/>
            <a:ext cx="417353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4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13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34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276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3423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535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92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69100" y="274638"/>
            <a:ext cx="2124075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95288" y="274638"/>
            <a:ext cx="6221412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964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7A1EE8-5553-4B4E-8B65-7C611B7B99C4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86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8"/>
          <p:cNvGrpSpPr>
            <a:grpSpLocks/>
          </p:cNvGrpSpPr>
          <p:nvPr/>
        </p:nvGrpSpPr>
        <p:grpSpPr bwMode="auto">
          <a:xfrm>
            <a:off x="0" y="241300"/>
            <a:ext cx="9028113" cy="6621463"/>
            <a:chOff x="0" y="152"/>
            <a:chExt cx="5687" cy="4171"/>
          </a:xfrm>
        </p:grpSpPr>
        <p:pic>
          <p:nvPicPr>
            <p:cNvPr id="1030" name="Picture 2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82"/>
              <a:ext cx="703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31" name="Group 18"/>
            <p:cNvGrpSpPr>
              <a:grpSpLocks/>
            </p:cNvGrpSpPr>
            <p:nvPr/>
          </p:nvGrpSpPr>
          <p:grpSpPr bwMode="auto">
            <a:xfrm rot="5400000">
              <a:off x="2980" y="1897"/>
              <a:ext cx="300" cy="4399"/>
              <a:chOff x="4380" y="2475"/>
              <a:chExt cx="750" cy="6551"/>
            </a:xfrm>
          </p:grpSpPr>
          <p:cxnSp>
            <p:nvCxnSpPr>
              <p:cNvPr id="1037" name="AutoShape 19"/>
              <p:cNvCxnSpPr>
                <a:cxnSpLocks noChangeShapeType="1"/>
              </p:cNvCxnSpPr>
              <p:nvPr/>
            </p:nvCxnSpPr>
            <p:spPr bwMode="auto">
              <a:xfrm>
                <a:off x="4500" y="7276"/>
                <a:ext cx="450" cy="104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8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4380" y="7380"/>
                <a:ext cx="570" cy="69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9" name="AutoShape 21"/>
              <p:cNvCxnSpPr>
                <a:cxnSpLocks noChangeShapeType="1"/>
              </p:cNvCxnSpPr>
              <p:nvPr/>
            </p:nvCxnSpPr>
            <p:spPr bwMode="auto">
              <a:xfrm>
                <a:off x="4380" y="7449"/>
                <a:ext cx="75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0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4500" y="7530"/>
                <a:ext cx="630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1" name="AutoShape 23"/>
              <p:cNvCxnSpPr>
                <a:cxnSpLocks noChangeShapeType="1"/>
              </p:cNvCxnSpPr>
              <p:nvPr/>
            </p:nvCxnSpPr>
            <p:spPr bwMode="auto">
              <a:xfrm>
                <a:off x="4500" y="7611"/>
                <a:ext cx="420" cy="80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2" name="AutoShape 24"/>
              <p:cNvCxnSpPr>
                <a:cxnSpLocks noChangeShapeType="1"/>
              </p:cNvCxnSpPr>
              <p:nvPr/>
            </p:nvCxnSpPr>
            <p:spPr bwMode="auto">
              <a:xfrm flipH="1">
                <a:off x="4575" y="7691"/>
                <a:ext cx="345" cy="82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3" name="AutoShape 25"/>
              <p:cNvCxnSpPr>
                <a:cxnSpLocks noChangeShapeType="1"/>
              </p:cNvCxnSpPr>
              <p:nvPr/>
            </p:nvCxnSpPr>
            <p:spPr bwMode="auto">
              <a:xfrm>
                <a:off x="4575" y="7773"/>
                <a:ext cx="37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4" name="AutoShape 26"/>
              <p:cNvCxnSpPr>
                <a:cxnSpLocks noChangeShapeType="1"/>
              </p:cNvCxnSpPr>
              <p:nvPr/>
            </p:nvCxnSpPr>
            <p:spPr bwMode="auto">
              <a:xfrm flipH="1">
                <a:off x="4500" y="7195"/>
                <a:ext cx="31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5" name="AutoShape 27"/>
              <p:cNvCxnSpPr>
                <a:cxnSpLocks noChangeShapeType="1"/>
              </p:cNvCxnSpPr>
              <p:nvPr/>
            </p:nvCxnSpPr>
            <p:spPr bwMode="auto">
              <a:xfrm flipH="1">
                <a:off x="4725" y="7854"/>
                <a:ext cx="195" cy="8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6" name="AutoShape 28"/>
              <p:cNvCxnSpPr>
                <a:cxnSpLocks noChangeShapeType="1"/>
              </p:cNvCxnSpPr>
              <p:nvPr/>
            </p:nvCxnSpPr>
            <p:spPr bwMode="auto">
              <a:xfrm>
                <a:off x="4725" y="7935"/>
                <a:ext cx="0" cy="1091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7" name="AutoShape 29"/>
              <p:cNvCxnSpPr>
                <a:cxnSpLocks noChangeShapeType="1"/>
              </p:cNvCxnSpPr>
              <p:nvPr/>
            </p:nvCxnSpPr>
            <p:spPr bwMode="auto">
              <a:xfrm>
                <a:off x="4816" y="2475"/>
                <a:ext cx="0" cy="4717"/>
              </a:xfrm>
              <a:prstGeom prst="straightConnector1">
                <a:avLst/>
              </a:prstGeom>
              <a:noFill/>
              <a:ln w="25400">
                <a:solidFill>
                  <a:srgbClr val="8DB3E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032" name="Picture 34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4133"/>
              <a:ext cx="214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3" name="Picture 2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7" y="3906"/>
              <a:ext cx="420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"/>
            <p:cNvSpPr>
              <a:spLocks noChangeArrowheads="1"/>
            </p:cNvSpPr>
            <p:nvPr/>
          </p:nvSpPr>
          <p:spPr bwMode="auto">
            <a:xfrm>
              <a:off x="204" y="152"/>
              <a:ext cx="5398" cy="735"/>
            </a:xfrm>
            <a:prstGeom prst="rect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204" y="935"/>
              <a:ext cx="5398" cy="2903"/>
            </a:xfrm>
            <a:prstGeom prst="rect">
              <a:avLst/>
            </a:prstGeom>
            <a:gradFill rotWithShape="1">
              <a:gsLst>
                <a:gs pos="0">
                  <a:srgbClr val="E7FFFD"/>
                </a:gs>
                <a:gs pos="50000">
                  <a:srgbClr val="FFFFFF"/>
                </a:gs>
                <a:gs pos="100000">
                  <a:srgbClr val="E7FFFD"/>
                </a:gs>
              </a:gsLst>
              <a:lin ang="5400000" scaled="1"/>
            </a:gra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AEEF3"/>
              </a:outerShdw>
            </a:effec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pic>
          <p:nvPicPr>
            <p:cNvPr id="1036" name="Picture 26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" y="3942"/>
              <a:ext cx="292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274638"/>
            <a:ext cx="8435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600200"/>
            <a:ext cx="849788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51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47813" y="6453188"/>
            <a:ext cx="477837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oudy Old Style" panose="02020502050305020303" pitchFamily="18" charset="0"/>
              </a:defRPr>
            </a:lvl1pPr>
          </a:lstStyle>
          <a:p>
            <a:fld id="{D8A716BD-A6C1-4D77-8BE6-B9573E24932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603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標楷體" pitchFamily="65" charset="-120"/>
          <a:cs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8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panose="020B0604020202020204" pitchFamily="34" charset="0"/>
        <a:buChar char="●"/>
        <a:defRPr kumimoji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8EB4E3"/>
        </a:buClr>
        <a:buFont typeface="Arial" charset="0"/>
        <a:buChar char="●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第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03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章 實體安全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C3C15-EFDB-4FBC-B586-3A25CB3BE9B3}" type="datetime1">
              <a:rPr lang="zh-TW" altLang="en-US" smtClean="0"/>
              <a:t>2023/3/31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779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第</a:t>
            </a:r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03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章 實體安全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本章探討實體安全，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包含管理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面、環境設計、支援系統，與實體安全技術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，介紹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議題如：冷暖氣與通風系統、火災防護與消防系統、監視系統等。本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章包含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3.1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	實體安全的威脅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3.2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	實體安全管理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3.3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	環境安全與安全設施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3.4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	支援系統安全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3.5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	實體安全技術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F567-F791-4D5F-A179-4D2771E47F18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82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3.1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實體安全的威脅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資訊資產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information assets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常會遭受破壞，資訊資產面臨的威脅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threats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如表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3-1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所示。</a:t>
            </a: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企業組織要達成資訊安全需求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information security requirements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</a:t>
            </a:r>
            <a:r>
              <a:rPr lang="zh-TW" altLang="en-US" b="1" kern="100" dirty="0" smtClean="0">
                <a:latin typeface="Arial"/>
              </a:rPr>
              <a:t>從</a:t>
            </a:r>
            <a:r>
              <a:rPr lang="en-US" altLang="zh-TW" b="1" kern="100" dirty="0">
                <a:latin typeface="Arial"/>
              </a:rPr>
              <a:t>CIA</a:t>
            </a:r>
            <a:r>
              <a:rPr lang="zh-TW" altLang="en-US" b="1" kern="100" dirty="0">
                <a:latin typeface="Arial"/>
              </a:rPr>
              <a:t>三原則來看，即是要如何確保人員、設施、與資料的安全性 </a:t>
            </a:r>
            <a:r>
              <a:rPr lang="en-US" altLang="zh-TW" b="1" kern="100" dirty="0">
                <a:latin typeface="Arial"/>
              </a:rPr>
              <a:t>( </a:t>
            </a:r>
            <a:r>
              <a:rPr lang="zh-TW" altLang="en-US" b="1" kern="100" dirty="0">
                <a:latin typeface="Arial"/>
              </a:rPr>
              <a:t>機密性 </a:t>
            </a:r>
            <a:r>
              <a:rPr lang="en-US" altLang="zh-TW" b="1" kern="100" dirty="0">
                <a:latin typeface="Arial"/>
              </a:rPr>
              <a:t>)</a:t>
            </a:r>
            <a:r>
              <a:rPr lang="zh-TW" altLang="en-US" b="1" kern="100" dirty="0">
                <a:latin typeface="Arial"/>
              </a:rPr>
              <a:t>、資產的完整性、以及所有資源的可用性</a:t>
            </a:r>
            <a:r>
              <a:rPr lang="zh-TW" altLang="en-US" b="1" kern="100" dirty="0" smtClean="0">
                <a:latin typeface="Arial"/>
              </a:rPr>
              <a:t>。如</a:t>
            </a:r>
            <a:r>
              <a:rPr lang="zh-TW" altLang="en-US" b="1" kern="100" dirty="0">
                <a:latin typeface="Arial"/>
              </a:rPr>
              <a:t>圖 </a:t>
            </a:r>
            <a:r>
              <a:rPr lang="en-US" altLang="zh-TW" b="1" kern="100" dirty="0" smtClean="0">
                <a:latin typeface="Arial"/>
              </a:rPr>
              <a:t>3-1 </a:t>
            </a:r>
            <a:r>
              <a:rPr lang="zh-TW" altLang="en-US" b="1" kern="100" dirty="0" smtClean="0">
                <a:latin typeface="Arial"/>
              </a:rPr>
              <a:t>實體</a:t>
            </a:r>
            <a:r>
              <a:rPr lang="zh-TW" altLang="en-US" b="1" kern="100" dirty="0">
                <a:latin typeface="Arial"/>
              </a:rPr>
              <a:t>安全與資訊安全三</a:t>
            </a:r>
            <a:r>
              <a:rPr lang="zh-TW" altLang="en-US" b="1" kern="100" dirty="0" smtClean="0">
                <a:latin typeface="Arial"/>
              </a:rPr>
              <a:t>原則。</a:t>
            </a:r>
            <a:endParaRPr lang="zh-TW" altLang="en-US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技術面需從環境安全開始著手，包含諸如：機房位置選定、建築物安全、安全設施的整體設計等方面。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甚至支援系統的安全也需要考量，包含：電力系統、溫度冷熱與通風系統、水冷卻幫浦系統、或消防系統皆需要有妥善的規劃與管理。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1EAFB-C676-4DEC-9C77-2970A7F227B6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946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3848" y="1572651"/>
            <a:ext cx="29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 </a:t>
            </a:r>
            <a:r>
              <a:rPr lang="en-US" altLang="zh-TW" dirty="0"/>
              <a:t>3-1 </a:t>
            </a:r>
            <a:r>
              <a:rPr lang="zh-TW" altLang="zh-TW" dirty="0"/>
              <a:t>資訊資產面臨的威脅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448180"/>
              </p:ext>
            </p:extLst>
          </p:nvPr>
        </p:nvGraphicFramePr>
        <p:xfrm>
          <a:off x="1835696" y="2204865"/>
          <a:ext cx="5832648" cy="2232247"/>
        </p:xfrm>
        <a:graphic>
          <a:graphicData uri="http://schemas.openxmlformats.org/drawingml/2006/table">
            <a:tbl>
              <a:tblPr/>
              <a:tblGrid>
                <a:gridCol w="1500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2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類 別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內 容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自然災害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地震、水災、暴風雨、龍捲風、火山爆發。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支援系統失誤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通訊系統失效、電力消失、水幫浦故障。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人為破壞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爆裂物、惡意員工、操作失誤、罷工。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政治因素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戰爭、恐怖攻擊。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371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62512" y="4725144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 smtClean="0"/>
              <a:t>3-1</a:t>
            </a:r>
            <a:r>
              <a:rPr lang="zh-TW" altLang="en-US" dirty="0" smtClean="0"/>
              <a:t> 實體</a:t>
            </a:r>
            <a:r>
              <a:rPr lang="zh-TW" altLang="en-US" dirty="0"/>
              <a:t>安全與資訊安全三</a:t>
            </a:r>
            <a:r>
              <a:rPr lang="zh-TW" altLang="en-US" dirty="0" smtClean="0"/>
              <a:t>原則</a:t>
            </a:r>
            <a:endParaRPr lang="zh-TW" altLang="zh-TW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293" y="1412776"/>
            <a:ext cx="5772912" cy="31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76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0" i="0" u="none" strike="noStrike" kern="100" baseline="0" dirty="0" smtClean="0">
                <a:latin typeface="Times New Roman"/>
                <a:ea typeface="標楷體"/>
              </a:rPr>
              <a:t>	</a:t>
            </a:r>
            <a:r>
              <a:rPr lang="en-US" altLang="zh-TW" b="1" i="0" u="none" strike="noStrike" kern="2600" baseline="0" dirty="0" smtClean="0">
                <a:latin typeface="Arial"/>
                <a:ea typeface="標楷體"/>
              </a:rPr>
              <a:t>3.2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實體安全管理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由於網路通訊發達、無線通訊普及，資訊資產儲存量大增與伺服器運算功能快速提昇，電腦能處理大量資訊，服務層面無限延伸，機房設施更顯重要。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機房如無法正常運作，整個企業或組織的營運也將立刻停頓，造成巨大財務損失。再者，資訊設施的軟硬體功能日愈複雜，因此，實體安全之管理實在更顯重要。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依據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2003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年美國聯邦調查局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FBI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電腦犯罪與安全研究報告，安全威脅主要來自於內部人員，對內部實體設施侵入並存取資源，盜取有價值資訊資產。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實體安全管理，主管與員工都有責任，都需要參與投入，主管需要盡到管理服務之職責，員工也要確實接受相關教育訓練課程並參與各種演習。對於各項實體安全設施，必須不斷測試其功能並改善其缺失。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D971B-471F-4929-AAE4-5FA41E571D5C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872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3.2.1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管理服務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在管理服務上，組織的安全主管需要建立與增進現有實體安全流程，安全主管需與管理階層定義實體安全流程的目標，設計實體安全流程，與實施實體安全流程，並評估流程，作為循環改進的依據。</a:t>
            </a:r>
          </a:p>
          <a:p>
            <a:pPr marR="0" lvl="0" rtl="0"/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實體安全需整合人員、流程、步驟、和設備，要設計合適的安全流程，需要先做資產評估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 asset assessment ) 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與風險評估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smtClean="0">
                <a:latin typeface="Arial"/>
                <a:ea typeface="標楷體"/>
              </a:rPr>
              <a:t>risk assessment )</a:t>
            </a:r>
            <a:r>
              <a:rPr lang="zh-TW" altLang="en-US" b="1" i="0" u="none" strike="noStrike" kern="100" baseline="0" smtClean="0">
                <a:latin typeface="Arial"/>
                <a:ea typeface="標楷體"/>
              </a:rPr>
              <a:t>。</a:t>
            </a: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實體安全的目標需要針對公司不同資產的需求，設置不同的實體安全流程，並要符合可接受程度的風險。</a:t>
            </a:r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0289-A377-4294-8F28-97E74494DEC2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88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3.2.2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人員訓練與演習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員工習慣常態的工作模式與自己的作業流程，一旦變成千篇一律的作業方式，就容易疏忽安全管理上應該要注意的事項。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為了讓員工了解自己的安全責任，導入安全測試或演習是必要的，安全測試或演習的內容由安全主管設計與引導實施。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為了安全目標，員工必須反覆練習直到熟練為止，才能降低意外事故的傷害。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為避免意外事故發生或降低災害損失，平時就需要成立災害反應小組，指派每人應有的任務，每個人員都要擔任相關救災與救援的部分工作。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並且定期或不定期，進行資訊安全演習，以便檢視災害反應小組是否能順利進行相關工作。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5415-07D6-4923-821A-A3ECAFA64AC0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52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3.2.3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安全測試與查核清單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安全測試可提供每項設施的脆弱性評估，以確實辨識各項設備或機制的弱點，進而加以強化其安全性。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例如，以門禁系統而言，測試使用假造或變造的卡片、識別證等，是否可以輕易進入機房內部？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各項安全測試實施完成後，需要撰寫測試報告，將報告送給安全小組進行評估，並找出安全弱點與解決方案。組織的測試人員是需要受管制的，應該僅了解測試知識即可以，否則公司恐有遭到機密外洩的危險。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安全測試後需要建立查核清單，有助於列管與辨識，甚至每半年或一年需要檢討一次。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9A961-DAAF-4329-BE12-863F6059B700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48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3.2.4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人員安全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組織最重要的資產是員工，人員安全是最重要的安全議題。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當危難事件發生時，人員撤離是首要任務，整個組織需要設置必要的安全出口，或逃生通道。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平時應禁止各種器物堵住逃生通道，並防止員工從緊急通道進出，以免一旦火災發生時，人員無法順暢疏散，造成不必要的傷亡。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緊急出入口，平時需要經常檢查，保持其暢通，在緊急危難發生時，才能發揮快速疏散的功用。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93CA-84CC-4E7A-A1DB-409A7E5B4940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68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3.2.5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人員管控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人員控管的範圍很廣，包含工作場所區域與進出動線的規劃，甚至在僱用員工時的身家調查。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離職與調職時需要安撫與了解離開的原因，以預防心懷不滿的員工對公司進行報復與破壞等，都是人員控管相關的工作項目。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3B63-3BF9-45D1-A2AD-27F36EF3EE22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66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3.3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環境安全與安全設施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在環境選定與建築物設計時，就需要考量安全因素，即是犯罪防治環境設計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crime prevention through environment design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CPTED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所強調的概念。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在選定機房等重要地點時，環境區域需要考量的因素很多，例如：自然災害（颱風、地震），電力供應，交通因素、犯罪率、鄰居、緊急事故處理單位、圍牆、大門、檢查哨等等。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對於環境區域實施保護措施，例如：管制車輛進出、人員進出、訪客進出與陪同。並且應該設置必要的安全防護措施，例如：感應燈光、偵測系統，以防止人員隨意進出。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97C1-9A4C-4ECA-835C-3AF2E2B73C44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665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3.3.1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位置選定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重要資訊設施，設置或存放位置的選定是安全的第一步，需考慮下列因素：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交通設施因素：離機場與主要交通要道有多遠？ 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緊急支援因素：消防隊有多遠？ 能量是否足夠？ 醫院有多遠？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自然災害因素：地震、水災、風災等機率與危害程度？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區域阻隔問題：需考慮是否附近建築物會阻擋通訊或工廠產生干擾等因素？</a:t>
            </a:r>
          </a:p>
          <a:p>
            <a:pPr lvl="1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安全因素：該地點是否容易經常有暴動，動亂或容易遭受攻擊？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DBA6-EFD0-4A3A-AEF3-1FA8090F49BF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76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3.3.2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建築物安全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建築物的建構包含牆、窗、門、和相關支援設施，如水管、瓦斯管、電力設施等，都需要考量。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建築物在建造時，需考慮自然災害危害程度與實際需求，在地震頻繁地區，建築物需要考慮耐震程度。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建築物從天花板到地板，需採用防火、抗震、抗破壞的材料。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機房的位置，需要方便的水源供應與考慮管線線路與佈線問題、以及空間與樓層的規劃。地板需要考量承載重量、以及排水問題。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01069-0198-4CF2-B0C3-4A3F301F86F1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58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3.3.3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安全設施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建築物需要區分不同等級的安全區域，以便分區控管，我們以環狀配置來解釋，如圖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3-2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，將建築物區分成不同的控管區域，越內部的區域管制越嚴格。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只有系統管理人員才能進入資訊設施機房，機房應設置於建築物最安全內部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3-3)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，且機房的設計並非人員經常停留之處，其通道狹小，低溫、照明度低。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安全設施包含保護環境安全的設施之設置，如圍牆、圍籬、進出通道管制、建築物之進入點，需要搭配實體安全設施，如感應燈光、監視系統、入侵偵測等安全設備。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94AB9-9106-4D62-97D0-FD0DA4697761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807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475656" y="4797152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3-2 </a:t>
            </a:r>
            <a:r>
              <a:rPr lang="zh-TW" altLang="zh-TW" dirty="0"/>
              <a:t>分區控管示意圖</a:t>
            </a:r>
          </a:p>
        </p:txBody>
      </p:sp>
      <p:sp>
        <p:nvSpPr>
          <p:cNvPr id="7" name="矩形 6"/>
          <p:cNvSpPr/>
          <p:nvPr/>
        </p:nvSpPr>
        <p:spPr>
          <a:xfrm>
            <a:off x="5436096" y="4609093"/>
            <a:ext cx="29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3-3 </a:t>
            </a:r>
            <a:r>
              <a:rPr lang="zh-TW" altLang="zh-TW" dirty="0"/>
              <a:t>機房設置位置示意圖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16</a:t>
            </a:fld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844824"/>
            <a:ext cx="4097137" cy="284464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689" y="2067363"/>
            <a:ext cx="3969663" cy="243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12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3.4.1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電力系統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主要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電力系統與備援電力，需要考量接地、雜訊、突波與瞬斷、獨立配電、緊急斷電措施、保護電力設施、主配電盤與總開關、變壓器、與電線等因素。</a:t>
            </a:r>
          </a:p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不斷電系統 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( uninterruptible power supply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；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 )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是電力設備的基本設施，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功率從小電池到柴油發電機都有系列產品，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依照功能可分為三類，如表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3-2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</a:p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不斷電系統通常是線上式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UPS</a:t>
            </a:r>
            <a:r>
              <a:rPr lang="zh-TW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與離線式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一併使用，電力中斷時，先由線上式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零時差供應電源，在幾分鐘內，由離線式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 UPS (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如柴油發電機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 ) 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接續供應電源。</a:t>
            </a:r>
          </a:p>
          <a:p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備援電力系統需要定期維護與測試，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UPS</a:t>
            </a:r>
            <a:r>
              <a:rPr lang="zh-TW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使用柴油發電機，也需考慮供油量與供油來源，並注意發電機之維護。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FAD9-B5FB-4A56-B057-D2FDA2073FE7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31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63888" y="1052736"/>
            <a:ext cx="18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</a:t>
            </a:r>
            <a:r>
              <a:rPr lang="en-US" altLang="zh-TW" dirty="0"/>
              <a:t>3-2 UPS </a:t>
            </a:r>
            <a:r>
              <a:rPr lang="zh-TW" altLang="zh-TW" dirty="0"/>
              <a:t>的類別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18</a:t>
            </a:fld>
            <a:endParaRPr lang="zh-TW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640327"/>
              </p:ext>
            </p:extLst>
          </p:nvPr>
        </p:nvGraphicFramePr>
        <p:xfrm>
          <a:off x="2016413" y="1700808"/>
          <a:ext cx="5832648" cy="2682240"/>
        </p:xfrm>
        <a:graphic>
          <a:graphicData uri="http://schemas.openxmlformats.org/drawingml/2006/table">
            <a:tbl>
              <a:tblPr/>
              <a:tblGrid>
                <a:gridCol w="1607438">
                  <a:extLst>
                    <a:ext uri="{9D8B030D-6E8A-4147-A177-3AD203B41FA5}">
                      <a16:colId xmlns:a16="http://schemas.microsoft.com/office/drawing/2014/main" val="2939466277"/>
                    </a:ext>
                  </a:extLst>
                </a:gridCol>
                <a:gridCol w="4225210">
                  <a:extLst>
                    <a:ext uri="{9D8B030D-6E8A-4147-A177-3AD203B41FA5}">
                      <a16:colId xmlns:a16="http://schemas.microsoft.com/office/drawing/2014/main" val="2041912267"/>
                    </a:ext>
                  </a:extLst>
                </a:gridCol>
              </a:tblGrid>
              <a:tr h="2327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類 別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說 明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102985"/>
                  </a:ext>
                </a:extLst>
              </a:tr>
              <a:tr h="51266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altLang="zh-TW" sz="1600" kern="1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離線式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UPS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市電直接供電給用電設備，當市電供電品質不穩或停電時，自動切斷市電迴路，由電池供電給設備使用。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288395"/>
                  </a:ext>
                </a:extLst>
              </a:tr>
              <a:tr h="9324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altLang="zh-TW" sz="1600" kern="1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600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線</a:t>
                      </a:r>
                      <a:r>
                        <a:rPr lang="zh-TW" sz="1600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上</a:t>
                      </a: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式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UPS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市電先經過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UPS</a:t>
                      </a: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轉換成直流電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(DC)</a:t>
                      </a: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，再分為兩路輸出，一為電池充電；另一則轉回交流電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(AC)</a:t>
                      </a: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，供給用電設備使用。當市電供電品質不穩或停電時，電池從充電轉為供電。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9165228"/>
                  </a:ext>
                </a:extLst>
              </a:tr>
              <a:tr h="6983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altLang="zh-TW" sz="1600" kern="1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線</a:t>
                      </a: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上互動式</a:t>
                      </a: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UPS</a:t>
                      </a:r>
                      <a:endParaRPr lang="zh-TW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比離線式更能減輕尖峰、驟降、突波等問題的影響。但有別於線上式的配置，無法完全排除市電的雜訊干擾。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441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505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3.4.2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冷暖氣與通風系統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機房需要有獨立的冷暖氣與通風系統。冷暖氣與通風系統，需要有獨立供電系統、緊急斷電措施、正壓空間、出入風口保護、恆溫、恆濕與空氣清淨等。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機房需要保持適當溫度，機房內的溫度以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20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～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25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℃為宜，濕度以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45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～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65%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為宜，機房要保持正壓，即開門時空氣要往外流出，防止污染的空氣進入機房，危害系統安全。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通氣、通風進出口需要防止破壞者，將有毒氣體置入，危害人員安全，有毒氣體安全威脅很大，體積小，會造成許多人不可回復的傷害。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F08E-31F8-42A0-8684-27E3B3A16255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157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3.4.3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水與冷卻幫浦系統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供水系統支援冷暖氣與通風系統、消防系統與其他用途，供水系統經過的路線必須小心規劃與維護；若維護不當使水質變差，將影響冷卻系統的運作，與系統安全。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如果水管因受到腐蝕，造成水管破裂，水管漏水如果滲入資訊系統設施，將造成重大損失。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A68D-5081-48AB-89BC-B2F33175C860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92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3.4.4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 消防系統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建築物牆壁選用防火材質，採用耐火門窗，裝潢使用不易燃燒材料；即使著火燃燒，也不能產生有毒氣體，以免傷害人員。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重要設施、重要資訊檔案，需用防火保險櫃加以儲存，更需要有異地備援的計畫，最好有多份備援的機制。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火災常會造成人員與財物重大損失，需要經常性、定期性的防火訓練與演習，以便災害發生時能夠降低損失。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火災的發生需要具備有三要素：溫度、易燃物、與氧氣；同理要消滅火災也需要從這三方面著手。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由不同物質燃燒引起的火災，需要使用不同種類的滅火器材加以撲滅，表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3-3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依照各種材質引起的火災，將火災分為四類，並且列出其滅火器材。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7692-92B7-47DF-9F5E-20143871F0B7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74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07904" y="170080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</a:t>
            </a:r>
            <a:r>
              <a:rPr lang="en-US" altLang="zh-TW" dirty="0"/>
              <a:t>3-3 </a:t>
            </a:r>
            <a:r>
              <a:rPr lang="zh-TW" altLang="zh-TW" dirty="0"/>
              <a:t>火災分類表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22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622846"/>
              </p:ext>
            </p:extLst>
          </p:nvPr>
        </p:nvGraphicFramePr>
        <p:xfrm>
          <a:off x="1043609" y="2276872"/>
          <a:ext cx="72008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586">
                  <a:extLst>
                    <a:ext uri="{9D8B030D-6E8A-4147-A177-3AD203B41FA5}">
                      <a16:colId xmlns:a16="http://schemas.microsoft.com/office/drawing/2014/main" val="3772153425"/>
                    </a:ext>
                  </a:extLst>
                </a:gridCol>
                <a:gridCol w="2880797">
                  <a:extLst>
                    <a:ext uri="{9D8B030D-6E8A-4147-A177-3AD203B41FA5}">
                      <a16:colId xmlns:a16="http://schemas.microsoft.com/office/drawing/2014/main" val="1038256061"/>
                    </a:ext>
                  </a:extLst>
                </a:gridCol>
                <a:gridCol w="3744417">
                  <a:extLst>
                    <a:ext uri="{9D8B030D-6E8A-4147-A177-3AD203B41FA5}">
                      <a16:colId xmlns:a16="http://schemas.microsoft.com/office/drawing/2014/main" val="2357550566"/>
                    </a:ext>
                  </a:extLst>
                </a:gridCol>
              </a:tblGrid>
              <a:tr h="304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類別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形 式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滅火器材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335868"/>
                  </a:ext>
                </a:extLst>
              </a:tr>
              <a:tr h="6080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A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一般可燃物質</a:t>
                      </a:r>
                      <a:r>
                        <a:rPr lang="en-US" sz="2000" kern="100" dirty="0">
                          <a:effectLst/>
                        </a:rPr>
                        <a:t> (</a:t>
                      </a:r>
                      <a:r>
                        <a:rPr lang="zh-TW" sz="2000" kern="100" dirty="0">
                          <a:effectLst/>
                        </a:rPr>
                        <a:t>木材、紙張等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水、蘇打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687530"/>
                  </a:ext>
                </a:extLst>
              </a:tr>
              <a:tr h="6080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B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油類液體</a:t>
                      </a:r>
                      <a:r>
                        <a:rPr lang="en-US" sz="2000" kern="100" dirty="0">
                          <a:effectLst/>
                        </a:rPr>
                        <a:t> (</a:t>
                      </a:r>
                      <a:r>
                        <a:rPr lang="zh-TW" sz="2000" kern="100" dirty="0">
                          <a:effectLst/>
                        </a:rPr>
                        <a:t>汽油、</a:t>
                      </a:r>
                      <a:r>
                        <a:rPr lang="zh-TW" sz="2000" kern="100" dirty="0" smtClean="0">
                          <a:effectLst/>
                        </a:rPr>
                        <a:t>煤油</a:t>
                      </a:r>
                      <a:r>
                        <a:rPr lang="zh-TW" sz="2000" kern="100" dirty="0">
                          <a:effectLst/>
                        </a:rPr>
                        <a:t>等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</a:rPr>
                        <a:t>FM-200</a:t>
                      </a:r>
                      <a:r>
                        <a:rPr lang="zh-TW" altLang="en-US" sz="2000" kern="100" dirty="0" smtClean="0">
                          <a:effectLst/>
                        </a:rPr>
                        <a:t>、</a:t>
                      </a:r>
                      <a:r>
                        <a:rPr lang="en-US" sz="2000" kern="100" dirty="0" smtClean="0">
                          <a:effectLst/>
                        </a:rPr>
                        <a:t>CEA-410</a:t>
                      </a:r>
                      <a:r>
                        <a:rPr lang="zh-TW" altLang="en-US" sz="2000" kern="100" dirty="0" smtClean="0">
                          <a:effectLst/>
                        </a:rPr>
                        <a:t>、</a:t>
                      </a:r>
                      <a:r>
                        <a:rPr lang="en-US" sz="2000" kern="100" dirty="0" smtClean="0">
                          <a:effectLst/>
                        </a:rPr>
                        <a:t>NAF-SIII</a:t>
                      </a:r>
                      <a:r>
                        <a:rPr lang="zh-TW" sz="2000" kern="100" dirty="0">
                          <a:effectLst/>
                        </a:rPr>
                        <a:t>滅火器、二氧化碳、蘇打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308839"/>
                  </a:ext>
                </a:extLst>
              </a:tr>
              <a:tr h="6080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C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電器設備</a:t>
                      </a:r>
                      <a:r>
                        <a:rPr lang="en-US" sz="2000" kern="100" dirty="0">
                          <a:effectLst/>
                        </a:rPr>
                        <a:t> (</a:t>
                      </a:r>
                      <a:r>
                        <a:rPr lang="zh-TW" sz="2000" kern="100" dirty="0">
                          <a:effectLst/>
                        </a:rPr>
                        <a:t>電線、電器等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</a:rPr>
                        <a:t>FM-200</a:t>
                      </a:r>
                      <a:r>
                        <a:rPr lang="zh-TW" altLang="en-US" sz="2000" kern="100" dirty="0" smtClean="0">
                          <a:effectLst/>
                        </a:rPr>
                        <a:t>、</a:t>
                      </a:r>
                      <a:r>
                        <a:rPr lang="en-US" sz="2000" kern="100" dirty="0" smtClean="0">
                          <a:effectLst/>
                        </a:rPr>
                        <a:t>CEA-410</a:t>
                      </a:r>
                      <a:r>
                        <a:rPr lang="zh-TW" altLang="en-US" sz="2000" kern="100" dirty="0" smtClean="0">
                          <a:effectLst/>
                        </a:rPr>
                        <a:t>、</a:t>
                      </a:r>
                      <a:r>
                        <a:rPr lang="en-US" sz="2000" kern="100" dirty="0" smtClean="0">
                          <a:effectLst/>
                        </a:rPr>
                        <a:t>NAF-SIII</a:t>
                      </a:r>
                      <a:r>
                        <a:rPr lang="zh-TW" sz="2000" kern="100" dirty="0">
                          <a:effectLst/>
                        </a:rPr>
                        <a:t>滅火器、二氧化碳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407759"/>
                  </a:ext>
                </a:extLst>
              </a:tr>
              <a:tr h="6080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D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可燃金屬與化學物質</a:t>
                      </a:r>
                      <a:r>
                        <a:rPr lang="en-US" sz="2000" kern="100" dirty="0">
                          <a:effectLst/>
                        </a:rPr>
                        <a:t> (</a:t>
                      </a:r>
                      <a:r>
                        <a:rPr lang="zh-TW" sz="2000" kern="100" dirty="0">
                          <a:effectLst/>
                        </a:rPr>
                        <a:t>鈉、鈦、鋁等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</a:rPr>
                        <a:t>乾粉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264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266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3.5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實體安全技術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實體安全的技術也隨著科技進步不斷的演進，實體安全設施需要依實際需求情況配置，並且需要全面性檢討配置功能與涵蓋區域。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 smtClean="0">
              <a:latin typeface="Arial"/>
              <a:ea typeface="標楷體"/>
            </a:endParaRP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例如：某些區域配置有多重的安全設施，但有些區域可能遺漏而沒有配置，則資訊資產與設備的保護將不夠完善。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5410-3579-41F6-9C4A-DC009FF5C153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29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3.5.1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圍籬、圍牆與阻隔設施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圍籬、圍牆、灌木叢、矮樹、護柱、安全島等，可以阻隔與控制人員進出，通常用於保護區域安全，提供最基本的防護措施以阻隔入侵者。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圍牆的結構必須堅固，不易破壞；圍籬通常使用有倒勾或倒刺鐵線圍繞在柱樁上，圍繞必須固定與拉緊，柱樁也必須釘牢與深入泥土中；對於中高安全區域，圍籬間隙孔必須要在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5 x 5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公分以內。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圍籬與圍牆必須符合安全性需求，通常分為三種高度，表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3-4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列示圍牆高度與其防護作用；圖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3-4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則是圍牆與人員高度示意圖。 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F539A-F4C8-4747-B937-CA394541B40B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15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226563"/>
              </p:ext>
            </p:extLst>
          </p:nvPr>
        </p:nvGraphicFramePr>
        <p:xfrm>
          <a:off x="3347864" y="1628800"/>
          <a:ext cx="295275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r:id="rId3" imgW="2951988" imgH="1788795" progId="">
                  <p:embed/>
                </p:oleObj>
              </mc:Choice>
              <mc:Fallback>
                <p:oleObj r:id="rId3" imgW="2951988" imgH="1788795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628800"/>
                        <a:ext cx="2952750" cy="179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203848" y="4221088"/>
            <a:ext cx="3134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3-4 </a:t>
            </a:r>
            <a:r>
              <a:rPr lang="zh-TW" altLang="zh-TW" dirty="0"/>
              <a:t>圍牆與人員高度示意圖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845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86425" y="1844824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 </a:t>
            </a:r>
            <a:r>
              <a:rPr lang="en-US" altLang="zh-TW" dirty="0"/>
              <a:t>3-4 </a:t>
            </a:r>
            <a:r>
              <a:rPr lang="zh-TW" altLang="zh-TW" dirty="0"/>
              <a:t>圍牆高度表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59775"/>
              </p:ext>
            </p:extLst>
          </p:nvPr>
        </p:nvGraphicFramePr>
        <p:xfrm>
          <a:off x="1691680" y="2214156"/>
          <a:ext cx="6192688" cy="2078940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高 度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防護作用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90 ~ 120 </a:t>
                      </a: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公分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阻隔一般行人，可以窺視內部環境。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180 ~ 210 </a:t>
                      </a: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公分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較高不容易爬過，具高嚇阻作用。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210 </a:t>
                      </a: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公分以上</a:t>
                      </a: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(</a:t>
                      </a: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加上設施</a:t>
                      </a: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)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阻絕刻意入侵者。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610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3.5.2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門、窗與門鎖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altLang="zh-TW" b="1" kern="100" dirty="0">
                <a:latin typeface="Arial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門</a:t>
            </a:r>
            <a:r>
              <a:rPr lang="en-US" altLang="zh-TW" b="1" kern="100" dirty="0">
                <a:latin typeface="Arial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通常配有其他輔助設施，如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IC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卡刷卡、警衛、監視器、密碼開關、或門鎖，以開啟門禁讓有權限的人員進出，並阻隔沒有權限的人。例如：有門禁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IC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卡的人，可以刷卡開門進入房內，沒有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IC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卡的人則無法進入。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窗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通常是一棟建築物安全性較脆弱的地方，一般家居使用的玻璃窗容易被擊碎，不適合使用在資訊安全設施場所。必須要採用安全等級較高之設施，如強化玻璃、內裝金屬線玻璃，以及窗面加強小格金屬鋼條等。一般強化玻璃窗具有很大的抗撞擊強度，比玻璃大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250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倍，比壓克力大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30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倍。</a:t>
            </a:r>
          </a:p>
          <a:p>
            <a:pPr marR="0" lvl="0" rt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『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鎖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』(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lock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是最被接受的實體安全設施之一，它可以阻隔與延遲入侵者意圖，但不是絕對安全之設施。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鎖的形式很多種，如機械鎖、密碼鎖、門栓鎖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deadbolt lock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、按鈕鎖、筆記型電腦防護鎖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3-5)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、或智慧鎖等。如機房安裝密碼鎖，防止無權限人員進入機房。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9A42-AC04-4351-B978-ED849D9EAE40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341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132856"/>
            <a:ext cx="2362200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779912" y="4437112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/>
              <a:t>3-5 </a:t>
            </a:r>
            <a:r>
              <a:rPr lang="zh-TW" altLang="zh-TW" dirty="0"/>
              <a:t>筆記型電腦防護鎖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668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3.5.3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感應燈光設備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感應燈光設備也是安全設施的一部份，通常與圍牆、警衛巡邏，或警報系統並用，在圍牆週邊裝置燈光，可以嚇阻入侵者，避免其接近圍牆或入侵資訊設施。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感應燈光依其功能與安全作用，分為下列四種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表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3-5 )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入侵者可能如何利用燈光作掩飾，侵入資訊安全設施；提昇燈光照明度，可以嚇阻入侵者意圖。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燈光設計時需要全面覆蓋整個安全範圍，燈光涵蓋區域要重疊，如圖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3-6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，否則入侵者可以趁燈光空隙潛入。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454-D13E-45F0-AFC6-4F15674C4B1F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82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3848" y="1772816"/>
            <a:ext cx="29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 </a:t>
            </a:r>
            <a:r>
              <a:rPr lang="en-US" altLang="zh-TW" dirty="0"/>
              <a:t>3-5 </a:t>
            </a:r>
            <a:r>
              <a:rPr lang="zh-TW" altLang="zh-TW" dirty="0"/>
              <a:t>感應燈光種類與功能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140336"/>
              </p:ext>
            </p:extLst>
          </p:nvPr>
        </p:nvGraphicFramePr>
        <p:xfrm>
          <a:off x="1907704" y="2276872"/>
          <a:ext cx="5760640" cy="2376264"/>
        </p:xfrm>
        <a:graphic>
          <a:graphicData uri="http://schemas.openxmlformats.org/drawingml/2006/table">
            <a:tbl>
              <a:tblPr/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6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燈光種類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功 能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80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連續照明燈光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一般使用之照明功能，使用於黑暗時段。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36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觸發燈光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有啟動之觸發裝置，如入侵者越過觸發裝置，啟動觸發燈光亮起。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備用燈光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如連續照明燈光，使用於必要開啟時機，如可疑份子入侵，電力喪失等。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3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警報燈光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使用於電力喪失或不正常操作系統。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3023984" y="5074764"/>
            <a:ext cx="29033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 smtClean="0"/>
              <a:t>3-6 </a:t>
            </a:r>
            <a:r>
              <a:rPr lang="zh-TW" altLang="zh-TW" dirty="0"/>
              <a:t>燈光照射重疊示意圖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" y="1988840"/>
            <a:ext cx="8016240" cy="279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51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3.5.4 </a:t>
            </a:r>
            <a:r>
              <a:rPr lang="zh-TW" altLang="en-US" b="1" i="0" u="none" strike="noStrike" kern="2600" baseline="0" dirty="0" smtClean="0">
                <a:latin typeface="Arial"/>
                <a:ea typeface="標楷體"/>
              </a:rPr>
              <a:t>監視系統</a:t>
            </a:r>
            <a:endParaRPr lang="zh-TW" altLang="en-US" b="1" i="0" u="none" strike="noStrike" kern="2600" baseline="0" dirty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監視系統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surveillance system )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可以提昇區域或建築物的安全，監視系統通常使用閉路電視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 closed-circuit television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；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CCTV )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以監控週遭環境，對於入侵者產生嚇阻作用。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閉路電視使用攝影機拍攝區域範圍內景物，傳輸線連接到多工器紀錄影像並進行監視，依照監視系統的功能以及解譯能量，可分為三個層級，如表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3-6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：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閉路監視系統，是普遍常用監視設備，包含攝影機、控制器、記錄器、與監視器，如圖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3-7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。</a:t>
            </a:r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CACEC-49CF-446F-9232-781DDD70ADA1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072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63888" y="4653136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圖 </a:t>
            </a:r>
            <a:r>
              <a:rPr lang="en-US" altLang="zh-TW" dirty="0" smtClean="0"/>
              <a:t>3-7 </a:t>
            </a:r>
            <a:r>
              <a:rPr lang="zh-TW" altLang="zh-TW" dirty="0"/>
              <a:t>閉路監視器架構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33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762" y="2390905"/>
            <a:ext cx="4590476" cy="2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65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375756" y="4653136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dirty="0"/>
              <a:t>圖</a:t>
            </a:r>
            <a:r>
              <a:rPr lang="en-US" altLang="zh-TW" dirty="0"/>
              <a:t> 3-8 </a:t>
            </a:r>
            <a:r>
              <a:rPr lang="zh-TW" altLang="zh-TW" dirty="0"/>
              <a:t>雲端監視系統</a:t>
            </a: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268760"/>
            <a:ext cx="4248472" cy="330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3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75856" y="1628800"/>
            <a:ext cx="2672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/>
              <a:t>表 </a:t>
            </a:r>
            <a:r>
              <a:rPr lang="en-US" altLang="zh-TW" dirty="0"/>
              <a:t>3-6 </a:t>
            </a:r>
            <a:r>
              <a:rPr lang="zh-TW" altLang="zh-TW" dirty="0"/>
              <a:t>監視系統解析程度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935438"/>
              </p:ext>
            </p:extLst>
          </p:nvPr>
        </p:nvGraphicFramePr>
        <p:xfrm>
          <a:off x="2051720" y="2348880"/>
          <a:ext cx="4968875" cy="1920240"/>
        </p:xfrm>
        <a:graphic>
          <a:graphicData uri="http://schemas.openxmlformats.org/drawingml/2006/table">
            <a:tbl>
              <a:tblPr/>
              <a:tblGrid>
                <a:gridCol w="1476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2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層 級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功 能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偵測</a:t>
                      </a:r>
                      <a:r>
                        <a:rPr lang="en-US" sz="1800" kern="100" dirty="0">
                          <a:effectLst/>
                          <a:latin typeface="Times New Roman"/>
                          <a:ea typeface="標楷體"/>
                        </a:rPr>
                        <a:t> (detection)</a:t>
                      </a:r>
                      <a:endParaRPr lang="zh-TW" sz="1800" kern="100" dirty="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有能力偵測到物體的存在，如有物體入侵監視環境。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辨識</a:t>
                      </a: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 (recognition)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有能力辨識物體的型態，如辨識是人、貓或狗。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>
                          <a:effectLst/>
                          <a:latin typeface="Times New Roman"/>
                          <a:ea typeface="標楷體"/>
                        </a:rPr>
                        <a:t>辨認</a:t>
                      </a:r>
                      <a:r>
                        <a:rPr lang="en-US" sz="1800" kern="100">
                          <a:effectLst/>
                          <a:latin typeface="Times New Roman"/>
                          <a:ea typeface="標楷體"/>
                        </a:rPr>
                        <a:t> (identification)</a:t>
                      </a:r>
                      <a:endParaRPr lang="zh-TW" sz="1800" kern="100">
                        <a:effectLst/>
                        <a:latin typeface="Times New Roman"/>
                        <a:ea typeface="標楷體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Times New Roman"/>
                          <a:ea typeface="標楷體"/>
                        </a:rPr>
                        <a:t>有能力辨認物體細節，如辨認出個人特徵。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6502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3.5.5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入侵偵測設備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入侵偵測設備，可以裝置在窗、門、牆、天花板、和入口點等處，入侵偵測感應器裝置時要隱藏，不易被察覺。</a:t>
            </a:r>
          </a:p>
          <a:p>
            <a:pPr marR="0" lvl="0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入侵偵測感應器，接受感應以後將訊號送至後端系統，以便監視系統或執勤人員作反應處理。入侵偵測設備有多種作業方式，大致利用下列幾種原理：</a:t>
            </a:r>
          </a:p>
          <a:p>
            <a:pPr marR="0" lvl="1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阻斷和產生電流：用敏感金屬薄片，接觸感應或中斷電流，裝置在人窗上，當門窗受到震動時就可偵測到入侵訊息。</a:t>
            </a:r>
          </a:p>
          <a:p>
            <a:pPr marR="0" lvl="1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中斷光線：利用光學設施，發送與接收訊號，當光線受到阻斷，即表示偵測到入侵。</a:t>
            </a:r>
          </a:p>
          <a:p>
            <a:pPr marR="0" lvl="1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偵測聲音或音量改變：用敏感性麥克風接收聲音訊號，此裝備安裝容易，通常安裝於室內。</a:t>
            </a:r>
          </a:p>
          <a:p>
            <a:pPr marR="0" lvl="1" rtl="0"/>
            <a:r>
              <a:rPr lang="zh-TW" altLang="en-US" b="1" i="0" u="none" strike="noStrike" kern="100" baseline="0" smtClean="0">
                <a:latin typeface="Arial"/>
                <a:ea typeface="標楷體"/>
              </a:rPr>
              <a:t>其它：偵測空氣震動、偵測溫度的改變、偵測磁場或微波改變，等等。</a:t>
            </a:r>
            <a:endParaRPr lang="zh-TW" altLang="en-US" b="1" i="0" u="none" strike="noStrike" kern="100" baseline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16D-664A-420E-BC3E-9057CB5EE5E8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503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b="1" i="0" u="none" strike="noStrike" kern="2600" baseline="0" smtClean="0">
                <a:latin typeface="Arial"/>
                <a:ea typeface="標楷體"/>
              </a:rPr>
              <a:t>3.5.6 </a:t>
            </a:r>
            <a:r>
              <a:rPr lang="zh-TW" altLang="en-US" b="1" i="0" u="none" strike="noStrike" kern="2600" baseline="0" smtClean="0">
                <a:latin typeface="Arial"/>
                <a:ea typeface="標楷體"/>
              </a:rPr>
              <a:t>警衛</a:t>
            </a:r>
            <a:endParaRPr lang="zh-TW" altLang="en-US" b="1" i="0" u="none" strike="noStrike" kern="2600" baseline="0" smtClean="0">
              <a:latin typeface="Times New Roman"/>
              <a:ea typeface="標楷體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警衛可以提供彈性與安全的防護措施，對於突發事件的即時反映，也可以管制人員出入、監看閉路電視的監視器、留意警報系統等工作。</a:t>
            </a:r>
          </a:p>
          <a:p>
            <a:pPr marR="0" lvl="0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警衛設置考量因素很多，以下列出幾項：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設置警衛與僱用警衛花費多少成本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?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僱用警衛需要安全防護配備否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?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是否合法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(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 如配備電擊棒等 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)? 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僱用的警衛需要合法證照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?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僱用警衛加入工會的問題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?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警衛個人身家調查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?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是否犯過罪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?</a:t>
            </a:r>
          </a:p>
          <a:p>
            <a:pPr marR="0" lvl="1" rt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警衛需要的訓練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?</a:t>
            </a: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  <a:p>
            <a:pPr marR="0" lvl="0" rtl="0"/>
            <a:endParaRPr lang="zh-TW" altLang="en-US" b="1" i="0" u="none" strike="noStrike" kern="100" baseline="0" dirty="0" smtClean="0">
              <a:latin typeface="Times New Roman"/>
              <a:ea typeface="標楷體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88E54-93F2-4DAF-B6B7-9D522197B715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635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3.5.7 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資料檔案保險櫃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重要的備份資料需要儲存於資料檔案保險櫃，保險櫃需要符合典型的安全需求，如具備：防火、防盜、防爆</a:t>
            </a:r>
            <a:r>
              <a:rPr lang="en-US" altLang="zh-TW" b="1" i="0" u="none" strike="noStrike" kern="100" baseline="0" dirty="0" smtClean="0">
                <a:latin typeface="Arial"/>
                <a:ea typeface="標楷體"/>
              </a:rPr>
              <a:t>…</a:t>
            </a:r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等措施。</a:t>
            </a:r>
            <a:endParaRPr lang="en-US" altLang="zh-TW" b="1" i="0" u="none" strike="noStrike" kern="100" baseline="0" dirty="0" smtClean="0">
              <a:latin typeface="Arial"/>
              <a:ea typeface="標楷體"/>
            </a:endParaRPr>
          </a:p>
          <a:p>
            <a:pPr lvl="0"/>
            <a:endParaRPr lang="zh-TW" altLang="en-US" b="1" i="0" u="none" strike="noStrike" kern="100" baseline="0" dirty="0" smtClean="0">
              <a:latin typeface="Arial"/>
              <a:ea typeface="標楷體"/>
            </a:endParaRPr>
          </a:p>
          <a:p>
            <a:pPr lvl="0"/>
            <a:r>
              <a:rPr lang="zh-TW" altLang="en-US" b="1" i="0" u="none" strike="noStrike" kern="100" baseline="0" dirty="0" smtClean="0">
                <a:latin typeface="Arial"/>
                <a:ea typeface="標楷體"/>
              </a:rPr>
              <a:t>異地存放也是需要考慮因素，運送時的安全性，交通便利性與取回時間長短等，也須考量。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52EBE-082E-41CD-A5DF-A591908AD7BB}" type="datetime1">
              <a:rPr lang="zh-TW" altLang="en-US" smtClean="0"/>
              <a:t>2023/3/31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716BD-A6C1-4D77-8BE6-B9573E24932A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3028966"/>
      </p:ext>
    </p:extLst>
  </p:cSld>
  <p:clrMapOvr>
    <a:masterClrMapping/>
  </p:clrMapOvr>
</p:sld>
</file>

<file path=ppt/theme/theme1.xml><?xml version="1.0" encoding="utf-8"?>
<a:theme xmlns:a="http://schemas.openxmlformats.org/drawingml/2006/main" name="ISLAB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SLAB" id="{78D3C854-0FA5-4D21-AB5C-31870DC13A2F}" vid="{9F0E795E-DA35-4776-B2ED-B53060D2A29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ISLAB</Template>
  <TotalTime>100</TotalTime>
  <Words>3608</Words>
  <Application>Microsoft Office PowerPoint</Application>
  <PresentationFormat>如螢幕大小 (4:3)</PresentationFormat>
  <Paragraphs>263</Paragraphs>
  <Slides>38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0</vt:i4>
      </vt:variant>
      <vt:variant>
        <vt:lpstr>投影片標題</vt:lpstr>
      </vt:variant>
      <vt:variant>
        <vt:i4>38</vt:i4>
      </vt:variant>
    </vt:vector>
  </HeadingPairs>
  <TitlesOfParts>
    <vt:vector size="45" baseType="lpstr">
      <vt:lpstr>新細明體</vt:lpstr>
      <vt:lpstr>標楷體</vt:lpstr>
      <vt:lpstr>Arial</vt:lpstr>
      <vt:lpstr>Calibri</vt:lpstr>
      <vt:lpstr>Goudy Old Style</vt:lpstr>
      <vt:lpstr>Times New Roman</vt:lpstr>
      <vt:lpstr>ISLAB</vt:lpstr>
      <vt:lpstr>第03章 實體安全</vt:lpstr>
      <vt:lpstr>第03章 實體安全</vt:lpstr>
      <vt:lpstr>3.1 實體安全的威脅</vt:lpstr>
      <vt:lpstr>PowerPoint 簡報</vt:lpstr>
      <vt:lpstr>PowerPoint 簡報</vt:lpstr>
      <vt:lpstr> 3.2 實體安全管理</vt:lpstr>
      <vt:lpstr>3.2.1 管理服務</vt:lpstr>
      <vt:lpstr>3.2.2 人員訓練與演習</vt:lpstr>
      <vt:lpstr>3.2.3 安全測試與查核清單</vt:lpstr>
      <vt:lpstr>3.2.4 人員安全</vt:lpstr>
      <vt:lpstr>3.2.5 人員管控</vt:lpstr>
      <vt:lpstr>3.3 環境安全與安全設施</vt:lpstr>
      <vt:lpstr>3.3.1 位置選定</vt:lpstr>
      <vt:lpstr>3.3.2 建築物安全</vt:lpstr>
      <vt:lpstr>3.3.3 安全設施</vt:lpstr>
      <vt:lpstr>PowerPoint 簡報</vt:lpstr>
      <vt:lpstr>3.4.1 電力系統</vt:lpstr>
      <vt:lpstr>PowerPoint 簡報</vt:lpstr>
      <vt:lpstr>3.4.2 冷暖氣與通風系統</vt:lpstr>
      <vt:lpstr>3.4.3 水與冷卻幫浦系統</vt:lpstr>
      <vt:lpstr>3.4.4 消防系統</vt:lpstr>
      <vt:lpstr>PowerPoint 簡報</vt:lpstr>
      <vt:lpstr>3.5 實體安全技術</vt:lpstr>
      <vt:lpstr>3.5.1 圍籬、圍牆與阻隔設施</vt:lpstr>
      <vt:lpstr>PowerPoint 簡報</vt:lpstr>
      <vt:lpstr>PowerPoint 簡報</vt:lpstr>
      <vt:lpstr>3.5.2 門、窗與門鎖</vt:lpstr>
      <vt:lpstr>PowerPoint 簡報</vt:lpstr>
      <vt:lpstr>3.5.3 感應燈光設備</vt:lpstr>
      <vt:lpstr>PowerPoint 簡報</vt:lpstr>
      <vt:lpstr>PowerPoint 簡報</vt:lpstr>
      <vt:lpstr>3.5.4 監視系統</vt:lpstr>
      <vt:lpstr>PowerPoint 簡報</vt:lpstr>
      <vt:lpstr>PowerPoint 簡報</vt:lpstr>
      <vt:lpstr>PowerPoint 簡報</vt:lpstr>
      <vt:lpstr>3.5.5 入侵偵測設備</vt:lpstr>
      <vt:lpstr>3.5.6 警衛</vt:lpstr>
      <vt:lpstr>3.5.7 資料檔案保險櫃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實體安全</dc:title>
  <dc:creator>東光一號</dc:creator>
  <cp:lastModifiedBy>User</cp:lastModifiedBy>
  <cp:revision>68</cp:revision>
  <dcterms:created xsi:type="dcterms:W3CDTF">2016-02-14T00:03:28Z</dcterms:created>
  <dcterms:modified xsi:type="dcterms:W3CDTF">2023-03-31T14:26:18Z</dcterms:modified>
</cp:coreProperties>
</file>