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7"/>
  </p:notesMasterIdLst>
  <p:sldIdLst>
    <p:sldId id="272" r:id="rId2"/>
    <p:sldId id="256" r:id="rId3"/>
    <p:sldId id="259" r:id="rId4"/>
    <p:sldId id="278" r:id="rId5"/>
    <p:sldId id="279" r:id="rId6"/>
    <p:sldId id="260" r:id="rId7"/>
    <p:sldId id="261" r:id="rId8"/>
    <p:sldId id="262" r:id="rId9"/>
    <p:sldId id="263" r:id="rId10"/>
    <p:sldId id="283" r:id="rId11"/>
    <p:sldId id="264" r:id="rId12"/>
    <p:sldId id="265" r:id="rId13"/>
    <p:sldId id="266" r:id="rId14"/>
    <p:sldId id="267" r:id="rId15"/>
    <p:sldId id="280" r:id="rId16"/>
    <p:sldId id="268" r:id="rId17"/>
    <p:sldId id="269" r:id="rId18"/>
    <p:sldId id="270" r:id="rId19"/>
    <p:sldId id="282" r:id="rId20"/>
    <p:sldId id="276" r:id="rId21"/>
    <p:sldId id="273" r:id="rId22"/>
    <p:sldId id="277" r:id="rId23"/>
    <p:sldId id="274" r:id="rId24"/>
    <p:sldId id="275" r:id="rId25"/>
    <p:sldId id="271" r:id="rId2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1C732-EE8F-484E-91FD-4C96E9C058A2}" type="datetimeFigureOut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AC5490-E0B4-41DB-9E16-35D2A2680E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937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AC5490-E0B4-41DB-9E16-35D2A2680EB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8280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0" y="0"/>
            <a:ext cx="9107488" cy="6796088"/>
            <a:chOff x="0" y="0"/>
            <a:chExt cx="5737" cy="4281"/>
          </a:xfrm>
        </p:grpSpPr>
        <p:grpSp>
          <p:nvGrpSpPr>
            <p:cNvPr id="5" name="Group 36"/>
            <p:cNvGrpSpPr>
              <a:grpSpLocks/>
            </p:cNvGrpSpPr>
            <p:nvPr userDrawn="1"/>
          </p:nvGrpSpPr>
          <p:grpSpPr bwMode="auto">
            <a:xfrm>
              <a:off x="4694" y="164"/>
              <a:ext cx="1043" cy="318"/>
              <a:chOff x="4876" y="193"/>
              <a:chExt cx="839" cy="289"/>
            </a:xfrm>
          </p:grpSpPr>
          <p:pic>
            <p:nvPicPr>
              <p:cNvPr id="26" name="Picture 45"/>
              <p:cNvPicPr>
                <a:picLocks noChangeAspect="1" noChangeArrowheads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76" y="193"/>
                <a:ext cx="839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7" name="Group 49"/>
              <p:cNvGrpSpPr>
                <a:grpSpLocks/>
              </p:cNvGrpSpPr>
              <p:nvPr userDrawn="1"/>
            </p:nvGrpSpPr>
            <p:grpSpPr bwMode="auto">
              <a:xfrm rot="971029">
                <a:off x="5535" y="317"/>
                <a:ext cx="40" cy="60"/>
                <a:chOff x="1604" y="9751"/>
                <a:chExt cx="297" cy="509"/>
              </a:xfrm>
            </p:grpSpPr>
            <p:sp>
              <p:nvSpPr>
                <p:cNvPr id="28" name="Oval 50"/>
                <p:cNvSpPr>
                  <a:spLocks noChangeArrowheads="1"/>
                </p:cNvSpPr>
                <p:nvPr/>
              </p:nvSpPr>
              <p:spPr bwMode="auto">
                <a:xfrm>
                  <a:off x="1599" y="9745"/>
                  <a:ext cx="299" cy="324"/>
                </a:xfrm>
                <a:prstGeom prst="ellipse">
                  <a:avLst/>
                </a:prstGeom>
                <a:solidFill>
                  <a:srgbClr val="5F497A"/>
                </a:solidFill>
                <a:ln w="9525">
                  <a:solidFill>
                    <a:srgbClr val="5F497A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zh-TW" alt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29" name="Rectangle 51"/>
                <p:cNvSpPr>
                  <a:spLocks noChangeArrowheads="1"/>
                </p:cNvSpPr>
                <p:nvPr/>
              </p:nvSpPr>
              <p:spPr bwMode="auto">
                <a:xfrm>
                  <a:off x="1669" y="10042"/>
                  <a:ext cx="149" cy="216"/>
                </a:xfrm>
                <a:prstGeom prst="rect">
                  <a:avLst/>
                </a:prstGeom>
                <a:solidFill>
                  <a:srgbClr val="5F497A"/>
                </a:solidFill>
                <a:ln w="9525">
                  <a:solidFill>
                    <a:srgbClr val="5F497A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zh-TW" altLang="en-US">
                    <a:latin typeface="+mn-lt"/>
                    <a:ea typeface="+mn-ea"/>
                  </a:endParaRPr>
                </a:p>
              </p:txBody>
            </p:sp>
          </p:grpSp>
        </p:grpSp>
        <p:sp>
          <p:nvSpPr>
            <p:cNvPr id="6" name="Rectangle 3"/>
            <p:cNvSpPr>
              <a:spLocks noChangeArrowheads="1"/>
            </p:cNvSpPr>
            <p:nvPr userDrawn="1"/>
          </p:nvSpPr>
          <p:spPr bwMode="auto">
            <a:xfrm>
              <a:off x="1066" y="2432"/>
              <a:ext cx="4037" cy="862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7" name="Rectangle 2"/>
            <p:cNvSpPr>
              <a:spLocks noChangeArrowheads="1"/>
            </p:cNvSpPr>
            <p:nvPr userDrawn="1"/>
          </p:nvSpPr>
          <p:spPr bwMode="auto">
            <a:xfrm>
              <a:off x="476" y="1071"/>
              <a:ext cx="5080" cy="1180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pic>
          <p:nvPicPr>
            <p:cNvPr id="8" name="Picture 40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3970"/>
              <a:ext cx="2676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34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" y="4066"/>
              <a:ext cx="2404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020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8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709"/>
              <a:ext cx="408" cy="3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Group 18"/>
            <p:cNvGrpSpPr>
              <a:grpSpLocks/>
            </p:cNvGrpSpPr>
            <p:nvPr userDrawn="1"/>
          </p:nvGrpSpPr>
          <p:grpSpPr bwMode="auto">
            <a:xfrm rot="5400000">
              <a:off x="3085" y="-1730"/>
              <a:ext cx="300" cy="4286"/>
              <a:chOff x="4380" y="2475"/>
              <a:chExt cx="750" cy="6551"/>
            </a:xfrm>
          </p:grpSpPr>
          <p:cxnSp>
            <p:nvCxnSpPr>
              <p:cNvPr id="15" name="AutoShape 19"/>
              <p:cNvCxnSpPr>
                <a:cxnSpLocks noChangeShapeType="1"/>
              </p:cNvCxnSpPr>
              <p:nvPr/>
            </p:nvCxnSpPr>
            <p:spPr bwMode="auto">
              <a:xfrm>
                <a:off x="4500" y="7276"/>
                <a:ext cx="450" cy="104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4380" y="7380"/>
                <a:ext cx="570" cy="69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" name="AutoShape 21"/>
              <p:cNvCxnSpPr>
                <a:cxnSpLocks noChangeShapeType="1"/>
              </p:cNvCxnSpPr>
              <p:nvPr/>
            </p:nvCxnSpPr>
            <p:spPr bwMode="auto">
              <a:xfrm>
                <a:off x="4380" y="7449"/>
                <a:ext cx="75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AutoShape 22"/>
              <p:cNvCxnSpPr>
                <a:cxnSpLocks noChangeShapeType="1"/>
              </p:cNvCxnSpPr>
              <p:nvPr/>
            </p:nvCxnSpPr>
            <p:spPr bwMode="auto">
              <a:xfrm flipH="1">
                <a:off x="4500" y="7530"/>
                <a:ext cx="63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AutoShape 23"/>
              <p:cNvCxnSpPr>
                <a:cxnSpLocks noChangeShapeType="1"/>
              </p:cNvCxnSpPr>
              <p:nvPr/>
            </p:nvCxnSpPr>
            <p:spPr bwMode="auto">
              <a:xfrm>
                <a:off x="4500" y="7611"/>
                <a:ext cx="420" cy="80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AutoShape 24"/>
              <p:cNvCxnSpPr>
                <a:cxnSpLocks noChangeShapeType="1"/>
              </p:cNvCxnSpPr>
              <p:nvPr/>
            </p:nvCxnSpPr>
            <p:spPr bwMode="auto">
              <a:xfrm flipH="1">
                <a:off x="4575" y="7691"/>
                <a:ext cx="345" cy="82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AutoShape 25"/>
              <p:cNvCxnSpPr>
                <a:cxnSpLocks noChangeShapeType="1"/>
              </p:cNvCxnSpPr>
              <p:nvPr/>
            </p:nvCxnSpPr>
            <p:spPr bwMode="auto">
              <a:xfrm>
                <a:off x="4575" y="7773"/>
                <a:ext cx="37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AutoShape 26"/>
              <p:cNvCxnSpPr>
                <a:cxnSpLocks noChangeShapeType="1"/>
              </p:cNvCxnSpPr>
              <p:nvPr/>
            </p:nvCxnSpPr>
            <p:spPr bwMode="auto">
              <a:xfrm flipH="1">
                <a:off x="4500" y="7195"/>
                <a:ext cx="31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AutoShape 27"/>
              <p:cNvCxnSpPr>
                <a:cxnSpLocks noChangeShapeType="1"/>
              </p:cNvCxnSpPr>
              <p:nvPr/>
            </p:nvCxnSpPr>
            <p:spPr bwMode="auto">
              <a:xfrm flipH="1">
                <a:off x="4725" y="7854"/>
                <a:ext cx="19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" name="AutoShape 28"/>
              <p:cNvCxnSpPr>
                <a:cxnSpLocks noChangeShapeType="1"/>
              </p:cNvCxnSpPr>
              <p:nvPr/>
            </p:nvCxnSpPr>
            <p:spPr bwMode="auto">
              <a:xfrm>
                <a:off x="4725" y="7935"/>
                <a:ext cx="0" cy="109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AutoShape 29"/>
              <p:cNvCxnSpPr>
                <a:cxnSpLocks noChangeShapeType="1"/>
              </p:cNvCxnSpPr>
              <p:nvPr/>
            </p:nvCxnSpPr>
            <p:spPr bwMode="auto">
              <a:xfrm>
                <a:off x="4816" y="2475"/>
                <a:ext cx="0" cy="4717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13" name="圖片 29" descr="Thu_logo.gif"/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" y="3711"/>
              <a:ext cx="570" cy="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5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3866"/>
              <a:ext cx="2269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00113" y="1916113"/>
            <a:ext cx="7772400" cy="1470025"/>
          </a:xfrm>
        </p:spPr>
        <p:txBody>
          <a:bodyPr/>
          <a:lstStyle>
            <a:lvl1pPr algn="ctr">
              <a:defRPr sz="36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713" y="4076700"/>
            <a:ext cx="6335712" cy="1198563"/>
          </a:xfrm>
        </p:spPr>
        <p:txBody>
          <a:bodyPr/>
          <a:lstStyle>
            <a:lvl1pPr marL="0" indent="0" algn="ctr">
              <a:buFont typeface="Arial" charset="0"/>
              <a:buNone/>
              <a:defRPr sz="2800"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zh-TW" altLang="en-US" dirty="0"/>
          </a:p>
        </p:txBody>
      </p:sp>
      <p:sp>
        <p:nvSpPr>
          <p:cNvPr id="30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659563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oudy Old Style" pitchFamily="18" charset="0"/>
                <a:ea typeface="+mn-ea"/>
              </a:defRPr>
            </a:lvl1pPr>
          </a:lstStyle>
          <a:p>
            <a:fld id="{8B317208-2CB7-4079-9468-9C061E707296}" type="datetime1">
              <a:rPr lang="zh-TW" altLang="en-US" smtClean="0"/>
              <a:t>2023/4/1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4286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55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4665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95288" y="1600200"/>
            <a:ext cx="4171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19638" y="1600200"/>
            <a:ext cx="417353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496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126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402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5210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084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5298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937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69100" y="274638"/>
            <a:ext cx="2124075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95288" y="274638"/>
            <a:ext cx="6221412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898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485EF3C-CDDC-45FE-8849-C4B38A663296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3304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8"/>
          <p:cNvGrpSpPr>
            <a:grpSpLocks/>
          </p:cNvGrpSpPr>
          <p:nvPr/>
        </p:nvGrpSpPr>
        <p:grpSpPr bwMode="auto">
          <a:xfrm>
            <a:off x="0" y="241300"/>
            <a:ext cx="9028113" cy="6621463"/>
            <a:chOff x="0" y="152"/>
            <a:chExt cx="5687" cy="4171"/>
          </a:xfrm>
        </p:grpSpPr>
        <p:pic>
          <p:nvPicPr>
            <p:cNvPr id="1030" name="Picture 2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782"/>
              <a:ext cx="703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31" name="Group 18"/>
            <p:cNvGrpSpPr>
              <a:grpSpLocks/>
            </p:cNvGrpSpPr>
            <p:nvPr userDrawn="1"/>
          </p:nvGrpSpPr>
          <p:grpSpPr bwMode="auto">
            <a:xfrm rot="5400000">
              <a:off x="2980" y="1897"/>
              <a:ext cx="300" cy="4399"/>
              <a:chOff x="4380" y="2475"/>
              <a:chExt cx="750" cy="6551"/>
            </a:xfrm>
          </p:grpSpPr>
          <p:cxnSp>
            <p:nvCxnSpPr>
              <p:cNvPr id="1037" name="AutoShape 19"/>
              <p:cNvCxnSpPr>
                <a:cxnSpLocks noChangeShapeType="1"/>
              </p:cNvCxnSpPr>
              <p:nvPr/>
            </p:nvCxnSpPr>
            <p:spPr bwMode="auto">
              <a:xfrm>
                <a:off x="4500" y="7276"/>
                <a:ext cx="450" cy="104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8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4380" y="7380"/>
                <a:ext cx="570" cy="69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9" name="AutoShape 21"/>
              <p:cNvCxnSpPr>
                <a:cxnSpLocks noChangeShapeType="1"/>
              </p:cNvCxnSpPr>
              <p:nvPr/>
            </p:nvCxnSpPr>
            <p:spPr bwMode="auto">
              <a:xfrm>
                <a:off x="4380" y="7449"/>
                <a:ext cx="75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0" name="AutoShape 22"/>
              <p:cNvCxnSpPr>
                <a:cxnSpLocks noChangeShapeType="1"/>
              </p:cNvCxnSpPr>
              <p:nvPr/>
            </p:nvCxnSpPr>
            <p:spPr bwMode="auto">
              <a:xfrm flipH="1">
                <a:off x="4500" y="7530"/>
                <a:ext cx="63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1" name="AutoShape 23"/>
              <p:cNvCxnSpPr>
                <a:cxnSpLocks noChangeShapeType="1"/>
              </p:cNvCxnSpPr>
              <p:nvPr/>
            </p:nvCxnSpPr>
            <p:spPr bwMode="auto">
              <a:xfrm>
                <a:off x="4500" y="7611"/>
                <a:ext cx="420" cy="80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2" name="AutoShape 24"/>
              <p:cNvCxnSpPr>
                <a:cxnSpLocks noChangeShapeType="1"/>
              </p:cNvCxnSpPr>
              <p:nvPr/>
            </p:nvCxnSpPr>
            <p:spPr bwMode="auto">
              <a:xfrm flipH="1">
                <a:off x="4575" y="7691"/>
                <a:ext cx="345" cy="82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3" name="AutoShape 25"/>
              <p:cNvCxnSpPr>
                <a:cxnSpLocks noChangeShapeType="1"/>
              </p:cNvCxnSpPr>
              <p:nvPr/>
            </p:nvCxnSpPr>
            <p:spPr bwMode="auto">
              <a:xfrm>
                <a:off x="4575" y="7773"/>
                <a:ext cx="37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4" name="AutoShape 26"/>
              <p:cNvCxnSpPr>
                <a:cxnSpLocks noChangeShapeType="1"/>
              </p:cNvCxnSpPr>
              <p:nvPr/>
            </p:nvCxnSpPr>
            <p:spPr bwMode="auto">
              <a:xfrm flipH="1">
                <a:off x="4500" y="7195"/>
                <a:ext cx="31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5" name="AutoShape 27"/>
              <p:cNvCxnSpPr>
                <a:cxnSpLocks noChangeShapeType="1"/>
              </p:cNvCxnSpPr>
              <p:nvPr/>
            </p:nvCxnSpPr>
            <p:spPr bwMode="auto">
              <a:xfrm flipH="1">
                <a:off x="4725" y="7854"/>
                <a:ext cx="19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6" name="AutoShape 28"/>
              <p:cNvCxnSpPr>
                <a:cxnSpLocks noChangeShapeType="1"/>
              </p:cNvCxnSpPr>
              <p:nvPr/>
            </p:nvCxnSpPr>
            <p:spPr bwMode="auto">
              <a:xfrm>
                <a:off x="4725" y="7935"/>
                <a:ext cx="0" cy="109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7" name="AutoShape 29"/>
              <p:cNvCxnSpPr>
                <a:cxnSpLocks noChangeShapeType="1"/>
              </p:cNvCxnSpPr>
              <p:nvPr/>
            </p:nvCxnSpPr>
            <p:spPr bwMode="auto">
              <a:xfrm>
                <a:off x="4816" y="2475"/>
                <a:ext cx="0" cy="4717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1032" name="Picture 34"/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4133"/>
              <a:ext cx="214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3" name="Picture 2"/>
            <p:cNvPicPr>
              <a:picLocks noChangeAspect="1" noChangeArrowheads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" y="3906"/>
              <a:ext cx="420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Rectangle 2"/>
            <p:cNvSpPr>
              <a:spLocks noChangeArrowheads="1"/>
            </p:cNvSpPr>
            <p:nvPr userDrawn="1"/>
          </p:nvSpPr>
          <p:spPr bwMode="auto">
            <a:xfrm>
              <a:off x="204" y="152"/>
              <a:ext cx="5398" cy="735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24" name="Rectangle 7"/>
            <p:cNvSpPr>
              <a:spLocks noChangeArrowheads="1"/>
            </p:cNvSpPr>
            <p:nvPr userDrawn="1"/>
          </p:nvSpPr>
          <p:spPr bwMode="auto">
            <a:xfrm>
              <a:off x="204" y="935"/>
              <a:ext cx="5398" cy="2903"/>
            </a:xfrm>
            <a:prstGeom prst="rect">
              <a:avLst/>
            </a:prstGeom>
            <a:gradFill rotWithShape="1">
              <a:gsLst>
                <a:gs pos="0">
                  <a:srgbClr val="E7FFFD"/>
                </a:gs>
                <a:gs pos="50000">
                  <a:srgbClr val="FFFFFF"/>
                </a:gs>
                <a:gs pos="100000">
                  <a:srgbClr val="E7FFFD"/>
                </a:gs>
              </a:gsLst>
              <a:lin ang="5400000" scaled="1"/>
            </a:gra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pic>
          <p:nvPicPr>
            <p:cNvPr id="1036" name="Picture 26"/>
            <p:cNvPicPr>
              <a:picLocks noChangeAspect="1" noChangeArrowheads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" y="3942"/>
              <a:ext cx="2928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274638"/>
            <a:ext cx="84359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600200"/>
            <a:ext cx="849788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51" name="Rectangle 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47813" y="6453188"/>
            <a:ext cx="477837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oudy Old Style" panose="02020502050305020303" pitchFamily="18" charset="0"/>
              </a:defRPr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44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8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4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0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第</a:t>
            </a:r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02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章 電子商務安全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C70B6-B65A-41E8-BD3E-61B037D3411A}" type="datetime1">
              <a:rPr lang="zh-TW" altLang="en-US" smtClean="0"/>
              <a:t>2023/4/1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4798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第</a:t>
            </a:r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02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章 電子商務安全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電子商務依賴網路進行交易，電子商務安全日益受到重視。本章介紹的內容包含：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電子商務簡介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電子商務特性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電子商務種類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電子商務流程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電子商務安全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付款機制</a:t>
            </a:r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marR="0" lvl="0" rtl="0"/>
            <a:r>
              <a:rPr lang="zh-TW" altLang="en-US" b="1" kern="100" dirty="0" smtClean="0">
                <a:latin typeface="Arial"/>
                <a:ea typeface="標楷體"/>
              </a:rPr>
              <a:t>認證標</a:t>
            </a:r>
            <a:r>
              <a:rPr lang="zh-TW" altLang="en-US" b="1" kern="100" dirty="0">
                <a:latin typeface="Arial"/>
                <a:ea typeface="標楷體"/>
              </a:rPr>
              <a:t>章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B457-6DED-4A5B-BDE7-735184B0E59B}" type="datetime1">
              <a:rPr lang="zh-TW" altLang="en-US" smtClean="0"/>
              <a:t>2023/4/1</a:t>
            </a:fld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8839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2.1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電子商務簡介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電子商務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electronic commerce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是應用網際網路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the Internet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、企業網路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intranet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和加值網路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value added network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與資訊技術，以進行交易活動以及提供服務。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電子商務的發展，簡要敘述如下：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從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1970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年代起，使用電子資金轉換就已開啟電子商務時代，後續並推展電子資料交換、電子郵件應用等。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到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1990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年代，由於全球資訊網之發展，使得電子商務進入蓬勃發展的年代，並且不斷地快速成長。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到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2000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年，歷經網路泡沫化後，電子商務開始進入理性發展。</a:t>
            </a:r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近年來，網路購物族群大幅增加，電子商務大幅成長。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18AE-35F1-4A83-B076-6603C29CA057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468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電子商務的本質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如圖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2-1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所示，電子商務的本質是結合資訊網路科技與商業模式，採用資訊技術進行各種交易與服務。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傳統商務受到時間與空間的限制，必須要有店面及營業時間；電子商務則不受時間的限制，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24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小時皆可以上網購物，也不受空間的影響。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電子商務蓬勃發展，電子商務安全也日益受到重視，網路一旦受到安全威脅，電子商務也將遭受到嚴重的損失。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F61E6-6A77-409D-B36D-DCBCEAD6B6CC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327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79912" y="4149080"/>
            <a:ext cx="2198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2-1 </a:t>
            </a:r>
            <a:r>
              <a:rPr lang="zh-TW" altLang="zh-TW" dirty="0" smtClean="0"/>
              <a:t>電子商務本質</a:t>
            </a:r>
            <a:endParaRPr lang="zh-TW" altLang="zh-TW" dirty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5DE4-3C24-4420-9A1B-45DAFDFF9015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5</a:t>
            </a:fld>
            <a:endParaRPr lang="zh-TW" altLang="en-US"/>
          </a:p>
        </p:txBody>
      </p:sp>
      <p:pic>
        <p:nvPicPr>
          <p:cNvPr id="1026" name="Picture 2" descr="圖片2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731" y="2492896"/>
            <a:ext cx="5817118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2092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2.2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電子商務特性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電子商務是一種新的經濟模式，在管理、政策、銷售、獲利等模式皆需要新的觀念與新的作為，經營者需要重新檢視與制定其經營策略。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電子商務需要具有下列特性：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普遍性：凡是能上網的地方皆有電子商務的存在。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方便性：它減少了實體文書的往返，交易具有立即性。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信賴性：買方與賣方信任關係的需求比傳統商務更強。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安全性：透過網路購物，需要安全的交易。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協調性：需要很好協調性，以確保商務流程之順利進行。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虛擬化：商品不需實體擺設，僅有虛擬商場及虛擬產品。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標準化：商務網站漸漸趨向於一致化的商務流程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專業化：資訊流、物流與金流形成許多專業分工的行業。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703FB-0626-4585-978A-9986DC782314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0858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2.3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電子商務種類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以交易對象分類：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B2C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B2B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C2B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C2C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、與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O2O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等。</a:t>
            </a:r>
          </a:p>
          <a:p>
            <a:pPr marR="0" lvl="1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(1) B2C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：企業對消費者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business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to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customer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B2C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電子商務模式，是企業對一般消費者的電子商務，例如，入口網站、線上遊戲、線上購物等。</a:t>
            </a:r>
          </a:p>
          <a:p>
            <a:pPr marR="0" lvl="1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(2) B2B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：企業對企業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business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to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business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B2C 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的電子商務，例如，企業間的整合運作、上下游企業、供應鏈、企業客戶服務等。</a:t>
            </a:r>
          </a:p>
          <a:p>
            <a:pPr lvl="1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(3) C2B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：消費者對企業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customer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to business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C2B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的電子商務模式</a:t>
            </a:r>
            <a:r>
              <a:rPr lang="zh-TW" altLang="en-US" b="1" kern="100" dirty="0">
                <a:latin typeface="Arial"/>
              </a:rPr>
              <a:t>，是指消費者聚合需求的力量以引導商家提供合適的服務或商品</a:t>
            </a:r>
            <a:r>
              <a:rPr lang="zh-TW" altLang="en-US" b="1" kern="100" dirty="0" smtClean="0">
                <a:latin typeface="Arial"/>
              </a:rPr>
              <a:t>，例如</a:t>
            </a:r>
            <a:r>
              <a:rPr lang="zh-TW" altLang="en-US" b="1" kern="100" dirty="0">
                <a:latin typeface="Arial"/>
              </a:rPr>
              <a:t>，集體採購</a:t>
            </a:r>
            <a:r>
              <a:rPr lang="zh-TW" altLang="en-US" b="1" kern="100" dirty="0" smtClean="0">
                <a:latin typeface="Arial"/>
              </a:rPr>
              <a:t>。</a:t>
            </a:r>
            <a:endParaRPr lang="zh-TW" altLang="en-US" b="1" i="0" u="none" strike="noStrike" kern="100" baseline="0" dirty="0" smtClean="0">
              <a:latin typeface="Arial"/>
              <a:ea typeface="標楷體"/>
            </a:endParaRPr>
          </a:p>
          <a:p>
            <a:pPr marR="0" lvl="1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(4) C2C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：消費者對消費者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customer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to customer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C2C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的電子商務模式，例如：拍賣網站。</a:t>
            </a:r>
          </a:p>
          <a:p>
            <a:pPr marR="0" lvl="1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(5) O2O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：線上對離線（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online to offline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O2O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）電子商務模式，是指線上行銷及線上購買帶動非網路上的實體經營與消費。例如，餐飲折價券、電影優待票等。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A8068-C588-4A20-B51F-D6387AC7D312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184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kern="2600" baseline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2600" baseline="0" smtClean="0">
                <a:latin typeface="Arial"/>
                <a:ea typeface="標楷體"/>
              </a:rPr>
              <a:t>2.3.1 B2C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電子商務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b="1" kern="100" dirty="0">
                <a:latin typeface="Arial"/>
              </a:rPr>
              <a:t>成功的電子商務網站，通常具備下列特質</a:t>
            </a:r>
            <a:r>
              <a:rPr lang="zh-TW" altLang="en-US" b="1" kern="100" dirty="0" smtClean="0">
                <a:latin typeface="Arial"/>
              </a:rPr>
              <a:t>：</a:t>
            </a:r>
            <a:endParaRPr lang="zh-TW" altLang="en-US" b="1" kern="100" dirty="0">
              <a:latin typeface="Arial"/>
            </a:endParaRPr>
          </a:p>
          <a:p>
            <a:pPr lvl="0"/>
            <a:r>
              <a:rPr lang="zh-TW" altLang="en-US" b="1" kern="100" dirty="0">
                <a:latin typeface="Arial"/>
              </a:rPr>
              <a:t>	適當的目錄歸類，簡易的資料搜尋功能。</a:t>
            </a:r>
          </a:p>
          <a:p>
            <a:pPr lvl="0"/>
            <a:r>
              <a:rPr lang="zh-TW" altLang="en-US" b="1" kern="100" dirty="0">
                <a:latin typeface="Arial"/>
              </a:rPr>
              <a:t>	充實的內容，提供網友使用。</a:t>
            </a:r>
          </a:p>
          <a:p>
            <a:pPr lvl="0"/>
            <a:r>
              <a:rPr lang="zh-TW" altLang="en-US" b="1" kern="100" dirty="0">
                <a:latin typeface="Arial"/>
              </a:rPr>
              <a:t>	提供便利的購物商場服務。</a:t>
            </a:r>
          </a:p>
          <a:p>
            <a:pPr lvl="0"/>
            <a:r>
              <a:rPr lang="zh-TW" altLang="en-US" b="1" kern="100" dirty="0">
                <a:latin typeface="Arial"/>
              </a:rPr>
              <a:t>	完整的通訊、物流與金流服務。</a:t>
            </a:r>
          </a:p>
          <a:p>
            <a:pPr lvl="0"/>
            <a:r>
              <a:rPr lang="zh-TW" altLang="en-US" b="1" kern="100" dirty="0">
                <a:latin typeface="Arial"/>
              </a:rPr>
              <a:t>	提供購物之及時訊息服務。</a:t>
            </a:r>
          </a:p>
          <a:p>
            <a:pPr lvl="0"/>
            <a:r>
              <a:rPr lang="zh-TW" altLang="en-US" b="1" kern="100" dirty="0">
                <a:latin typeface="Arial"/>
              </a:rPr>
              <a:t>	創造社群環境，凝聚網友向心力。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B6464-C9F4-42E7-B57A-4E0D970B5188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3090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kern="2600" baseline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2600" baseline="0" smtClean="0">
                <a:latin typeface="Arial"/>
                <a:ea typeface="標楷體"/>
              </a:rPr>
              <a:t>2.3.2 B2B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電子商務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B2B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電子商務，主要是應用於企業上下游間、與企業協力廠商間之資訊整合與交易。</a:t>
            </a:r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B2B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可為企業減少採購成本與資訊處理成本，根據統計：一家公司的採購成本，約有一半是花費在內部採購流程上，例如，公文處理、採購訪價等。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傳統商業因冗長的供應鏈採購流程，需要較大的庫存量，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B2B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電子商務可以提升採購速度，監控採購進度，可以減少庫存量。</a:t>
            </a:r>
          </a:p>
          <a:p>
            <a:pPr marR="0" lvl="0" rtl="0"/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lvl="0"/>
            <a:r>
              <a:rPr lang="zh-TW" altLang="en-US" b="1" kern="100" dirty="0">
                <a:latin typeface="Arial"/>
              </a:rPr>
              <a:t>根據行政院主計處</a:t>
            </a:r>
            <a:r>
              <a:rPr lang="en-US" altLang="zh-TW" b="1" kern="100" dirty="0">
                <a:latin typeface="Arial"/>
              </a:rPr>
              <a:t>『2019</a:t>
            </a:r>
            <a:r>
              <a:rPr lang="zh-TW" altLang="en-US" b="1" kern="100" dirty="0">
                <a:latin typeface="Arial"/>
              </a:rPr>
              <a:t>年電子商務統計結果</a:t>
            </a:r>
            <a:r>
              <a:rPr lang="en-US" altLang="zh-TW" b="1" kern="100" dirty="0">
                <a:latin typeface="Arial"/>
              </a:rPr>
              <a:t>』</a:t>
            </a:r>
            <a:r>
              <a:rPr lang="zh-TW" altLang="en-US" b="1" kern="100" dirty="0" smtClean="0">
                <a:latin typeface="Arial"/>
              </a:rPr>
              <a:t>資料：</a:t>
            </a:r>
            <a:endParaRPr lang="en-US" altLang="zh-TW" b="1" kern="100" dirty="0" smtClean="0">
              <a:latin typeface="Arial"/>
            </a:endParaRPr>
          </a:p>
          <a:p>
            <a:pPr lvl="1"/>
            <a:r>
              <a:rPr lang="en-US" altLang="zh-TW" b="1" kern="100" dirty="0" smtClean="0">
                <a:latin typeface="Arial"/>
              </a:rPr>
              <a:t>2019</a:t>
            </a:r>
            <a:r>
              <a:rPr lang="zh-TW" altLang="en-US" b="1" kern="100" dirty="0">
                <a:latin typeface="Arial"/>
              </a:rPr>
              <a:t>年工業及服務業網路銷售金額</a:t>
            </a:r>
            <a:r>
              <a:rPr lang="en-US" altLang="zh-TW" b="1" kern="100" dirty="0">
                <a:latin typeface="Arial"/>
              </a:rPr>
              <a:t>4</a:t>
            </a:r>
            <a:r>
              <a:rPr lang="zh-TW" altLang="en-US" b="1" kern="100" dirty="0">
                <a:latin typeface="Arial"/>
              </a:rPr>
              <a:t>兆</a:t>
            </a:r>
            <a:r>
              <a:rPr lang="en-US" altLang="zh-TW" b="1" kern="100" dirty="0">
                <a:latin typeface="Arial"/>
              </a:rPr>
              <a:t>3,363</a:t>
            </a:r>
            <a:r>
              <a:rPr lang="zh-TW" altLang="en-US" b="1" kern="100" dirty="0">
                <a:latin typeface="Arial"/>
              </a:rPr>
              <a:t>億元，較</a:t>
            </a:r>
            <a:r>
              <a:rPr lang="en-US" altLang="zh-TW" b="1" kern="100" dirty="0">
                <a:latin typeface="Arial"/>
              </a:rPr>
              <a:t>2018</a:t>
            </a:r>
            <a:r>
              <a:rPr lang="zh-TW" altLang="en-US" b="1" kern="100" dirty="0">
                <a:latin typeface="Arial"/>
              </a:rPr>
              <a:t>年增加</a:t>
            </a:r>
            <a:r>
              <a:rPr lang="en-US" altLang="zh-TW" b="1" kern="100" dirty="0">
                <a:latin typeface="Arial"/>
              </a:rPr>
              <a:t>2,973</a:t>
            </a:r>
            <a:r>
              <a:rPr lang="zh-TW" altLang="en-US" b="1" kern="100" dirty="0">
                <a:latin typeface="Arial"/>
              </a:rPr>
              <a:t>億元或</a:t>
            </a:r>
            <a:r>
              <a:rPr lang="en-US" altLang="zh-TW" b="1" kern="100" dirty="0">
                <a:latin typeface="Arial"/>
              </a:rPr>
              <a:t>7.4%</a:t>
            </a:r>
            <a:r>
              <a:rPr lang="zh-TW" altLang="en-US" b="1" kern="100" dirty="0">
                <a:latin typeface="Arial"/>
              </a:rPr>
              <a:t>；其中製造業</a:t>
            </a:r>
            <a:r>
              <a:rPr lang="en-US" altLang="zh-TW" b="1" kern="100" dirty="0">
                <a:latin typeface="Arial"/>
              </a:rPr>
              <a:t>2</a:t>
            </a:r>
            <a:r>
              <a:rPr lang="zh-TW" altLang="en-US" b="1" kern="100" dirty="0">
                <a:latin typeface="Arial"/>
              </a:rPr>
              <a:t>兆</a:t>
            </a:r>
            <a:r>
              <a:rPr lang="en-US" altLang="zh-TW" b="1" kern="100" dirty="0">
                <a:latin typeface="Arial"/>
              </a:rPr>
              <a:t>9,959</a:t>
            </a:r>
            <a:r>
              <a:rPr lang="zh-TW" altLang="en-US" b="1" kern="100" dirty="0">
                <a:latin typeface="Arial"/>
              </a:rPr>
              <a:t>億元或占</a:t>
            </a:r>
            <a:r>
              <a:rPr lang="en-US" altLang="zh-TW" b="1" kern="100" dirty="0">
                <a:latin typeface="Arial"/>
              </a:rPr>
              <a:t>69.1%</a:t>
            </a:r>
            <a:r>
              <a:rPr lang="zh-TW" altLang="en-US" b="1" kern="100" dirty="0">
                <a:latin typeface="Arial"/>
              </a:rPr>
              <a:t>，批發及零售業</a:t>
            </a:r>
            <a:r>
              <a:rPr lang="en-US" altLang="zh-TW" b="1" kern="100" dirty="0">
                <a:latin typeface="Arial"/>
              </a:rPr>
              <a:t>8,322</a:t>
            </a:r>
            <a:r>
              <a:rPr lang="zh-TW" altLang="en-US" b="1" kern="100" dirty="0">
                <a:latin typeface="Arial"/>
              </a:rPr>
              <a:t>億元或占</a:t>
            </a:r>
            <a:r>
              <a:rPr lang="en-US" altLang="zh-TW" b="1" kern="100" dirty="0">
                <a:latin typeface="Arial"/>
              </a:rPr>
              <a:t>19.2%</a:t>
            </a:r>
            <a:r>
              <a:rPr lang="zh-TW" altLang="en-US" b="1" kern="100" dirty="0" smtClean="0">
                <a:latin typeface="Arial"/>
              </a:rPr>
              <a:t>。</a:t>
            </a:r>
            <a:endParaRPr lang="en-US" altLang="zh-TW" b="1" kern="100" dirty="0" smtClean="0">
              <a:latin typeface="Arial"/>
            </a:endParaRPr>
          </a:p>
          <a:p>
            <a:pPr lvl="1"/>
            <a:r>
              <a:rPr lang="en-US" altLang="zh-TW" b="1" kern="100" dirty="0" smtClean="0">
                <a:latin typeface="Arial"/>
              </a:rPr>
              <a:t>2019</a:t>
            </a:r>
            <a:r>
              <a:rPr lang="zh-TW" altLang="en-US" b="1" kern="100" dirty="0">
                <a:latin typeface="Arial"/>
              </a:rPr>
              <a:t>年透過網路銷售予企業</a:t>
            </a:r>
            <a:r>
              <a:rPr lang="en-US" altLang="zh-TW" b="1" kern="100" dirty="0">
                <a:latin typeface="Arial"/>
              </a:rPr>
              <a:t>(B2B)</a:t>
            </a:r>
            <a:r>
              <a:rPr lang="zh-TW" altLang="en-US" b="1" kern="100" dirty="0">
                <a:latin typeface="Arial"/>
              </a:rPr>
              <a:t>之金額為</a:t>
            </a:r>
            <a:r>
              <a:rPr lang="en-US" altLang="zh-TW" b="1" kern="100" dirty="0">
                <a:latin typeface="Arial"/>
              </a:rPr>
              <a:t>3</a:t>
            </a:r>
            <a:r>
              <a:rPr lang="zh-TW" altLang="en-US" b="1" kern="100" dirty="0">
                <a:latin typeface="Arial"/>
              </a:rPr>
              <a:t>兆</a:t>
            </a:r>
            <a:r>
              <a:rPr lang="en-US" altLang="zh-TW" b="1" kern="100" dirty="0">
                <a:latin typeface="Arial"/>
              </a:rPr>
              <a:t>6,144</a:t>
            </a:r>
            <a:r>
              <a:rPr lang="zh-TW" altLang="en-US" b="1" kern="100" dirty="0">
                <a:latin typeface="Arial"/>
              </a:rPr>
              <a:t>億元或占全體</a:t>
            </a:r>
            <a:r>
              <a:rPr lang="en-US" altLang="zh-TW" b="1" kern="100" dirty="0">
                <a:latin typeface="Arial"/>
              </a:rPr>
              <a:t>83.4%</a:t>
            </a:r>
            <a:r>
              <a:rPr lang="zh-TW" altLang="en-US" b="1" kern="100" dirty="0">
                <a:latin typeface="Arial"/>
              </a:rPr>
              <a:t>，較</a:t>
            </a:r>
            <a:r>
              <a:rPr lang="en-US" altLang="zh-TW" b="1" kern="100" dirty="0">
                <a:latin typeface="Arial"/>
              </a:rPr>
              <a:t>2018</a:t>
            </a:r>
            <a:r>
              <a:rPr lang="zh-TW" altLang="en-US" b="1" kern="100" dirty="0">
                <a:latin typeface="Arial"/>
              </a:rPr>
              <a:t>年成長</a:t>
            </a:r>
            <a:r>
              <a:rPr lang="en-US" altLang="zh-TW" b="1" kern="100" dirty="0">
                <a:latin typeface="Arial"/>
              </a:rPr>
              <a:t>2,008</a:t>
            </a:r>
            <a:r>
              <a:rPr lang="zh-TW" altLang="en-US" b="1" kern="100" dirty="0">
                <a:latin typeface="Arial"/>
              </a:rPr>
              <a:t>億元或</a:t>
            </a:r>
            <a:r>
              <a:rPr lang="en-US" altLang="zh-TW" b="1" kern="100" dirty="0">
                <a:latin typeface="Arial"/>
              </a:rPr>
              <a:t>5.9%</a:t>
            </a:r>
            <a:r>
              <a:rPr lang="zh-TW" altLang="en-US" b="1" kern="100" dirty="0">
                <a:latin typeface="Arial"/>
              </a:rPr>
              <a:t>，其中製造業貢獻</a:t>
            </a:r>
            <a:r>
              <a:rPr lang="en-US" altLang="zh-TW" b="1" kern="100" dirty="0">
                <a:latin typeface="Arial"/>
              </a:rPr>
              <a:t>B2B</a:t>
            </a:r>
            <a:r>
              <a:rPr lang="zh-TW" altLang="en-US" b="1" kern="100" dirty="0">
                <a:latin typeface="Arial"/>
              </a:rPr>
              <a:t>銷售增額逾</a:t>
            </a:r>
            <a:r>
              <a:rPr lang="en-US" altLang="zh-TW" b="1" kern="100" dirty="0">
                <a:latin typeface="Arial"/>
              </a:rPr>
              <a:t>6</a:t>
            </a:r>
            <a:r>
              <a:rPr lang="zh-TW" altLang="en-US" b="1" kern="100" dirty="0">
                <a:latin typeface="Arial"/>
              </a:rPr>
              <a:t>成。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E678C-C521-4CBE-894D-D5C8370A753F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1754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ea typeface="標楷體" pitchFamily="65" charset="-120"/>
              </a:rPr>
              <a:t>2.3.3 C2B </a:t>
            </a:r>
            <a:r>
              <a:rPr lang="zh-TW" altLang="zh-TW" b="1" dirty="0" smtClean="0">
                <a:ea typeface="標楷體" pitchFamily="65" charset="-120"/>
              </a:rPr>
              <a:t>電子商務</a:t>
            </a:r>
            <a:endParaRPr lang="zh-TW" altLang="en-US" b="1" dirty="0">
              <a:ea typeface="標楷體" pitchFamily="65" charset="-120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b="1" dirty="0" smtClean="0">
                <a:ea typeface="標楷體" pitchFamily="65" charset="-120"/>
              </a:rPr>
              <a:t>C2B </a:t>
            </a:r>
            <a:r>
              <a:rPr lang="zh-TW" altLang="en-US" b="1" dirty="0" smtClean="0">
                <a:ea typeface="標楷體" pitchFamily="65" charset="-120"/>
              </a:rPr>
              <a:t>電子商務是以消費者為中心的商業模式，由消費者主導商品的銷售，消費者聚合需求的力量，吸引商家提供合適的服務與商品。</a:t>
            </a:r>
            <a:endParaRPr lang="en-US" altLang="zh-TW" b="1" dirty="0" smtClean="0">
              <a:ea typeface="標楷體" pitchFamily="65" charset="-120"/>
            </a:endParaRPr>
          </a:p>
          <a:p>
            <a:r>
              <a:rPr lang="en-US" altLang="zh-TW" b="1" dirty="0" smtClean="0">
                <a:ea typeface="標楷體" pitchFamily="65" charset="-120"/>
              </a:rPr>
              <a:t>C2B </a:t>
            </a:r>
            <a:r>
              <a:rPr lang="zh-TW" altLang="en-US" b="1" dirty="0" smtClean="0">
                <a:ea typeface="標楷體" pitchFamily="65" charset="-120"/>
              </a:rPr>
              <a:t>電子商務具有下列特性。</a:t>
            </a:r>
          </a:p>
          <a:p>
            <a:pPr lvl="1"/>
            <a:r>
              <a:rPr lang="zh-TW" altLang="en-US" b="1" dirty="0" smtClean="0">
                <a:ea typeface="標楷體" pitchFamily="65" charset="-120"/>
              </a:rPr>
              <a:t>以消費者為中心的商業模式。</a:t>
            </a:r>
          </a:p>
          <a:p>
            <a:pPr lvl="1"/>
            <a:r>
              <a:rPr lang="zh-TW" altLang="en-US" b="1" dirty="0" smtClean="0">
                <a:ea typeface="標楷體" pitchFamily="65" charset="-120"/>
              </a:rPr>
              <a:t>商家聚集以提供給消費者合適的選擇。</a:t>
            </a:r>
          </a:p>
          <a:p>
            <a:pPr lvl="1"/>
            <a:r>
              <a:rPr lang="zh-TW" altLang="en-US" b="1" dirty="0" smtClean="0">
                <a:ea typeface="標楷體" pitchFamily="65" charset="-120"/>
              </a:rPr>
              <a:t>消費者聚合需求的力量以引導商家以提供服務或商品。</a:t>
            </a:r>
          </a:p>
          <a:p>
            <a:pPr lvl="1"/>
            <a:r>
              <a:rPr lang="zh-TW" altLang="en-US" b="1" dirty="0" smtClean="0">
                <a:ea typeface="標楷體" pitchFamily="65" charset="-120"/>
              </a:rPr>
              <a:t>提供消費者個別化的需求。</a:t>
            </a:r>
          </a:p>
          <a:p>
            <a:r>
              <a:rPr lang="zh-TW" altLang="en-US" b="1" dirty="0" smtClean="0">
                <a:ea typeface="標楷體" pitchFamily="65" charset="-120"/>
              </a:rPr>
              <a:t>依據 </a:t>
            </a:r>
            <a:r>
              <a:rPr lang="en-US" altLang="zh-TW" b="1" dirty="0" smtClean="0">
                <a:ea typeface="標楷體" pitchFamily="65" charset="-120"/>
              </a:rPr>
              <a:t>C2B </a:t>
            </a:r>
            <a:r>
              <a:rPr lang="zh-TW" altLang="en-US" b="1" dirty="0" smtClean="0">
                <a:ea typeface="標楷體" pitchFamily="65" charset="-120"/>
              </a:rPr>
              <a:t>電子商務的特性，代購服務具有 </a:t>
            </a:r>
            <a:r>
              <a:rPr lang="en-US" altLang="zh-TW" b="1" dirty="0" smtClean="0">
                <a:ea typeface="標楷體" pitchFamily="65" charset="-120"/>
              </a:rPr>
              <a:t>C2B </a:t>
            </a:r>
            <a:r>
              <a:rPr lang="zh-TW" altLang="en-US" b="1" dirty="0" smtClean="0">
                <a:ea typeface="標楷體" pitchFamily="65" charset="-120"/>
              </a:rPr>
              <a:t>的一些特質，它以消費者為中心，提供消費者服務與商品之需求。目前成功的模式之一是「集體採購」商業模式。 </a:t>
            </a:r>
            <a:endParaRPr lang="en-US" altLang="zh-TW" b="1" dirty="0" smtClean="0">
              <a:ea typeface="標楷體" pitchFamily="65" charset="-120"/>
            </a:endParaRPr>
          </a:p>
          <a:p>
            <a:r>
              <a:rPr lang="en-US" altLang="zh-TW" b="1" dirty="0" smtClean="0">
                <a:ea typeface="標楷體" pitchFamily="65" charset="-120"/>
              </a:rPr>
              <a:t>C2B </a:t>
            </a:r>
            <a:r>
              <a:rPr lang="zh-TW" altLang="en-US" b="1" dirty="0" smtClean="0">
                <a:ea typeface="標楷體" pitchFamily="65" charset="-120"/>
              </a:rPr>
              <a:t>是一種創新模式，消費者是整個市場的主導力量，消費者提出需求，商家競相提供服務與商品，消費者有權決定其所購買產品的內容，其模式尚待開發，但具有不可限量的發展前途。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3758-AD4D-4C03-BEA5-3AB8886A64A2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2.3.4 C2C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電子商務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ea typeface="標楷體"/>
              </a:rPr>
              <a:t>網路發達以後，</a:t>
            </a:r>
            <a:r>
              <a:rPr lang="en-US" altLang="zh-TW" b="1" i="0" u="none" strike="noStrike" kern="100" baseline="0" dirty="0" smtClean="0">
                <a:ea typeface="標楷體"/>
              </a:rPr>
              <a:t>C2C</a:t>
            </a:r>
            <a:r>
              <a:rPr lang="zh-TW" altLang="en-US" b="1" i="0" u="none" strike="noStrike" kern="100" baseline="0" dirty="0" smtClean="0">
                <a:ea typeface="標楷體"/>
              </a:rPr>
              <a:t>電子商業交易模式興起，以更快的速度將賣方訊息傳遞給買方，並把更完整的商品訊息提供給買方。較具特色之</a:t>
            </a:r>
            <a:r>
              <a:rPr lang="en-US" altLang="zh-TW" b="1" i="0" u="none" strike="noStrike" kern="100" baseline="0" dirty="0" smtClean="0">
                <a:ea typeface="標楷體"/>
              </a:rPr>
              <a:t>C2C</a:t>
            </a:r>
            <a:r>
              <a:rPr lang="zh-TW" altLang="en-US" b="1" i="0" u="none" strike="noStrike" kern="100" baseline="0" dirty="0" smtClean="0">
                <a:ea typeface="標楷體"/>
              </a:rPr>
              <a:t>模式如下：</a:t>
            </a:r>
          </a:p>
          <a:p>
            <a:pPr lvl="1"/>
            <a:r>
              <a:rPr lang="zh-TW" altLang="en-US" b="1" i="0" u="none" strike="noStrike" kern="100" baseline="0" dirty="0" smtClean="0">
                <a:ea typeface="標楷體"/>
              </a:rPr>
              <a:t>網路拍賣：網路拍賣是將傳統之拍賣市場轉移至電子作業的方式，並且可提供競標的方式進行交易。例如，露天拍賣網站，在時間與空間上都具有突破性的概念，買方可以</a:t>
            </a:r>
            <a:r>
              <a:rPr lang="en-US" altLang="zh-TW" b="1" i="0" u="none" strike="noStrike" kern="100" baseline="0" dirty="0" smtClean="0">
                <a:ea typeface="標楷體"/>
              </a:rPr>
              <a:t>24</a:t>
            </a:r>
            <a:r>
              <a:rPr lang="zh-TW" altLang="en-US" b="1" i="0" u="none" strike="noStrike" kern="100" baseline="0" dirty="0" smtClean="0">
                <a:ea typeface="標楷體"/>
              </a:rPr>
              <a:t>小時上網購買商品，也沒有地域的限制，只要能上網就可以加入拍賣行列。</a:t>
            </a:r>
          </a:p>
          <a:p>
            <a:pPr lvl="1"/>
            <a:r>
              <a:rPr lang="en-US" altLang="zh-TW" b="1" i="0" u="none" strike="noStrike" kern="100" baseline="0" dirty="0" smtClean="0">
                <a:ea typeface="標楷體"/>
              </a:rPr>
              <a:t>P2P </a:t>
            </a:r>
            <a:r>
              <a:rPr lang="zh-TW" altLang="en-US" b="1" i="0" u="none" strike="noStrike" kern="100" baseline="0" dirty="0" smtClean="0">
                <a:ea typeface="標楷體"/>
              </a:rPr>
              <a:t>資源分享：</a:t>
            </a:r>
            <a:r>
              <a:rPr lang="en-US" altLang="zh-TW" b="1" i="0" u="none" strike="noStrike" kern="100" baseline="0" dirty="0" smtClean="0">
                <a:ea typeface="標楷體"/>
              </a:rPr>
              <a:t>P2P</a:t>
            </a:r>
            <a:r>
              <a:rPr lang="zh-TW" altLang="en-US" b="1" i="0" u="none" strike="noStrike" kern="100" baseline="0" dirty="0" smtClean="0"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ea typeface="標楷體"/>
              </a:rPr>
              <a:t>peer to peer</a:t>
            </a:r>
            <a:r>
              <a:rPr lang="zh-TW" altLang="en-US" b="1" i="0" u="none" strike="noStrike" kern="100" baseline="0" dirty="0" smtClean="0"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ea typeface="標楷體"/>
              </a:rPr>
              <a:t>就是點對點的意思，透過</a:t>
            </a:r>
            <a:r>
              <a:rPr lang="en-US" altLang="zh-TW" b="1" i="0" u="none" strike="noStrike" kern="100" baseline="0" dirty="0" smtClean="0">
                <a:ea typeface="標楷體"/>
              </a:rPr>
              <a:t>P2P </a:t>
            </a:r>
            <a:r>
              <a:rPr lang="zh-TW" altLang="en-US" b="1" i="0" u="none" strike="noStrike" kern="100" baseline="0" dirty="0" smtClean="0">
                <a:ea typeface="標楷體"/>
              </a:rPr>
              <a:t>網路分享，也可以建立個人與個人連結之商業模式，以進行各種商業交易行為。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1CD5-AEA3-45FC-B6F2-FA5B9CF6CAD5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8034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2.3.5 O</a:t>
            </a:r>
            <a:r>
              <a:rPr lang="en-US" altLang="zh-TW" b="1" i="0" u="none" strike="noStrike" kern="2600" baseline="0" dirty="0" smtClean="0">
                <a:latin typeface="Times New Roman"/>
                <a:ea typeface="標楷體"/>
              </a:rPr>
              <a:t>2O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電子商務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電子商務興起的時代，即使是在電子商務最發達的美國，線上電子商務消費、網路訂購、商家出貨、金流支付業務等，僅佔國民消費總額的一成左右。大部分還是在實體商店消費，例如，酒吧、咖啡店、健身房、餐廳、加油站、房屋修繕、乾洗店和髮廊等。</a:t>
            </a:r>
          </a:p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近年來發展出這種模式，將這些服務導入線上銷售以帶動離線服務，即是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O2O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的電子商務模式。</a:t>
            </a:r>
          </a:p>
          <a:p>
            <a:pPr marR="0" lvl="0" rtl="0"/>
            <a:r>
              <a:rPr lang="en-US" altLang="zh-TW" b="1" i="0" u="none" strike="noStrike" kern="100" baseline="0" smtClean="0">
                <a:latin typeface="Arial"/>
                <a:ea typeface="標楷體"/>
              </a:rPr>
              <a:t>O2O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是一個潛能很大的市場，由於服務行業的企業數量龐大，而且地域性特別強，如何增進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O2O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業務量，各網路商務平台競相提出新服務，爭取商機。</a:t>
            </a:r>
            <a:endParaRPr lang="zh-TW" altLang="en-US" b="1" i="0" u="none" strike="noStrike" kern="100" baseline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81C61-A457-47A4-8F68-0BABF84297FA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8836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2.4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電子商務流程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電子商務至少需要整合三項主要流程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資訊流：電子商務交易之間資訊的傳遞過程，是電子商務的核心要素之一。資訊流整合與改造電子商務的流程，而資金流與物流也需要資訊流的傳遞。</a:t>
            </a:r>
          </a:p>
          <a:p>
            <a:pPr lvl="1"/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資金流：資金的轉移過程，包括支付、轉賬、結算等，資金流也是電子商務重要的支柱。</a:t>
            </a:r>
          </a:p>
          <a:p>
            <a:pPr lvl="1"/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物流：因商品交易行為而形成的實體物質的物理性移動過程，包括包裝、裝卸、儲存、運輸、配送等。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B608-76C6-49E3-BF30-622BA3DF30BF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749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2.5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電子商務安全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5288" y="1417638"/>
            <a:ext cx="8497887" cy="4708525"/>
          </a:xfrm>
        </p:spPr>
        <p:txBody>
          <a:bodyPr>
            <a:normAutofit fontScale="62500" lnSpcReduction="2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對於買方的安全威脅：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假冒的商家，騙取買方的資料與金錢。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付款後無法取得貨品或收到瑕疵品。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買方資料外洩，或遭到賣方濫用。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利用竊取的資料，對買方進行詐騙。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對於賣方面臨的安全威脅：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系統安全遭到破壞。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假冒的買方，擾亂電子商務之交易。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買方對於賣方網站信賴度低。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系統設計有瑕疵或漏洞。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客戶資料庫遭到駭客盜取。</a:t>
            </a:r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lvl="1"/>
            <a:endParaRPr lang="zh-TW" altLang="en-US" b="1" i="0" u="none" strike="noStrike" kern="100" baseline="0" dirty="0" smtClean="0">
              <a:latin typeface="Arial"/>
              <a:ea typeface="標楷體"/>
            </a:endParaRP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SSL/TLS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是常用的網路安全傳輸協定標準，在客戶端與伺服器之間建立安全的連線，資料傳輸受到加密的保護，以防買方輸入的信用卡號碼與客戶資料在網路傳輸時遭到竊取。</a:t>
            </a:r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 smtClean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如果使用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SSL/TLS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連線時，所要瀏覽的網站通過上述的檢查，瀏覽器顯示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『https://』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會轉為綠色，否則會標示紅色並出現「</a:t>
            </a:r>
            <a:r>
              <a:rPr lang="zh-TW" altLang="en-US" b="1" i="0" u="none" strike="noStrike" kern="100" baseline="0" dirty="0" smtClean="0">
                <a:latin typeface="Times New Roman"/>
                <a:ea typeface="標楷體"/>
                <a:sym typeface="Wingdings 2"/>
              </a:rPr>
              <a:t>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」記號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 圖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2-2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29D21-133E-413D-A3B8-0CC14B7297E8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8354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284984"/>
            <a:ext cx="33782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3059832" y="4437112"/>
            <a:ext cx="2925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2-2 SSL/TLS </a:t>
            </a:r>
            <a:r>
              <a:rPr lang="zh-TW" altLang="zh-TW" dirty="0"/>
              <a:t>安全瀏覽標示</a:t>
            </a: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20CC3-4C39-4D6C-B8E1-0F1571752F64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573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2.6 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付款機制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資金流為電子商務</a:t>
            </a:r>
            <a:r>
              <a:rPr lang="zh-TW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重要流程，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在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B2C 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 C2C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電子商務模式的金流，</a:t>
            </a:r>
            <a:r>
              <a:rPr lang="zh-TW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大部分由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傳統付款機制演進而來</a:t>
            </a:r>
            <a:r>
              <a:rPr lang="zh-TW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在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B2B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電子商務，因涉及各行業別差異較大，所以各有特殊的流程。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F03FA-81BB-4E7E-B835-4C35729FCB2D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270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傳統付款機制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電子商務交易，透過網路訂購貨品，買家可以採用傳統之付款機制來付款，包含：郵政劃撥、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ATM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提款機轉帳、傳真刷卡、宅配貨到付款、超商貨到付款等機制。</a:t>
            </a:r>
          </a:p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郵政劃撥付款，例如，圖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2-3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，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C2C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電子商務的拍賣網站，因金額較小可使用郵政劃撥，既簡易又方便。</a:t>
            </a:r>
          </a:p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宅配貨到付款機制，是利用郵局或宅配業者與廠家合作之宅配收款機制。</a:t>
            </a:r>
            <a:endParaRPr lang="zh-TW" altLang="en-US" b="1" i="0" u="none" strike="noStrike" kern="100" baseline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83C3-EF9D-46BE-8A0B-F64BA5C910DB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78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線上付款機制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由於網路電子商務的興起，近年來發展出多項的線上付款機制。例如，圖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2-4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，線上信用卡刷卡，另外，也可採用虛擬帳號、電子錢包、</a:t>
            </a:r>
            <a:r>
              <a:rPr lang="en-US" altLang="zh-TW" b="1" i="0" u="none" strike="noStrike" kern="100" baseline="0" dirty="0" err="1" smtClean="0">
                <a:latin typeface="Arial"/>
                <a:ea typeface="標楷體"/>
              </a:rPr>
              <a:t>WebATM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等機制。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線上刷卡是基於信賴機制的付款方式，雖然廠商並未取得買家之刷卡簽名，但因交易金額較小，且商家具有信譽，所以，此種付款方式已演變成為網路交易付款的主流。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通常，線上刷卡資訊都透過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SSL/TLS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安全協定機制之保護，不會被網路監聽工具竊取信用卡號碼。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A4C2-DEC4-4A54-8707-1696B8FA33ED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5598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911475"/>
            <a:ext cx="43434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3275856" y="4581128"/>
            <a:ext cx="2850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2-4 </a:t>
            </a:r>
            <a:r>
              <a:rPr lang="zh-TW" altLang="zh-TW" dirty="0"/>
              <a:t>使用信用卡付款機制</a:t>
            </a: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033E-8532-4A95-AE7B-34ED205CC440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7869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虛擬帳號付款機制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虛擬帳號付款機制，是在交易付款時產生一組臨時帳號，包含銀行代碼與轉帳帳戶。</a:t>
            </a:r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lvl="0"/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再將貨款利用實體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ATM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或劃撥轉入此帳號，完成付款程序。</a:t>
            </a:r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lvl="0"/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採用本機制可以避免銀行或商家洩漏客戶的信用卡資料。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F997A-0643-49BA-9742-42787632F333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4470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0" u="none" strike="noStrike" kern="100" baseline="0" dirty="0" err="1" smtClean="0">
                <a:latin typeface="Arial"/>
                <a:ea typeface="標楷體"/>
              </a:rPr>
              <a:t>WebATM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網路櫃員機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TW" b="1" i="0" u="none" strike="noStrike" kern="100" baseline="0" dirty="0" err="1" smtClean="0">
                <a:latin typeface="Arial"/>
                <a:ea typeface="標楷體"/>
              </a:rPr>
              <a:t>WebATM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是網路櫃員機，提供網路版的櫃員機服務，方便客戶在電腦前使用，需要配備讀卡機，使用時將金融卡插入讀卡機，就像在實體的櫃員機操作轉帳一般，唯一不同的是不能提供提款服務。</a:t>
            </a:r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lvl="0"/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利用郵局的網路櫃員機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</a:t>
            </a:r>
            <a:r>
              <a:rPr lang="en-US" altLang="zh-TW" b="1" i="0" u="none" strike="noStrike" kern="100" baseline="0" dirty="0" err="1" smtClean="0">
                <a:latin typeface="Arial"/>
                <a:ea typeface="標楷體"/>
              </a:rPr>
              <a:t>WebATM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，在電子商務完成交易後，使用網路櫃員機將貨款轉帳至賣方的帳號，完成付款程序。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02BFF-C08C-48F5-B2FE-8F7D72F4427A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365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第三方支付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第三方支付是電子商務支付資金流中，具備一定實力和信譽保障的獨立機構，提供與銀行支付結算系統介面的交易支持平臺的網路支付模式。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買方選購商品後，使用第三方平臺提供的帳戶進行貨款支付，買方收到貨物後，並檢驗商品進行確認後，就可以通知第三方付款給賣家，第三方再將款項轉至賣家帳戶。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第三方支付是聯結各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B2C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中各商家與買方的支付金流，簡化資金流流程，並確保雙方權益，減少詐騙事件發生。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C5E68-8EC6-4802-A502-03551B4DEE04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01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密碼電子貨幣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密碼電子貨幣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cryptocurrency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是匿名的虛擬貨幣，是電子貨幣的一種，基於密碼學的原理而設計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，如比特幣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bitcoin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等，尚未納入管理規範，但越來越多的電子商務接受密碼電子貨幣，是通用性的方便支付工具，但遊走法律邊緣，也會有洗錢的潛在風險。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3ADF-D93A-41D1-BB02-CDDF02E3C692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562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行動支付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b="1" kern="100" dirty="0">
                <a:latin typeface="Arial"/>
              </a:rPr>
              <a:t>行動支付是支付工具的另一種選擇，行動支付的普及與多樣帶給顧客更多的便利</a:t>
            </a:r>
            <a:r>
              <a:rPr lang="zh-TW" altLang="en-US" b="1" kern="100" dirty="0" smtClean="0">
                <a:latin typeface="Arial"/>
              </a:rPr>
              <a:t>。</a:t>
            </a:r>
            <a:endParaRPr lang="en-US" altLang="zh-TW" b="1" kern="100" dirty="0" smtClean="0">
              <a:latin typeface="Arial"/>
            </a:endParaRPr>
          </a:p>
          <a:p>
            <a:pPr lvl="0"/>
            <a:r>
              <a:rPr lang="zh-TW" altLang="en-US" b="1" kern="100" dirty="0" smtClean="0">
                <a:latin typeface="Arial"/>
              </a:rPr>
              <a:t>透過</a:t>
            </a:r>
            <a:r>
              <a:rPr lang="zh-TW" altLang="en-US" b="1" kern="100" dirty="0">
                <a:latin typeface="Arial"/>
              </a:rPr>
              <a:t>行動裝置綁定電子錢包、信用卡、或金融卡等，以支付交易金額，常見有</a:t>
            </a:r>
            <a:r>
              <a:rPr lang="en-US" altLang="zh-TW" b="1" kern="100" dirty="0">
                <a:latin typeface="Arial"/>
              </a:rPr>
              <a:t>Line Pay</a:t>
            </a:r>
            <a:r>
              <a:rPr lang="zh-TW" altLang="en-US" b="1" kern="100" dirty="0">
                <a:latin typeface="Arial"/>
              </a:rPr>
              <a:t>、街口支付、</a:t>
            </a:r>
            <a:r>
              <a:rPr lang="en-US" altLang="zh-TW" b="1" kern="100" dirty="0">
                <a:latin typeface="Arial"/>
              </a:rPr>
              <a:t>Apple Pay</a:t>
            </a:r>
            <a:r>
              <a:rPr lang="zh-TW" altLang="en-US" b="1" kern="100" dirty="0">
                <a:latin typeface="Arial"/>
              </a:rPr>
              <a:t>、</a:t>
            </a:r>
            <a:r>
              <a:rPr lang="en-US" altLang="zh-TW" b="1" kern="100" dirty="0">
                <a:latin typeface="Arial"/>
              </a:rPr>
              <a:t>Google Pay</a:t>
            </a:r>
            <a:r>
              <a:rPr lang="zh-TW" altLang="en-US" b="1" kern="100" dirty="0">
                <a:latin typeface="Arial"/>
              </a:rPr>
              <a:t>、</a:t>
            </a:r>
            <a:r>
              <a:rPr lang="en-US" altLang="zh-TW" b="1" kern="100" dirty="0">
                <a:latin typeface="Arial"/>
              </a:rPr>
              <a:t>PX Pay</a:t>
            </a:r>
            <a:r>
              <a:rPr lang="zh-TW" altLang="en-US" b="1" kern="100" dirty="0">
                <a:latin typeface="Arial"/>
              </a:rPr>
              <a:t>、台灣 </a:t>
            </a:r>
            <a:r>
              <a:rPr lang="en-US" altLang="zh-TW" b="1" kern="100" dirty="0">
                <a:latin typeface="Arial"/>
              </a:rPr>
              <a:t>pay</a:t>
            </a:r>
            <a:r>
              <a:rPr lang="zh-TW" altLang="en-US" b="1" kern="100" dirty="0">
                <a:latin typeface="Arial"/>
              </a:rPr>
              <a:t>、</a:t>
            </a:r>
            <a:r>
              <a:rPr lang="en-US" altLang="zh-TW" b="1" kern="100" dirty="0">
                <a:latin typeface="Arial"/>
              </a:rPr>
              <a:t>Samsung Pay</a:t>
            </a:r>
            <a:r>
              <a:rPr lang="zh-TW" altLang="en-US" b="1" kern="100" dirty="0">
                <a:latin typeface="Arial"/>
              </a:rPr>
              <a:t>、歐付寶、悠遊付、橘子支付</a:t>
            </a:r>
            <a:r>
              <a:rPr lang="en-US" altLang="zh-TW" b="1" kern="100" dirty="0">
                <a:latin typeface="Arial"/>
              </a:rPr>
              <a:t>...</a:t>
            </a:r>
            <a:r>
              <a:rPr lang="zh-TW" altLang="en-US" b="1" kern="100" dirty="0">
                <a:latin typeface="Arial"/>
              </a:rPr>
              <a:t>等。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DCD1B-0CA3-4607-8287-8D12D6DCF3B1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5039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2.7 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安全認證標章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zh-TW" altLang="en-US" sz="2400" b="1" kern="100" dirty="0">
                <a:latin typeface="Arial"/>
              </a:rPr>
              <a:t>經濟部商業司自</a:t>
            </a:r>
            <a:r>
              <a:rPr lang="en-US" altLang="zh-TW" sz="2400" b="1" kern="100" dirty="0">
                <a:latin typeface="Arial"/>
              </a:rPr>
              <a:t>2011</a:t>
            </a:r>
            <a:r>
              <a:rPr lang="zh-TW" altLang="en-US" sz="2400" b="1" kern="100" dirty="0">
                <a:latin typeface="Arial"/>
              </a:rPr>
              <a:t>起推廣「網站身分識別標章」，並且即時呈現網站安全狀態。取得網站身分識別標章的電子商務平臺業者，該標章會動態顯示網站安全性，作為消費者辨識的</a:t>
            </a:r>
            <a:r>
              <a:rPr lang="zh-TW" altLang="en-US" sz="2400" b="1" kern="100" dirty="0" smtClean="0">
                <a:latin typeface="Arial"/>
              </a:rPr>
              <a:t>參考。</a:t>
            </a:r>
            <a:endParaRPr lang="en-US" altLang="zh-TW" sz="2400" b="1" i="0" u="none" strike="noStrike" kern="100" baseline="0" dirty="0" smtClean="0">
              <a:latin typeface="Arial"/>
              <a:ea typeface="標楷體"/>
            </a:endParaRPr>
          </a:p>
          <a:p>
            <a:pPr marR="0" lvl="0" rtl="0"/>
            <a:endParaRPr lang="zh-TW" altLang="en-US" sz="2400" b="1" i="0" u="none" strike="noStrike" kern="100" baseline="0" dirty="0" smtClean="0">
              <a:latin typeface="Arial"/>
              <a:ea typeface="標楷體"/>
            </a:endParaRPr>
          </a:p>
          <a:p>
            <a:pPr lvl="0"/>
            <a:r>
              <a:rPr lang="zh-TW" altLang="en-US" sz="2400" b="1" kern="100" dirty="0">
                <a:latin typeface="Arial"/>
              </a:rPr>
              <a:t>網站業者還可以申請網站安全測試認證標章，常見的線上安全認證標章如： </a:t>
            </a:r>
            <a:r>
              <a:rPr lang="en-US" altLang="zh-TW" sz="2400" b="1" kern="100" dirty="0" err="1">
                <a:latin typeface="Arial"/>
              </a:rPr>
              <a:t>McAfee『McAfee</a:t>
            </a:r>
            <a:r>
              <a:rPr lang="en-US" altLang="zh-TW" sz="2400" b="1" kern="100" dirty="0">
                <a:latin typeface="Arial"/>
              </a:rPr>
              <a:t> Secure』</a:t>
            </a:r>
            <a:r>
              <a:rPr lang="zh-TW" altLang="en-US" sz="2400" b="1" kern="100" dirty="0">
                <a:latin typeface="Arial"/>
              </a:rPr>
              <a:t>、阿碼科技</a:t>
            </a:r>
            <a:r>
              <a:rPr lang="en-US" altLang="zh-TW" sz="2400" b="1" kern="100" dirty="0">
                <a:latin typeface="Arial"/>
              </a:rPr>
              <a:t>『</a:t>
            </a:r>
            <a:r>
              <a:rPr lang="en-US" altLang="zh-TW" sz="2400" b="1" kern="100" dirty="0" err="1">
                <a:latin typeface="Arial"/>
              </a:rPr>
              <a:t>HackAlert</a:t>
            </a:r>
            <a:r>
              <a:rPr lang="en-US" altLang="zh-TW" sz="2400" b="1" kern="100" dirty="0">
                <a:latin typeface="Arial"/>
              </a:rPr>
              <a:t>』</a:t>
            </a:r>
            <a:r>
              <a:rPr lang="zh-TW" altLang="en-US" sz="2400" b="1" kern="100" dirty="0">
                <a:latin typeface="Arial"/>
              </a:rPr>
              <a:t>、趨勢科技</a:t>
            </a:r>
            <a:r>
              <a:rPr lang="en-US" altLang="zh-TW" sz="2400" b="1" kern="100" dirty="0">
                <a:latin typeface="Arial"/>
              </a:rPr>
              <a:t>『Worry Free Security』</a:t>
            </a:r>
            <a:r>
              <a:rPr lang="zh-TW" altLang="en-US" sz="2400" b="1" kern="100" dirty="0">
                <a:latin typeface="Arial"/>
              </a:rPr>
              <a:t>、網駭科技</a:t>
            </a:r>
            <a:r>
              <a:rPr lang="en-US" altLang="zh-TW" sz="2400" b="1" kern="100" dirty="0">
                <a:latin typeface="Arial"/>
              </a:rPr>
              <a:t>『Web Alert』</a:t>
            </a:r>
            <a:r>
              <a:rPr lang="zh-TW" altLang="en-US" sz="2400" b="1" kern="100" dirty="0">
                <a:latin typeface="Arial"/>
              </a:rPr>
              <a:t>等</a:t>
            </a:r>
            <a:r>
              <a:rPr lang="zh-TW" altLang="en-US" sz="2400" b="1" kern="100" dirty="0" smtClean="0">
                <a:latin typeface="Arial"/>
              </a:rPr>
              <a:t>。</a:t>
            </a:r>
            <a:endParaRPr lang="en-US" altLang="zh-TW" sz="2400" b="1" kern="100" dirty="0" smtClean="0">
              <a:latin typeface="Arial"/>
            </a:endParaRPr>
          </a:p>
          <a:p>
            <a:pPr lvl="0"/>
            <a:endParaRPr lang="en-US" altLang="zh-TW" sz="2400" b="1" kern="100" dirty="0" smtClean="0">
              <a:latin typeface="Arial"/>
            </a:endParaRPr>
          </a:p>
          <a:p>
            <a:pPr lvl="0"/>
            <a:r>
              <a:rPr lang="zh-TW" altLang="en-US" sz="2400" b="1" kern="100" dirty="0" smtClean="0">
                <a:latin typeface="Arial"/>
              </a:rPr>
              <a:t>為</a:t>
            </a:r>
            <a:r>
              <a:rPr lang="zh-TW" altLang="en-US" sz="2400" b="1" i="0" u="none" strike="noStrike" kern="100" baseline="0" dirty="0" smtClean="0">
                <a:latin typeface="Arial"/>
                <a:ea typeface="標楷體"/>
              </a:rPr>
              <a:t>確保電子商務交易的安全性，美國會計師協會 </a:t>
            </a:r>
            <a:r>
              <a:rPr lang="en-US" altLang="zh-TW" sz="2400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sz="2400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sz="2400" b="1" i="0" u="none" strike="noStrike" kern="100" baseline="0" dirty="0" smtClean="0">
                <a:latin typeface="Arial"/>
                <a:ea typeface="標楷體"/>
              </a:rPr>
              <a:t>AICPA</a:t>
            </a:r>
            <a:r>
              <a:rPr lang="zh-TW" altLang="en-US" sz="2400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sz="2400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sz="2400" b="1" i="0" u="none" strike="noStrike" kern="100" baseline="0" dirty="0" smtClean="0">
                <a:latin typeface="Arial"/>
                <a:ea typeface="標楷體"/>
              </a:rPr>
              <a:t> 與加拿大會計師協會 </a:t>
            </a:r>
            <a:r>
              <a:rPr lang="en-US" altLang="zh-TW" sz="2400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sz="2400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sz="2400" b="1" i="0" u="none" strike="noStrike" kern="100" baseline="0" dirty="0" smtClean="0">
                <a:latin typeface="Arial"/>
                <a:ea typeface="標楷體"/>
              </a:rPr>
              <a:t>CICA</a:t>
            </a:r>
            <a:r>
              <a:rPr lang="zh-TW" altLang="en-US" sz="2400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sz="2400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sz="2400" b="1" i="0" u="none" strike="noStrike" kern="100" baseline="0" dirty="0" smtClean="0">
                <a:latin typeface="Arial"/>
                <a:ea typeface="標楷體"/>
              </a:rPr>
              <a:t> 推出</a:t>
            </a:r>
            <a:r>
              <a:rPr lang="en-US" altLang="zh-TW" sz="2400" b="1" i="0" u="none" strike="noStrike" kern="100" baseline="0" dirty="0" err="1" smtClean="0">
                <a:latin typeface="Arial"/>
                <a:ea typeface="標楷體"/>
              </a:rPr>
              <a:t>WebTrust</a:t>
            </a:r>
            <a:r>
              <a:rPr lang="zh-TW" altLang="en-US" sz="2400" b="1" i="0" u="none" strike="noStrike" kern="100" baseline="0" dirty="0" smtClean="0">
                <a:latin typeface="Arial"/>
                <a:ea typeface="標楷體"/>
              </a:rPr>
              <a:t>網站安全認證服務。</a:t>
            </a:r>
            <a:endParaRPr lang="zh-TW" altLang="en-US" sz="2400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526D-BBFD-465E-B873-372D3E9E8D7A}" type="datetime1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6138688"/>
      </p:ext>
    </p:extLst>
  </p:cSld>
  <p:clrMapOvr>
    <a:masterClrMapping/>
  </p:clrMapOvr>
</p:sld>
</file>

<file path=ppt/theme/theme1.xml><?xml version="1.0" encoding="utf-8"?>
<a:theme xmlns:a="http://schemas.openxmlformats.org/drawingml/2006/main" name="LAB母片(no浮水印)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LAB母片(no浮水印)</Template>
  <TotalTime>77</TotalTime>
  <Words>2549</Words>
  <Application>Microsoft Office PowerPoint</Application>
  <PresentationFormat>如螢幕大小 (4:3)</PresentationFormat>
  <Paragraphs>187</Paragraphs>
  <Slides>25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3" baseType="lpstr">
      <vt:lpstr>新細明體</vt:lpstr>
      <vt:lpstr>標楷體</vt:lpstr>
      <vt:lpstr>Arial</vt:lpstr>
      <vt:lpstr>Calibri</vt:lpstr>
      <vt:lpstr>Goudy Old Style</vt:lpstr>
      <vt:lpstr>Times New Roman</vt:lpstr>
      <vt:lpstr>Wingdings 2</vt:lpstr>
      <vt:lpstr>LAB母片(no浮水印)</vt:lpstr>
      <vt:lpstr>第02章 電子商務安全</vt:lpstr>
      <vt:lpstr>第02章 電子商務安全</vt:lpstr>
      <vt:lpstr>2.1 電子商務簡介</vt:lpstr>
      <vt:lpstr>電子商務的本質</vt:lpstr>
      <vt:lpstr>PowerPoint 簡報</vt:lpstr>
      <vt:lpstr>2.2 電子商務特性</vt:lpstr>
      <vt:lpstr>2.3 電子商務種類</vt:lpstr>
      <vt:lpstr> 2.3.1 B2C電子商務</vt:lpstr>
      <vt:lpstr> 2.3.2 B2B電子商務</vt:lpstr>
      <vt:lpstr>2.3.3 C2B 電子商務</vt:lpstr>
      <vt:lpstr> 2.3.4 C2C電子商務</vt:lpstr>
      <vt:lpstr>2.3.5 O2O電子商務</vt:lpstr>
      <vt:lpstr>2.4 電子商務流程</vt:lpstr>
      <vt:lpstr>2.5 電子商務安全</vt:lpstr>
      <vt:lpstr>PowerPoint 簡報</vt:lpstr>
      <vt:lpstr>2.6 付款機制</vt:lpstr>
      <vt:lpstr>傳統付款機制</vt:lpstr>
      <vt:lpstr>線上付款機制</vt:lpstr>
      <vt:lpstr>PowerPoint 簡報</vt:lpstr>
      <vt:lpstr>虛擬帳號付款機制</vt:lpstr>
      <vt:lpstr>WebATM 網路櫃員機</vt:lpstr>
      <vt:lpstr>第三方支付</vt:lpstr>
      <vt:lpstr>密碼電子貨幣</vt:lpstr>
      <vt:lpstr>行動支付</vt:lpstr>
      <vt:lpstr>2.7 安全認證標章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電子商務安全</dc:title>
  <dc:creator>東光一號</dc:creator>
  <cp:lastModifiedBy>User</cp:lastModifiedBy>
  <cp:revision>63</cp:revision>
  <dcterms:created xsi:type="dcterms:W3CDTF">2016-02-13T15:00:38Z</dcterms:created>
  <dcterms:modified xsi:type="dcterms:W3CDTF">2023-04-01T11:09:16Z</dcterms:modified>
</cp:coreProperties>
</file>